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0" r:id="rId3"/>
    <p:sldId id="293" r:id="rId4"/>
    <p:sldId id="286" r:id="rId5"/>
    <p:sldId id="287" r:id="rId6"/>
    <p:sldId id="285" r:id="rId7"/>
    <p:sldId id="284" r:id="rId8"/>
    <p:sldId id="279" r:id="rId9"/>
    <p:sldId id="275" r:id="rId10"/>
    <p:sldId id="277" r:id="rId11"/>
    <p:sldId id="294" r:id="rId12"/>
    <p:sldId id="306" r:id="rId13"/>
    <p:sldId id="298" r:id="rId14"/>
    <p:sldId id="295" r:id="rId15"/>
    <p:sldId id="296" r:id="rId16"/>
    <p:sldId id="297" r:id="rId17"/>
    <p:sldId id="290" r:id="rId18"/>
    <p:sldId id="301" r:id="rId19"/>
    <p:sldId id="299" r:id="rId20"/>
    <p:sldId id="304" r:id="rId21"/>
    <p:sldId id="303" r:id="rId2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91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B035E-C17A-4D8B-9EC2-C040E56C4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7D31B-D27D-4D28-874B-FA64EBEEF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531EA-D4C3-445B-B6C7-9CD0178DF5DB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72650D8-6402-4CCB-829A-419EF0A2930E}" type="slidenum">
              <a:t>1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AF35F-E25A-485E-B3F3-CAE86CEA8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55D30-9805-4AD0-95D8-1A6F6B2CB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8D53-D0E5-48D1-918F-320AFD672F9C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F4B4C73-A8DB-4E24-8886-9DCC65360161}" type="slidenum">
              <a:t>2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936CB-03CA-47AA-9EC4-D4A67CBE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E7A7-BDB4-4B20-9617-50583468D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81D0-ED81-4D57-ADB3-2DA56A3ACE76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654E73E-18A5-47BA-855A-AEB98B677A46}" type="slidenum">
              <a:t>3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21CC1-6029-4F88-9750-C6D4E0A89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2ED9D-B4BE-4DF8-9996-7A9717FE0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C2A4-D95A-4821-BAD3-6B479D744EA7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249582-781E-494D-968F-E09512FF78B4}" type="slidenum">
              <a:t>4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66B55-3C04-417A-BAE1-46A6245DD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48BE7-98C1-404B-8F9F-4AE04844B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6C83B-C78A-44B0-ADE9-976B0946AE19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1ECE581-4A99-47F9-A4F5-AE81DAFBAB53}" type="slidenum">
              <a:t>5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381F5-DB02-4DC7-862B-0E1B09662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E623C-BB2C-4D6F-ACB7-B85C790D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BC250-AD23-4400-ACFF-97FC440ACC08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DFF51CC-7DFA-4088-8393-63B44D85CB8A}" type="slidenum">
              <a:t>6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9314E-CF40-4E4C-BF9D-9F5EB620A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91914-19BE-42DD-A18B-E0834E3B9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01787-C220-4AE1-8928-924AFA523B9D}"/>
              </a:ext>
            </a:extLst>
          </p:cNvPr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B78D3BD-38C6-479F-8C54-B77DB1A0A520}" type="slidenum">
              <a:t>7</a:t>
            </a:fld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757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22268CA-4807-482B-8895-4CED496D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2BE0EEA-7A8D-4824-9507-686E3E92CB91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4F953A64-B072-44CA-8E5C-017C2499A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300786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F3B08D-7DEF-40EB-9798-5C4ABBF0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942A8E0-9F06-4F55-A16C-A45CE817C590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34E9B816-6E59-4283-93F6-723E40275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7787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3444BFD-5795-4870-8BE7-B36A7405B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5BB07EF-0F74-45A9-8F8A-90FD3BD345D1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73575580-BD21-4137-BD8B-6A4BC1180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87888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64BBE20-54A3-4082-83CD-87642905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3DC5AA5-6239-4616-9052-8C2B9E7BFDC8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2297D895-B884-44D9-AD31-FA394E59E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22846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1EB708C-FAB4-4A44-9F5A-FC218EC20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C731502-82B2-432F-AB73-B8ED5638D1E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480722B5-0DAB-40A3-AD07-7199CB11E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08854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E2D9777-6C03-4D26-84C7-7A97237BE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37B968-8110-4625-BDCE-D7BDD842FAE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4EFF3897-B533-4432-B008-40AF79D53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07523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01C8094-8995-4E03-8256-A06C64B7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53443D2-7C4E-4E8B-8DCF-7A1CA947E8D4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AD258966-BB12-45D7-AEF4-5C9E766D8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75523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F7205B6-0E79-49FD-96AE-CB0BF64A6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A139FB1-5C6D-403F-A80A-2DCBBE416097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8D43D5B8-025A-492C-87E3-78046AC97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2158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FA80BD7-E323-486D-BC9A-002EC734D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F2D3EF0-757A-4091-A219-0FDFEAA8BF00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1A05B18B-F86C-45BF-B542-393609CC4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18792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5E92611-A68B-4567-8D5E-961FDC54E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401A38F-0E8C-421A-B7E2-4C52F0FF37A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preencoded.png">
            <a:hlinkClick r:id="rId3"/>
            <a:extLst>
              <a:ext uri="{FF2B5EF4-FFF2-40B4-BE49-F238E27FC236}">
                <a16:creationId xmlns:a16="http://schemas.microsoft.com/office/drawing/2014/main" id="{5463DBDE-7370-4F83-8055-E69116307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8" y="7749540"/>
            <a:ext cx="1722601" cy="41148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00131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3C3A4D11-02B2-461B-A9B2-EB4472140DE9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657FEC0-174E-4AF3-9241-7C7590B10C2F}"/>
              </a:ext>
            </a:extLst>
          </p:cNvPr>
          <p:cNvSpPr/>
          <p:nvPr/>
        </p:nvSpPr>
        <p:spPr>
          <a:xfrm>
            <a:off x="6473001" y="1479261"/>
            <a:ext cx="7016712" cy="10887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4472C4"/>
                </a:solidFill>
                <a:uFillTx/>
                <a:latin typeface="Calibri"/>
                <a:ea typeface="Calibri"/>
                <a:cs typeface="Calibri"/>
              </a:rPr>
              <a:t>Skill Forecasting and</a:t>
            </a:r>
            <a:endParaRPr lang="en-US" sz="1800" b="1" i="0" u="none" strike="noStrike" kern="1200" cap="none" spc="0" baseline="0">
              <a:solidFill>
                <a:srgbClr val="4472C4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4472C4"/>
                </a:solidFill>
                <a:uFillTx/>
                <a:latin typeface="Calibri"/>
                <a:ea typeface="Calibri"/>
                <a:cs typeface="Calibri"/>
              </a:rPr>
              <a:t>Semantic Career Pathway</a:t>
            </a:r>
            <a:endParaRPr lang="en-US" sz="1800" b="1" i="0" u="none" strike="noStrike" kern="1200" cap="none" spc="0" baseline="0">
              <a:solidFill>
                <a:srgbClr val="4472C4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4472C4"/>
                </a:solidFill>
                <a:uFillTx/>
                <a:latin typeface="Calibri"/>
                <a:ea typeface="Calibri"/>
                <a:cs typeface="Calibri"/>
              </a:rPr>
              <a:t>Optimization Ecosystem</a:t>
            </a:r>
            <a:endParaRPr lang="en-US" sz="1800" b="1" i="0" u="none" strike="noStrike" kern="1200" cap="none" spc="0" baseline="0">
              <a:solidFill>
                <a:srgbClr val="4472C4"/>
              </a:solidFill>
              <a:uFillTx/>
              <a:latin typeface="Calibri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2BD0E6A-3C8C-4280-B510-D5F151122FBF}"/>
              </a:ext>
            </a:extLst>
          </p:cNvPr>
          <p:cNvSpPr/>
          <p:nvPr/>
        </p:nvSpPr>
        <p:spPr>
          <a:xfrm>
            <a:off x="6477728" y="3469517"/>
            <a:ext cx="7740606" cy="159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for Undergraduates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Al-driven career intelligence ecosystem for Sri Lankan IT undergraduates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9BF45A93-124A-4448-8891-531DBF1743F2}"/>
              </a:ext>
            </a:extLst>
          </p:cNvPr>
          <p:cNvGrpSpPr/>
          <p:nvPr/>
        </p:nvGrpSpPr>
        <p:grpSpPr>
          <a:xfrm>
            <a:off x="6477728" y="5481690"/>
            <a:ext cx="8055086" cy="749597"/>
            <a:chOff x="6477728" y="5481690"/>
            <a:chExt cx="8055086" cy="749597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DBDD8F7E-B598-4D06-A916-934A9C762FE9}"/>
                </a:ext>
              </a:extLst>
            </p:cNvPr>
            <p:cNvSpPr/>
            <p:nvPr/>
          </p:nvSpPr>
          <p:spPr>
            <a:xfrm>
              <a:off x="6477728" y="5481690"/>
              <a:ext cx="1812862" cy="749597"/>
            </a:xfrm>
            <a:custGeom>
              <a:avLst>
                <a:gd name="f10" fmla="val 2571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2571"/>
                <a:gd name="f11" fmla="abs f4"/>
                <a:gd name="f12" fmla="abs f5"/>
                <a:gd name="f13" fmla="abs f6"/>
                <a:gd name="f14" fmla="*/ f8 1 180"/>
                <a:gd name="f15" fmla="val f10"/>
                <a:gd name="f16" fmla="+- 0 0 f2"/>
                <a:gd name="f17" fmla="?: f11 f4 1"/>
                <a:gd name="f18" fmla="?: f12 f5 1"/>
                <a:gd name="f19" fmla="?: f13 f6 1"/>
                <a:gd name="f20" fmla="*/ f9 f14 1"/>
                <a:gd name="f21" fmla="+- f7 f15 0"/>
                <a:gd name="f22" fmla="*/ f17 1 21600"/>
                <a:gd name="f23" fmla="*/ f18 1 21600"/>
                <a:gd name="f24" fmla="*/ 21600 f17 1"/>
                <a:gd name="f25" fmla="*/ 21600 f18 1"/>
                <a:gd name="f26" fmla="+- 0 0 f20"/>
                <a:gd name="f27" fmla="+- f7 0 f21"/>
                <a:gd name="f28" fmla="+- f21 0 f7"/>
                <a:gd name="f29" fmla="min f23 f22"/>
                <a:gd name="f30" fmla="*/ f24 1 f19"/>
                <a:gd name="f31" fmla="*/ f25 1 f19"/>
                <a:gd name="f32" fmla="*/ f26 f1 1"/>
                <a:gd name="f33" fmla="abs f27"/>
                <a:gd name="f34" fmla="abs f28"/>
                <a:gd name="f35" fmla="?: f27 f16 f2"/>
                <a:gd name="f36" fmla="?: f27 f2 f16"/>
                <a:gd name="f37" fmla="?: f27 f3 f2"/>
                <a:gd name="f38" fmla="?: f27 f2 f3"/>
                <a:gd name="f39" fmla="?: f28 f16 f2"/>
                <a:gd name="f40" fmla="?: f28 f2 f16"/>
                <a:gd name="f41" fmla="?: f27 0 f1"/>
                <a:gd name="f42" fmla="?: f27 f1 0"/>
                <a:gd name="f43" fmla="val f30"/>
                <a:gd name="f44" fmla="val f31"/>
                <a:gd name="f45" fmla="*/ f32 1 f8"/>
                <a:gd name="f46" fmla="?: f27 f38 f37"/>
                <a:gd name="f47" fmla="?: f27 f37 f38"/>
                <a:gd name="f48" fmla="?: f28 f36 f35"/>
                <a:gd name="f49" fmla="*/ f21 f29 1"/>
                <a:gd name="f50" fmla="*/ f7 f29 1"/>
                <a:gd name="f51" fmla="*/ f33 f29 1"/>
                <a:gd name="f52" fmla="*/ f34 f29 1"/>
                <a:gd name="f53" fmla="+- f44 0 f15"/>
                <a:gd name="f54" fmla="+- f43 0 f15"/>
                <a:gd name="f55" fmla="+- f45 0 f2"/>
                <a:gd name="f56" fmla="?: f28 f47 f46"/>
                <a:gd name="f57" fmla="*/ f44 f29 1"/>
                <a:gd name="f58" fmla="*/ f43 f29 1"/>
                <a:gd name="f59" fmla="+- f55 f2 0"/>
                <a:gd name="f60" fmla="+- f44 0 f53"/>
                <a:gd name="f61" fmla="+- f43 0 f54"/>
                <a:gd name="f62" fmla="+- f53 0 f44"/>
                <a:gd name="f63" fmla="+- f54 0 f43"/>
                <a:gd name="f64" fmla="*/ f53 f29 1"/>
                <a:gd name="f65" fmla="*/ f54 f29 1"/>
                <a:gd name="f66" fmla="*/ f59 f8 1"/>
                <a:gd name="f67" fmla="abs f60"/>
                <a:gd name="f68" fmla="?: f60 0 f1"/>
                <a:gd name="f69" fmla="?: f60 f1 0"/>
                <a:gd name="f70" fmla="?: f60 f39 f40"/>
                <a:gd name="f71" fmla="abs f61"/>
                <a:gd name="f72" fmla="abs f62"/>
                <a:gd name="f73" fmla="?: f61 f16 f2"/>
                <a:gd name="f74" fmla="?: f61 f2 f16"/>
                <a:gd name="f75" fmla="?: f61 f3 f2"/>
                <a:gd name="f76" fmla="?: f61 f2 f3"/>
                <a:gd name="f77" fmla="abs f63"/>
                <a:gd name="f78" fmla="?: f63 f16 f2"/>
                <a:gd name="f79" fmla="?: f63 f2 f16"/>
                <a:gd name="f80" fmla="?: f63 f42 f41"/>
                <a:gd name="f81" fmla="?: f63 f41 f42"/>
                <a:gd name="f82" fmla="*/ f66 1 f1"/>
                <a:gd name="f83" fmla="?: f28 f69 f68"/>
                <a:gd name="f84" fmla="?: f28 f68 f69"/>
                <a:gd name="f85" fmla="?: f61 f76 f75"/>
                <a:gd name="f86" fmla="?: f61 f75 f76"/>
                <a:gd name="f87" fmla="?: f62 f74 f73"/>
                <a:gd name="f88" fmla="?: f27 f80 f81"/>
                <a:gd name="f89" fmla="?: f27 f78 f79"/>
                <a:gd name="f90" fmla="*/ f67 f29 1"/>
                <a:gd name="f91" fmla="*/ f71 f29 1"/>
                <a:gd name="f92" fmla="*/ f72 f29 1"/>
                <a:gd name="f93" fmla="*/ f77 f29 1"/>
                <a:gd name="f94" fmla="+- 0 0 f82"/>
                <a:gd name="f95" fmla="?: f60 f83 f84"/>
                <a:gd name="f96" fmla="?: f62 f86 f85"/>
                <a:gd name="f97" fmla="+- 0 0 f94"/>
                <a:gd name="f98" fmla="*/ f97 f1 1"/>
                <a:gd name="f99" fmla="*/ f98 1 f8"/>
                <a:gd name="f100" fmla="+- f99 0 f2"/>
                <a:gd name="f101" fmla="cos 1 f100"/>
                <a:gd name="f102" fmla="+- 0 0 f101"/>
                <a:gd name="f103" fmla="+- 0 0 f102"/>
                <a:gd name="f104" fmla="val f103"/>
                <a:gd name="f105" fmla="+- 0 0 f104"/>
                <a:gd name="f106" fmla="*/ f15 f105 1"/>
                <a:gd name="f107" fmla="*/ f106 3163 1"/>
                <a:gd name="f108" fmla="*/ f107 1 7636"/>
                <a:gd name="f109" fmla="+- f7 f108 0"/>
                <a:gd name="f110" fmla="+- f43 0 f108"/>
                <a:gd name="f111" fmla="+- f44 0 f108"/>
                <a:gd name="f112" fmla="*/ f109 f29 1"/>
                <a:gd name="f113" fmla="*/ f110 f29 1"/>
                <a:gd name="f114" fmla="*/ f111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2" t="f112" r="f113" b="f114"/>
              <a:pathLst>
                <a:path>
                  <a:moveTo>
                    <a:pt x="f49" y="f50"/>
                  </a:moveTo>
                  <a:arcTo wR="f51" hR="f52" stAng="f56" swAng="f48"/>
                  <a:lnTo>
                    <a:pt x="f50" y="f64"/>
                  </a:lnTo>
                  <a:arcTo wR="f52" hR="f90" stAng="f95" swAng="f70"/>
                  <a:lnTo>
                    <a:pt x="f65" y="f57"/>
                  </a:lnTo>
                  <a:arcTo wR="f91" hR="f92" stAng="f96" swAng="f87"/>
                  <a:lnTo>
                    <a:pt x="f58" y="f49"/>
                  </a:lnTo>
                  <a:arcTo wR="f93" hR="f51" stAng="f88" swAng="f89"/>
                  <a:close/>
                </a:path>
              </a:pathLst>
            </a:custGeom>
            <a:solidFill>
              <a:srgbClr val="1565A7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AF5D6ABB-D8B0-4B11-8C61-1A1926C34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4547" y="5570927"/>
              <a:ext cx="460894" cy="53542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7D8E38D8-FC03-4F03-B39A-99A6BB15F451}"/>
                </a:ext>
              </a:extLst>
            </p:cNvPr>
            <p:cNvSpPr/>
            <p:nvPr/>
          </p:nvSpPr>
          <p:spPr>
            <a:xfrm>
              <a:off x="7201439" y="5517379"/>
              <a:ext cx="1351967" cy="67821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Skill 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Forecasting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AFEA9C42-1605-4E7A-B3DD-6458F1606288}"/>
                </a:ext>
              </a:extLst>
            </p:cNvPr>
            <p:cNvSpPr/>
            <p:nvPr/>
          </p:nvSpPr>
          <p:spPr>
            <a:xfrm>
              <a:off x="8474951" y="5481690"/>
              <a:ext cx="1812862" cy="749597"/>
            </a:xfrm>
            <a:custGeom>
              <a:avLst>
                <a:gd name="f10" fmla="val 2571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2571"/>
                <a:gd name="f11" fmla="abs f4"/>
                <a:gd name="f12" fmla="abs f5"/>
                <a:gd name="f13" fmla="abs f6"/>
                <a:gd name="f14" fmla="*/ f8 1 180"/>
                <a:gd name="f15" fmla="val f10"/>
                <a:gd name="f16" fmla="+- 0 0 f2"/>
                <a:gd name="f17" fmla="?: f11 f4 1"/>
                <a:gd name="f18" fmla="?: f12 f5 1"/>
                <a:gd name="f19" fmla="?: f13 f6 1"/>
                <a:gd name="f20" fmla="*/ f9 f14 1"/>
                <a:gd name="f21" fmla="+- f7 f15 0"/>
                <a:gd name="f22" fmla="*/ f17 1 21600"/>
                <a:gd name="f23" fmla="*/ f18 1 21600"/>
                <a:gd name="f24" fmla="*/ 21600 f17 1"/>
                <a:gd name="f25" fmla="*/ 21600 f18 1"/>
                <a:gd name="f26" fmla="+- 0 0 f20"/>
                <a:gd name="f27" fmla="+- f7 0 f21"/>
                <a:gd name="f28" fmla="+- f21 0 f7"/>
                <a:gd name="f29" fmla="min f23 f22"/>
                <a:gd name="f30" fmla="*/ f24 1 f19"/>
                <a:gd name="f31" fmla="*/ f25 1 f19"/>
                <a:gd name="f32" fmla="*/ f26 f1 1"/>
                <a:gd name="f33" fmla="abs f27"/>
                <a:gd name="f34" fmla="abs f28"/>
                <a:gd name="f35" fmla="?: f27 f16 f2"/>
                <a:gd name="f36" fmla="?: f27 f2 f16"/>
                <a:gd name="f37" fmla="?: f27 f3 f2"/>
                <a:gd name="f38" fmla="?: f27 f2 f3"/>
                <a:gd name="f39" fmla="?: f28 f16 f2"/>
                <a:gd name="f40" fmla="?: f28 f2 f16"/>
                <a:gd name="f41" fmla="?: f27 0 f1"/>
                <a:gd name="f42" fmla="?: f27 f1 0"/>
                <a:gd name="f43" fmla="val f30"/>
                <a:gd name="f44" fmla="val f31"/>
                <a:gd name="f45" fmla="*/ f32 1 f8"/>
                <a:gd name="f46" fmla="?: f27 f38 f37"/>
                <a:gd name="f47" fmla="?: f27 f37 f38"/>
                <a:gd name="f48" fmla="?: f28 f36 f35"/>
                <a:gd name="f49" fmla="*/ f21 f29 1"/>
                <a:gd name="f50" fmla="*/ f7 f29 1"/>
                <a:gd name="f51" fmla="*/ f33 f29 1"/>
                <a:gd name="f52" fmla="*/ f34 f29 1"/>
                <a:gd name="f53" fmla="+- f44 0 f15"/>
                <a:gd name="f54" fmla="+- f43 0 f15"/>
                <a:gd name="f55" fmla="+- f45 0 f2"/>
                <a:gd name="f56" fmla="?: f28 f47 f46"/>
                <a:gd name="f57" fmla="*/ f44 f29 1"/>
                <a:gd name="f58" fmla="*/ f43 f29 1"/>
                <a:gd name="f59" fmla="+- f55 f2 0"/>
                <a:gd name="f60" fmla="+- f44 0 f53"/>
                <a:gd name="f61" fmla="+- f43 0 f54"/>
                <a:gd name="f62" fmla="+- f53 0 f44"/>
                <a:gd name="f63" fmla="+- f54 0 f43"/>
                <a:gd name="f64" fmla="*/ f53 f29 1"/>
                <a:gd name="f65" fmla="*/ f54 f29 1"/>
                <a:gd name="f66" fmla="*/ f59 f8 1"/>
                <a:gd name="f67" fmla="abs f60"/>
                <a:gd name="f68" fmla="?: f60 0 f1"/>
                <a:gd name="f69" fmla="?: f60 f1 0"/>
                <a:gd name="f70" fmla="?: f60 f39 f40"/>
                <a:gd name="f71" fmla="abs f61"/>
                <a:gd name="f72" fmla="abs f62"/>
                <a:gd name="f73" fmla="?: f61 f16 f2"/>
                <a:gd name="f74" fmla="?: f61 f2 f16"/>
                <a:gd name="f75" fmla="?: f61 f3 f2"/>
                <a:gd name="f76" fmla="?: f61 f2 f3"/>
                <a:gd name="f77" fmla="abs f63"/>
                <a:gd name="f78" fmla="?: f63 f16 f2"/>
                <a:gd name="f79" fmla="?: f63 f2 f16"/>
                <a:gd name="f80" fmla="?: f63 f42 f41"/>
                <a:gd name="f81" fmla="?: f63 f41 f42"/>
                <a:gd name="f82" fmla="*/ f66 1 f1"/>
                <a:gd name="f83" fmla="?: f28 f69 f68"/>
                <a:gd name="f84" fmla="?: f28 f68 f69"/>
                <a:gd name="f85" fmla="?: f61 f76 f75"/>
                <a:gd name="f86" fmla="?: f61 f75 f76"/>
                <a:gd name="f87" fmla="?: f62 f74 f73"/>
                <a:gd name="f88" fmla="?: f27 f80 f81"/>
                <a:gd name="f89" fmla="?: f27 f78 f79"/>
                <a:gd name="f90" fmla="*/ f67 f29 1"/>
                <a:gd name="f91" fmla="*/ f71 f29 1"/>
                <a:gd name="f92" fmla="*/ f72 f29 1"/>
                <a:gd name="f93" fmla="*/ f77 f29 1"/>
                <a:gd name="f94" fmla="+- 0 0 f82"/>
                <a:gd name="f95" fmla="?: f60 f83 f84"/>
                <a:gd name="f96" fmla="?: f62 f86 f85"/>
                <a:gd name="f97" fmla="+- 0 0 f94"/>
                <a:gd name="f98" fmla="*/ f97 f1 1"/>
                <a:gd name="f99" fmla="*/ f98 1 f8"/>
                <a:gd name="f100" fmla="+- f99 0 f2"/>
                <a:gd name="f101" fmla="cos 1 f100"/>
                <a:gd name="f102" fmla="+- 0 0 f101"/>
                <a:gd name="f103" fmla="+- 0 0 f102"/>
                <a:gd name="f104" fmla="val f103"/>
                <a:gd name="f105" fmla="+- 0 0 f104"/>
                <a:gd name="f106" fmla="*/ f15 f105 1"/>
                <a:gd name="f107" fmla="*/ f106 3163 1"/>
                <a:gd name="f108" fmla="*/ f107 1 7636"/>
                <a:gd name="f109" fmla="+- f7 f108 0"/>
                <a:gd name="f110" fmla="+- f43 0 f108"/>
                <a:gd name="f111" fmla="+- f44 0 f108"/>
                <a:gd name="f112" fmla="*/ f109 f29 1"/>
                <a:gd name="f113" fmla="*/ f110 f29 1"/>
                <a:gd name="f114" fmla="*/ f111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2" t="f112" r="f113" b="f114"/>
              <a:pathLst>
                <a:path>
                  <a:moveTo>
                    <a:pt x="f49" y="f50"/>
                  </a:moveTo>
                  <a:arcTo wR="f51" hR="f52" stAng="f56" swAng="f48"/>
                  <a:lnTo>
                    <a:pt x="f50" y="f64"/>
                  </a:lnTo>
                  <a:arcTo wR="f52" hR="f90" stAng="f95" swAng="f70"/>
                  <a:lnTo>
                    <a:pt x="f65" y="f57"/>
                  </a:lnTo>
                  <a:arcTo wR="f91" hR="f92" stAng="f96" swAng="f87"/>
                  <a:lnTo>
                    <a:pt x="f58" y="f49"/>
                  </a:lnTo>
                  <a:arcTo wR="f93" hR="f51" stAng="f88" swAng="f89"/>
                  <a:close/>
                </a:path>
              </a:pathLst>
            </a:custGeom>
            <a:solidFill>
              <a:srgbClr val="1565A7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DDCE3514-2D0F-4F64-A72E-7451E708F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1761" y="5570927"/>
              <a:ext cx="460894" cy="53542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18152338-D8CD-4C93-9047-B0821C5CFFA9}"/>
                </a:ext>
              </a:extLst>
            </p:cNvPr>
            <p:cNvSpPr/>
            <p:nvPr/>
          </p:nvSpPr>
          <p:spPr>
            <a:xfrm>
              <a:off x="9181654" y="5510585"/>
              <a:ext cx="1351967" cy="67821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Career Pathways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958D50FC-2CA5-41EE-B85A-C5C2F27583F2}"/>
                </a:ext>
              </a:extLst>
            </p:cNvPr>
            <p:cNvSpPr/>
            <p:nvPr/>
          </p:nvSpPr>
          <p:spPr>
            <a:xfrm>
              <a:off x="10472166" y="5481690"/>
              <a:ext cx="1812862" cy="749597"/>
            </a:xfrm>
            <a:custGeom>
              <a:avLst>
                <a:gd name="f10" fmla="val 2571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2571"/>
                <a:gd name="f11" fmla="abs f4"/>
                <a:gd name="f12" fmla="abs f5"/>
                <a:gd name="f13" fmla="abs f6"/>
                <a:gd name="f14" fmla="*/ f8 1 180"/>
                <a:gd name="f15" fmla="val f10"/>
                <a:gd name="f16" fmla="+- 0 0 f2"/>
                <a:gd name="f17" fmla="?: f11 f4 1"/>
                <a:gd name="f18" fmla="?: f12 f5 1"/>
                <a:gd name="f19" fmla="?: f13 f6 1"/>
                <a:gd name="f20" fmla="*/ f9 f14 1"/>
                <a:gd name="f21" fmla="+- f7 f15 0"/>
                <a:gd name="f22" fmla="*/ f17 1 21600"/>
                <a:gd name="f23" fmla="*/ f18 1 21600"/>
                <a:gd name="f24" fmla="*/ 21600 f17 1"/>
                <a:gd name="f25" fmla="*/ 21600 f18 1"/>
                <a:gd name="f26" fmla="+- 0 0 f20"/>
                <a:gd name="f27" fmla="+- f7 0 f21"/>
                <a:gd name="f28" fmla="+- f21 0 f7"/>
                <a:gd name="f29" fmla="min f23 f22"/>
                <a:gd name="f30" fmla="*/ f24 1 f19"/>
                <a:gd name="f31" fmla="*/ f25 1 f19"/>
                <a:gd name="f32" fmla="*/ f26 f1 1"/>
                <a:gd name="f33" fmla="abs f27"/>
                <a:gd name="f34" fmla="abs f28"/>
                <a:gd name="f35" fmla="?: f27 f16 f2"/>
                <a:gd name="f36" fmla="?: f27 f2 f16"/>
                <a:gd name="f37" fmla="?: f27 f3 f2"/>
                <a:gd name="f38" fmla="?: f27 f2 f3"/>
                <a:gd name="f39" fmla="?: f28 f16 f2"/>
                <a:gd name="f40" fmla="?: f28 f2 f16"/>
                <a:gd name="f41" fmla="?: f27 0 f1"/>
                <a:gd name="f42" fmla="?: f27 f1 0"/>
                <a:gd name="f43" fmla="val f30"/>
                <a:gd name="f44" fmla="val f31"/>
                <a:gd name="f45" fmla="*/ f32 1 f8"/>
                <a:gd name="f46" fmla="?: f27 f38 f37"/>
                <a:gd name="f47" fmla="?: f27 f37 f38"/>
                <a:gd name="f48" fmla="?: f28 f36 f35"/>
                <a:gd name="f49" fmla="*/ f21 f29 1"/>
                <a:gd name="f50" fmla="*/ f7 f29 1"/>
                <a:gd name="f51" fmla="*/ f33 f29 1"/>
                <a:gd name="f52" fmla="*/ f34 f29 1"/>
                <a:gd name="f53" fmla="+- f44 0 f15"/>
                <a:gd name="f54" fmla="+- f43 0 f15"/>
                <a:gd name="f55" fmla="+- f45 0 f2"/>
                <a:gd name="f56" fmla="?: f28 f47 f46"/>
                <a:gd name="f57" fmla="*/ f44 f29 1"/>
                <a:gd name="f58" fmla="*/ f43 f29 1"/>
                <a:gd name="f59" fmla="+- f55 f2 0"/>
                <a:gd name="f60" fmla="+- f44 0 f53"/>
                <a:gd name="f61" fmla="+- f43 0 f54"/>
                <a:gd name="f62" fmla="+- f53 0 f44"/>
                <a:gd name="f63" fmla="+- f54 0 f43"/>
                <a:gd name="f64" fmla="*/ f53 f29 1"/>
                <a:gd name="f65" fmla="*/ f54 f29 1"/>
                <a:gd name="f66" fmla="*/ f59 f8 1"/>
                <a:gd name="f67" fmla="abs f60"/>
                <a:gd name="f68" fmla="?: f60 0 f1"/>
                <a:gd name="f69" fmla="?: f60 f1 0"/>
                <a:gd name="f70" fmla="?: f60 f39 f40"/>
                <a:gd name="f71" fmla="abs f61"/>
                <a:gd name="f72" fmla="abs f62"/>
                <a:gd name="f73" fmla="?: f61 f16 f2"/>
                <a:gd name="f74" fmla="?: f61 f2 f16"/>
                <a:gd name="f75" fmla="?: f61 f3 f2"/>
                <a:gd name="f76" fmla="?: f61 f2 f3"/>
                <a:gd name="f77" fmla="abs f63"/>
                <a:gd name="f78" fmla="?: f63 f16 f2"/>
                <a:gd name="f79" fmla="?: f63 f2 f16"/>
                <a:gd name="f80" fmla="?: f63 f42 f41"/>
                <a:gd name="f81" fmla="?: f63 f41 f42"/>
                <a:gd name="f82" fmla="*/ f66 1 f1"/>
                <a:gd name="f83" fmla="?: f28 f69 f68"/>
                <a:gd name="f84" fmla="?: f28 f68 f69"/>
                <a:gd name="f85" fmla="?: f61 f76 f75"/>
                <a:gd name="f86" fmla="?: f61 f75 f76"/>
                <a:gd name="f87" fmla="?: f62 f74 f73"/>
                <a:gd name="f88" fmla="?: f27 f80 f81"/>
                <a:gd name="f89" fmla="?: f27 f78 f79"/>
                <a:gd name="f90" fmla="*/ f67 f29 1"/>
                <a:gd name="f91" fmla="*/ f71 f29 1"/>
                <a:gd name="f92" fmla="*/ f72 f29 1"/>
                <a:gd name="f93" fmla="*/ f77 f29 1"/>
                <a:gd name="f94" fmla="+- 0 0 f82"/>
                <a:gd name="f95" fmla="?: f60 f83 f84"/>
                <a:gd name="f96" fmla="?: f62 f86 f85"/>
                <a:gd name="f97" fmla="+- 0 0 f94"/>
                <a:gd name="f98" fmla="*/ f97 f1 1"/>
                <a:gd name="f99" fmla="*/ f98 1 f8"/>
                <a:gd name="f100" fmla="+- f99 0 f2"/>
                <a:gd name="f101" fmla="cos 1 f100"/>
                <a:gd name="f102" fmla="+- 0 0 f101"/>
                <a:gd name="f103" fmla="+- 0 0 f102"/>
                <a:gd name="f104" fmla="val f103"/>
                <a:gd name="f105" fmla="+- 0 0 f104"/>
                <a:gd name="f106" fmla="*/ f15 f105 1"/>
                <a:gd name="f107" fmla="*/ f106 3163 1"/>
                <a:gd name="f108" fmla="*/ f107 1 7636"/>
                <a:gd name="f109" fmla="+- f7 f108 0"/>
                <a:gd name="f110" fmla="+- f43 0 f108"/>
                <a:gd name="f111" fmla="+- f44 0 f108"/>
                <a:gd name="f112" fmla="*/ f109 f29 1"/>
                <a:gd name="f113" fmla="*/ f110 f29 1"/>
                <a:gd name="f114" fmla="*/ f111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2" t="f112" r="f113" b="f114"/>
              <a:pathLst>
                <a:path>
                  <a:moveTo>
                    <a:pt x="f49" y="f50"/>
                  </a:moveTo>
                  <a:arcTo wR="f51" hR="f52" stAng="f56" swAng="f48"/>
                  <a:lnTo>
                    <a:pt x="f50" y="f64"/>
                  </a:lnTo>
                  <a:arcTo wR="f52" hR="f90" stAng="f95" swAng="f70"/>
                  <a:lnTo>
                    <a:pt x="f65" y="f57"/>
                  </a:lnTo>
                  <a:arcTo wR="f91" hR="f92" stAng="f96" swAng="f87"/>
                  <a:lnTo>
                    <a:pt x="f58" y="f49"/>
                  </a:lnTo>
                  <a:arcTo wR="f93" hR="f51" stAng="f88" swAng="f89"/>
                  <a:close/>
                </a:path>
              </a:pathLst>
            </a:custGeom>
            <a:solidFill>
              <a:srgbClr val="1565A7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13" name="Image 4" descr="preencoded.png">
              <a:extLst>
                <a:ext uri="{FF2B5EF4-FFF2-40B4-BE49-F238E27FC236}">
                  <a16:creationId xmlns:a16="http://schemas.microsoft.com/office/drawing/2014/main" id="{48AECDCF-E395-4313-AB74-F24388F77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48984" y="5570927"/>
              <a:ext cx="460894" cy="53542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865ADC0A-7259-4A95-8FA7-4E72E2E44B24}"/>
                </a:ext>
              </a:extLst>
            </p:cNvPr>
            <p:cNvSpPr/>
            <p:nvPr/>
          </p:nvSpPr>
          <p:spPr>
            <a:xfrm>
              <a:off x="11163516" y="5494446"/>
              <a:ext cx="1351967" cy="67821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CV 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endParaRP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Optimization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BDD8B9EC-2EC8-4A6D-B9E7-7925A13DBFBA}"/>
                </a:ext>
              </a:extLst>
            </p:cNvPr>
            <p:cNvSpPr/>
            <p:nvPr/>
          </p:nvSpPr>
          <p:spPr>
            <a:xfrm>
              <a:off x="12469389" y="5481690"/>
              <a:ext cx="1812862" cy="749597"/>
            </a:xfrm>
            <a:custGeom>
              <a:avLst>
                <a:gd name="f10" fmla="val 2571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2571"/>
                <a:gd name="f11" fmla="abs f4"/>
                <a:gd name="f12" fmla="abs f5"/>
                <a:gd name="f13" fmla="abs f6"/>
                <a:gd name="f14" fmla="*/ f8 1 180"/>
                <a:gd name="f15" fmla="val f10"/>
                <a:gd name="f16" fmla="+- 0 0 f2"/>
                <a:gd name="f17" fmla="?: f11 f4 1"/>
                <a:gd name="f18" fmla="?: f12 f5 1"/>
                <a:gd name="f19" fmla="?: f13 f6 1"/>
                <a:gd name="f20" fmla="*/ f9 f14 1"/>
                <a:gd name="f21" fmla="+- f7 f15 0"/>
                <a:gd name="f22" fmla="*/ f17 1 21600"/>
                <a:gd name="f23" fmla="*/ f18 1 21600"/>
                <a:gd name="f24" fmla="*/ 21600 f17 1"/>
                <a:gd name="f25" fmla="*/ 21600 f18 1"/>
                <a:gd name="f26" fmla="+- 0 0 f20"/>
                <a:gd name="f27" fmla="+- f7 0 f21"/>
                <a:gd name="f28" fmla="+- f21 0 f7"/>
                <a:gd name="f29" fmla="min f23 f22"/>
                <a:gd name="f30" fmla="*/ f24 1 f19"/>
                <a:gd name="f31" fmla="*/ f25 1 f19"/>
                <a:gd name="f32" fmla="*/ f26 f1 1"/>
                <a:gd name="f33" fmla="abs f27"/>
                <a:gd name="f34" fmla="abs f28"/>
                <a:gd name="f35" fmla="?: f27 f16 f2"/>
                <a:gd name="f36" fmla="?: f27 f2 f16"/>
                <a:gd name="f37" fmla="?: f27 f3 f2"/>
                <a:gd name="f38" fmla="?: f27 f2 f3"/>
                <a:gd name="f39" fmla="?: f28 f16 f2"/>
                <a:gd name="f40" fmla="?: f28 f2 f16"/>
                <a:gd name="f41" fmla="?: f27 0 f1"/>
                <a:gd name="f42" fmla="?: f27 f1 0"/>
                <a:gd name="f43" fmla="val f30"/>
                <a:gd name="f44" fmla="val f31"/>
                <a:gd name="f45" fmla="*/ f32 1 f8"/>
                <a:gd name="f46" fmla="?: f27 f38 f37"/>
                <a:gd name="f47" fmla="?: f27 f37 f38"/>
                <a:gd name="f48" fmla="?: f28 f36 f35"/>
                <a:gd name="f49" fmla="*/ f21 f29 1"/>
                <a:gd name="f50" fmla="*/ f7 f29 1"/>
                <a:gd name="f51" fmla="*/ f33 f29 1"/>
                <a:gd name="f52" fmla="*/ f34 f29 1"/>
                <a:gd name="f53" fmla="+- f44 0 f15"/>
                <a:gd name="f54" fmla="+- f43 0 f15"/>
                <a:gd name="f55" fmla="+- f45 0 f2"/>
                <a:gd name="f56" fmla="?: f28 f47 f46"/>
                <a:gd name="f57" fmla="*/ f44 f29 1"/>
                <a:gd name="f58" fmla="*/ f43 f29 1"/>
                <a:gd name="f59" fmla="+- f55 f2 0"/>
                <a:gd name="f60" fmla="+- f44 0 f53"/>
                <a:gd name="f61" fmla="+- f43 0 f54"/>
                <a:gd name="f62" fmla="+- f53 0 f44"/>
                <a:gd name="f63" fmla="+- f54 0 f43"/>
                <a:gd name="f64" fmla="*/ f53 f29 1"/>
                <a:gd name="f65" fmla="*/ f54 f29 1"/>
                <a:gd name="f66" fmla="*/ f59 f8 1"/>
                <a:gd name="f67" fmla="abs f60"/>
                <a:gd name="f68" fmla="?: f60 0 f1"/>
                <a:gd name="f69" fmla="?: f60 f1 0"/>
                <a:gd name="f70" fmla="?: f60 f39 f40"/>
                <a:gd name="f71" fmla="abs f61"/>
                <a:gd name="f72" fmla="abs f62"/>
                <a:gd name="f73" fmla="?: f61 f16 f2"/>
                <a:gd name="f74" fmla="?: f61 f2 f16"/>
                <a:gd name="f75" fmla="?: f61 f3 f2"/>
                <a:gd name="f76" fmla="?: f61 f2 f3"/>
                <a:gd name="f77" fmla="abs f63"/>
                <a:gd name="f78" fmla="?: f63 f16 f2"/>
                <a:gd name="f79" fmla="?: f63 f2 f16"/>
                <a:gd name="f80" fmla="?: f63 f42 f41"/>
                <a:gd name="f81" fmla="?: f63 f41 f42"/>
                <a:gd name="f82" fmla="*/ f66 1 f1"/>
                <a:gd name="f83" fmla="?: f28 f69 f68"/>
                <a:gd name="f84" fmla="?: f28 f68 f69"/>
                <a:gd name="f85" fmla="?: f61 f76 f75"/>
                <a:gd name="f86" fmla="?: f61 f75 f76"/>
                <a:gd name="f87" fmla="?: f62 f74 f73"/>
                <a:gd name="f88" fmla="?: f27 f80 f81"/>
                <a:gd name="f89" fmla="?: f27 f78 f79"/>
                <a:gd name="f90" fmla="*/ f67 f29 1"/>
                <a:gd name="f91" fmla="*/ f71 f29 1"/>
                <a:gd name="f92" fmla="*/ f72 f29 1"/>
                <a:gd name="f93" fmla="*/ f77 f29 1"/>
                <a:gd name="f94" fmla="+- 0 0 f82"/>
                <a:gd name="f95" fmla="?: f60 f83 f84"/>
                <a:gd name="f96" fmla="?: f62 f86 f85"/>
                <a:gd name="f97" fmla="+- 0 0 f94"/>
                <a:gd name="f98" fmla="*/ f97 f1 1"/>
                <a:gd name="f99" fmla="*/ f98 1 f8"/>
                <a:gd name="f100" fmla="+- f99 0 f2"/>
                <a:gd name="f101" fmla="cos 1 f100"/>
                <a:gd name="f102" fmla="+- 0 0 f101"/>
                <a:gd name="f103" fmla="+- 0 0 f102"/>
                <a:gd name="f104" fmla="val f103"/>
                <a:gd name="f105" fmla="+- 0 0 f104"/>
                <a:gd name="f106" fmla="*/ f15 f105 1"/>
                <a:gd name="f107" fmla="*/ f106 3163 1"/>
                <a:gd name="f108" fmla="*/ f107 1 7636"/>
                <a:gd name="f109" fmla="+- f7 f108 0"/>
                <a:gd name="f110" fmla="+- f43 0 f108"/>
                <a:gd name="f111" fmla="+- f44 0 f108"/>
                <a:gd name="f112" fmla="*/ f109 f29 1"/>
                <a:gd name="f113" fmla="*/ f110 f29 1"/>
                <a:gd name="f114" fmla="*/ f111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2" t="f112" r="f113" b="f114"/>
              <a:pathLst>
                <a:path>
                  <a:moveTo>
                    <a:pt x="f49" y="f50"/>
                  </a:moveTo>
                  <a:arcTo wR="f51" hR="f52" stAng="f56" swAng="f48"/>
                  <a:lnTo>
                    <a:pt x="f50" y="f64"/>
                  </a:lnTo>
                  <a:arcTo wR="f52" hR="f90" stAng="f95" swAng="f70"/>
                  <a:lnTo>
                    <a:pt x="f65" y="f57"/>
                  </a:lnTo>
                  <a:arcTo wR="f91" hR="f92" stAng="f96" swAng="f87"/>
                  <a:lnTo>
                    <a:pt x="f58" y="f49"/>
                  </a:lnTo>
                  <a:arcTo wR="f93" hR="f51" stAng="f88" swAng="f89"/>
                  <a:close/>
                </a:path>
              </a:pathLst>
            </a:custGeom>
            <a:solidFill>
              <a:srgbClr val="1565A7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16" name="Image 5" descr="preencoded.png">
              <a:extLst>
                <a:ext uri="{FF2B5EF4-FFF2-40B4-BE49-F238E27FC236}">
                  <a16:creationId xmlns:a16="http://schemas.microsoft.com/office/drawing/2014/main" id="{2751B239-5E96-4654-8EC3-67ECBFF57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46198" y="5570927"/>
              <a:ext cx="460894" cy="53542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0EB99EDA-FE64-4948-941C-EAD31FCDBCE5}"/>
                </a:ext>
              </a:extLst>
            </p:cNvPr>
            <p:cNvSpPr/>
            <p:nvPr/>
          </p:nvSpPr>
          <p:spPr>
            <a:xfrm>
              <a:off x="13180847" y="5486043"/>
              <a:ext cx="1351967" cy="67821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1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I</a:t>
              </a: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  <a:ea typeface="Calibri"/>
                  <a:cs typeface="Calibri"/>
                </a:rPr>
                <a:t>nterview Simulator</a:t>
              </a:r>
            </a:p>
          </p:txBody>
        </p:sp>
      </p:grpSp>
      <p:grpSp>
        <p:nvGrpSpPr>
          <p:cNvPr id="18" name="Group 23">
            <a:extLst>
              <a:ext uri="{FF2B5EF4-FFF2-40B4-BE49-F238E27FC236}">
                <a16:creationId xmlns:a16="http://schemas.microsoft.com/office/drawing/2014/main" id="{45746125-756E-415E-8806-CD12E6FC8EDC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19" name="Rectangle 24">
              <a:extLst>
                <a:ext uri="{FF2B5EF4-FFF2-40B4-BE49-F238E27FC236}">
                  <a16:creationId xmlns:a16="http://schemas.microsoft.com/office/drawing/2014/main" id="{7A3D4EDA-A73F-420F-BBB1-17E05A68E388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D3859034-8C1F-4E70-9717-180CFF35B682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21" name="Picture 26">
              <a:extLst>
                <a:ext uri="{FF2B5EF4-FFF2-40B4-BE49-F238E27FC236}">
                  <a16:creationId xmlns:a16="http://schemas.microsoft.com/office/drawing/2014/main" id="{9ADE0CC1-326C-4BB2-96AE-C840753FD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646D684C-15CA-4CF6-A401-D3B7EBAA3331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pic>
        <p:nvPicPr>
          <p:cNvPr id="23" name="Picture 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7AB3500-CFDF-42AA-B687-2E0323D77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968" y="1448272"/>
            <a:ext cx="5698778" cy="534455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">
            <a:extLst>
              <a:ext uri="{FF2B5EF4-FFF2-40B4-BE49-F238E27FC236}">
                <a16:creationId xmlns:a16="http://schemas.microsoft.com/office/drawing/2014/main" id="{5DA21F9E-B559-4D38-99D2-9DABB5B582C1}"/>
              </a:ext>
            </a:extLst>
          </p:cNvPr>
          <p:cNvSpPr/>
          <p:nvPr/>
        </p:nvSpPr>
        <p:spPr>
          <a:xfrm>
            <a:off x="585216" y="5588812"/>
            <a:ext cx="13459967" cy="1375257"/>
          </a:xfrm>
          <a:prstGeom prst="rect">
            <a:avLst/>
          </a:prstGeom>
          <a:solidFill>
            <a:srgbClr val="FFFFFF"/>
          </a:solidFill>
          <a:ln w="7616" cap="flat">
            <a:solidFill>
              <a:srgbClr val="BFDBFE"/>
            </a:solidFill>
            <a:prstDash val="solid"/>
            <a:miter/>
          </a:ln>
          <a:effectLst>
            <a:outerShdw dist="38096" dir="8100000" algn="tl">
              <a:srgbClr val="000000">
                <a:alpha val="9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8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675E0D0-A5BF-4130-ACFF-0AF56AEB8583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AA63DD7-596E-40AC-B368-2663B357C6B1}"/>
              </a:ext>
            </a:extLst>
          </p:cNvPr>
          <p:cNvSpPr/>
          <p:nvPr/>
        </p:nvSpPr>
        <p:spPr>
          <a:xfrm>
            <a:off x="3935577" y="475780"/>
            <a:ext cx="6756337" cy="11996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0F1E5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Addressing Proposal Feedback</a:t>
            </a:r>
            <a:endParaRPr lang="en-US" sz="4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A843EA7-D91F-431A-AB2E-78E8ACBF1CCF}"/>
              </a:ext>
            </a:extLst>
          </p:cNvPr>
          <p:cNvSpPr/>
          <p:nvPr/>
        </p:nvSpPr>
        <p:spPr>
          <a:xfrm>
            <a:off x="585216" y="1997342"/>
            <a:ext cx="13459967" cy="1343326"/>
          </a:xfrm>
          <a:prstGeom prst="rect">
            <a:avLst/>
          </a:prstGeom>
          <a:solidFill>
            <a:srgbClr val="FFFFFF"/>
          </a:solidFill>
          <a:ln w="7616" cap="flat">
            <a:solidFill>
              <a:srgbClr val="BFDBFE"/>
            </a:solidFill>
            <a:prstDash val="solid"/>
            <a:miter/>
          </a:ln>
          <a:effectLst>
            <a:outerShdw dist="38096" dir="8100000" algn="tl">
              <a:srgbClr val="000000">
                <a:alpha val="9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8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06215A7-79F8-4193-99CE-96D613666951}"/>
              </a:ext>
            </a:extLst>
          </p:cNvPr>
          <p:cNvSpPr/>
          <p:nvPr/>
        </p:nvSpPr>
        <p:spPr>
          <a:xfrm>
            <a:off x="936345" y="2223820"/>
            <a:ext cx="819302" cy="7607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520" b="1" i="0" u="none" strike="noStrike" kern="1200" cap="none" spc="0" baseline="0">
                <a:solidFill>
                  <a:srgbClr val="1D4ED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01</a:t>
            </a:r>
            <a:endParaRPr lang="en-US" sz="352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7" name="Group 45">
            <a:extLst>
              <a:ext uri="{FF2B5EF4-FFF2-40B4-BE49-F238E27FC236}">
                <a16:creationId xmlns:a16="http://schemas.microsoft.com/office/drawing/2014/main" id="{E325E51A-32C7-4651-A9C6-399AC96E40E1}"/>
              </a:ext>
            </a:extLst>
          </p:cNvPr>
          <p:cNvGrpSpPr/>
          <p:nvPr/>
        </p:nvGrpSpPr>
        <p:grpSpPr>
          <a:xfrm>
            <a:off x="1667865" y="2479852"/>
            <a:ext cx="2311603" cy="395021"/>
            <a:chOff x="1667865" y="2479852"/>
            <a:chExt cx="2311603" cy="395021"/>
          </a:xfrm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43335F83-F63F-42CF-9CF3-EE64406FE8D1}"/>
                </a:ext>
              </a:extLst>
            </p:cNvPr>
            <p:cNvSpPr/>
            <p:nvPr/>
          </p:nvSpPr>
          <p:spPr>
            <a:xfrm>
              <a:off x="1711756" y="2494483"/>
              <a:ext cx="2267712" cy="380390"/>
            </a:xfrm>
            <a:prstGeom prst="rect">
              <a:avLst/>
            </a:prstGeom>
            <a:solidFill>
              <a:srgbClr val="1D4ED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88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CC19E161-4C3B-405F-89C9-6C1D98A148D2}"/>
                </a:ext>
              </a:extLst>
            </p:cNvPr>
            <p:cNvSpPr/>
            <p:nvPr/>
          </p:nvSpPr>
          <p:spPr>
            <a:xfrm>
              <a:off x="1667865" y="2479852"/>
              <a:ext cx="2267712" cy="38039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">
                  <a:solidFill>
                    <a:srgbClr val="FFFFFF"/>
                  </a:solidFill>
                  <a:uFillTx/>
                  <a:latin typeface="Calibri" pitchFamily="34"/>
                  <a:ea typeface="Calibri" pitchFamily="34"/>
                  <a:cs typeface="Calibri" pitchFamily="34"/>
                </a:rPr>
                <a:t>ARCHITECTURE</a:t>
              </a: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0" name="Text 9">
            <a:extLst>
              <a:ext uri="{FF2B5EF4-FFF2-40B4-BE49-F238E27FC236}">
                <a16:creationId xmlns:a16="http://schemas.microsoft.com/office/drawing/2014/main" id="{DFE3C327-ED97-48E5-8BD3-F4E0FC400F01}"/>
              </a:ext>
            </a:extLst>
          </p:cNvPr>
          <p:cNvSpPr/>
          <p:nvPr/>
        </p:nvSpPr>
        <p:spPr>
          <a:xfrm>
            <a:off x="4155033" y="2223820"/>
            <a:ext cx="2194560" cy="3218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PANEL COMMENT: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2B617A0-0494-4A7C-9716-FD0F417ECE87}"/>
              </a:ext>
            </a:extLst>
          </p:cNvPr>
          <p:cNvSpPr/>
          <p:nvPr/>
        </p:nvSpPr>
        <p:spPr>
          <a:xfrm>
            <a:off x="4213555" y="2516428"/>
            <a:ext cx="9656064" cy="3803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"Lacked an overall system diagram."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B5CDBE8-E43F-40E5-BBEF-13A088693C14}"/>
              </a:ext>
            </a:extLst>
          </p:cNvPr>
          <p:cNvSpPr/>
          <p:nvPr/>
        </p:nvSpPr>
        <p:spPr>
          <a:xfrm>
            <a:off x="585216" y="3806473"/>
            <a:ext cx="13459967" cy="1330086"/>
          </a:xfrm>
          <a:prstGeom prst="rect">
            <a:avLst/>
          </a:prstGeom>
          <a:solidFill>
            <a:srgbClr val="FFFFFF"/>
          </a:solidFill>
          <a:ln w="7616" cap="flat">
            <a:solidFill>
              <a:srgbClr val="BFDBFE"/>
            </a:solidFill>
            <a:prstDash val="solid"/>
            <a:miter/>
          </a:ln>
          <a:effectLst>
            <a:outerShdw dist="38096" dir="8100000" algn="tl">
              <a:srgbClr val="000000">
                <a:alpha val="9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8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D6492BC1-C36B-4D14-A5CE-7EBA28F07C51}"/>
              </a:ext>
            </a:extLst>
          </p:cNvPr>
          <p:cNvSpPr/>
          <p:nvPr/>
        </p:nvSpPr>
        <p:spPr>
          <a:xfrm>
            <a:off x="936345" y="4096512"/>
            <a:ext cx="819302" cy="7607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520" b="1" i="0" u="none" strike="noStrike" kern="1200" cap="none" spc="0" baseline="0">
                <a:solidFill>
                  <a:srgbClr val="4472C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02</a:t>
            </a:r>
            <a:endParaRPr lang="en-US" sz="3520" b="0" i="0" u="none" strike="noStrike" kern="1200" cap="none" spc="0" baseline="0">
              <a:solidFill>
                <a:srgbClr val="4472C4"/>
              </a:solidFill>
              <a:uFillTx/>
              <a:latin typeface="Calibri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7C264FBE-D698-49E4-8DA5-E957D927A85E}"/>
              </a:ext>
            </a:extLst>
          </p:cNvPr>
          <p:cNvSpPr/>
          <p:nvPr/>
        </p:nvSpPr>
        <p:spPr>
          <a:xfrm>
            <a:off x="1814169" y="4111142"/>
            <a:ext cx="2267712" cy="3803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60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LITERATURE</a:t>
            </a:r>
            <a:endParaRPr lang="en-US" sz="13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B29391CA-8DFF-425A-83CE-C94CA6F82905}"/>
              </a:ext>
            </a:extLst>
          </p:cNvPr>
          <p:cNvSpPr/>
          <p:nvPr/>
        </p:nvSpPr>
        <p:spPr>
          <a:xfrm>
            <a:off x="4213555" y="4096512"/>
            <a:ext cx="2194560" cy="3218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PANEL COMMENT: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E8D0625A-0E32-471A-9968-2767D1FAA0C5}"/>
              </a:ext>
            </a:extLst>
          </p:cNvPr>
          <p:cNvSpPr/>
          <p:nvPr/>
        </p:nvSpPr>
        <p:spPr>
          <a:xfrm>
            <a:off x="4213555" y="4389120"/>
            <a:ext cx="9656064" cy="3803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"Lacked a proper literature review."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CD33DF9-3A98-4384-AFC4-965A61A17525}"/>
              </a:ext>
            </a:extLst>
          </p:cNvPr>
          <p:cNvSpPr/>
          <p:nvPr/>
        </p:nvSpPr>
        <p:spPr>
          <a:xfrm>
            <a:off x="936345" y="5969203"/>
            <a:ext cx="819302" cy="7607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520" b="1" i="0" u="none" strike="noStrike" kern="1200" cap="none" spc="0" baseline="0">
                <a:solidFill>
                  <a:srgbClr val="4472C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03</a:t>
            </a:r>
            <a:endParaRPr lang="en-US" sz="3520" b="0" i="0" u="none" strike="noStrike" kern="1200" cap="none" spc="0" baseline="0">
              <a:solidFill>
                <a:srgbClr val="4472C4"/>
              </a:solidFill>
              <a:uFillTx/>
              <a:latin typeface="Calibri"/>
            </a:endParaRPr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1242169E-74AE-4813-83CF-12A392F14B3C}"/>
              </a:ext>
            </a:extLst>
          </p:cNvPr>
          <p:cNvSpPr/>
          <p:nvPr/>
        </p:nvSpPr>
        <p:spPr>
          <a:xfrm>
            <a:off x="1814169" y="5983833"/>
            <a:ext cx="2267712" cy="3803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60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RESEARCH NOVELTY</a:t>
            </a:r>
            <a:endParaRPr lang="en-US" sz="13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7CDC22A5-7031-4305-BEE6-3FB4BE9D9F6A}"/>
              </a:ext>
            </a:extLst>
          </p:cNvPr>
          <p:cNvSpPr/>
          <p:nvPr/>
        </p:nvSpPr>
        <p:spPr>
          <a:xfrm>
            <a:off x="4213555" y="5969203"/>
            <a:ext cx="2194560" cy="3218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4755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PANEL COMMENT: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28">
            <a:extLst>
              <a:ext uri="{FF2B5EF4-FFF2-40B4-BE49-F238E27FC236}">
                <a16:creationId xmlns:a16="http://schemas.microsoft.com/office/drawing/2014/main" id="{482B4E8E-C5D9-4A2C-BD07-B11871899C04}"/>
              </a:ext>
            </a:extLst>
          </p:cNvPr>
          <p:cNvSpPr/>
          <p:nvPr/>
        </p:nvSpPr>
        <p:spPr>
          <a:xfrm>
            <a:off x="4213555" y="6261811"/>
            <a:ext cx="9656064" cy="38039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"Unclear individual components &amp; 'no research value' in one component."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21" name="Group 40">
            <a:extLst>
              <a:ext uri="{FF2B5EF4-FFF2-40B4-BE49-F238E27FC236}">
                <a16:creationId xmlns:a16="http://schemas.microsoft.com/office/drawing/2014/main" id="{E94EE0B3-0CC7-49C4-8B2D-D0D8E74ED083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22" name="Rectangle 41">
              <a:extLst>
                <a:ext uri="{FF2B5EF4-FFF2-40B4-BE49-F238E27FC236}">
                  <a16:creationId xmlns:a16="http://schemas.microsoft.com/office/drawing/2014/main" id="{7A60906C-20AA-4B9C-AFC1-517CABC3F4A8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23" name="Rectangle 42">
              <a:extLst>
                <a:ext uri="{FF2B5EF4-FFF2-40B4-BE49-F238E27FC236}">
                  <a16:creationId xmlns:a16="http://schemas.microsoft.com/office/drawing/2014/main" id="{FB4548B3-A983-4AA0-84F7-A0C9FDC97DE1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24" name="Picture 43">
              <a:extLst>
                <a:ext uri="{FF2B5EF4-FFF2-40B4-BE49-F238E27FC236}">
                  <a16:creationId xmlns:a16="http://schemas.microsoft.com/office/drawing/2014/main" id="{1A82BB23-D701-436D-AEBA-2AFA51A09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5" name="Rectangle 44">
              <a:extLst>
                <a:ext uri="{FF2B5EF4-FFF2-40B4-BE49-F238E27FC236}">
                  <a16:creationId xmlns:a16="http://schemas.microsoft.com/office/drawing/2014/main" id="{739F24DF-12C3-4D53-A077-4D221170DFBA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26" name="Group 46">
            <a:extLst>
              <a:ext uri="{FF2B5EF4-FFF2-40B4-BE49-F238E27FC236}">
                <a16:creationId xmlns:a16="http://schemas.microsoft.com/office/drawing/2014/main" id="{CF854C95-77A9-4689-9084-6255F4B88E60}"/>
              </a:ext>
            </a:extLst>
          </p:cNvPr>
          <p:cNvGrpSpPr/>
          <p:nvPr/>
        </p:nvGrpSpPr>
        <p:grpSpPr>
          <a:xfrm>
            <a:off x="1638604" y="4313681"/>
            <a:ext cx="2296973" cy="389599"/>
            <a:chOff x="1638604" y="4313681"/>
            <a:chExt cx="2296973" cy="389599"/>
          </a:xfrm>
        </p:grpSpPr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93F59B62-4B03-4CE2-B70C-2EAA0F8F6A6A}"/>
                </a:ext>
              </a:extLst>
            </p:cNvPr>
            <p:cNvSpPr/>
            <p:nvPr/>
          </p:nvSpPr>
          <p:spPr>
            <a:xfrm>
              <a:off x="1667865" y="4322890"/>
              <a:ext cx="2267712" cy="380390"/>
            </a:xfrm>
            <a:prstGeom prst="rect">
              <a:avLst/>
            </a:prstGeom>
            <a:solidFill>
              <a:srgbClr val="1D4ED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88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9B21C1B1-2C80-42C9-A12B-116739752620}"/>
                </a:ext>
              </a:extLst>
            </p:cNvPr>
            <p:cNvSpPr/>
            <p:nvPr/>
          </p:nvSpPr>
          <p:spPr>
            <a:xfrm>
              <a:off x="1638604" y="4313681"/>
              <a:ext cx="2267712" cy="38039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">
                  <a:solidFill>
                    <a:srgbClr val="FFFFFF"/>
                  </a:solidFill>
                  <a:uFillTx/>
                  <a:latin typeface="Calibri" pitchFamily="34"/>
                  <a:ea typeface="Calibri" pitchFamily="34"/>
                  <a:cs typeface="Calibri" pitchFamily="34"/>
                </a:rPr>
                <a:t>LITERATURE</a:t>
              </a: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29" name="Group 49">
            <a:extLst>
              <a:ext uri="{FF2B5EF4-FFF2-40B4-BE49-F238E27FC236}">
                <a16:creationId xmlns:a16="http://schemas.microsoft.com/office/drawing/2014/main" id="{54B36EC1-DA60-4B22-B74C-E20EC37BA079}"/>
              </a:ext>
            </a:extLst>
          </p:cNvPr>
          <p:cNvGrpSpPr/>
          <p:nvPr/>
        </p:nvGrpSpPr>
        <p:grpSpPr>
          <a:xfrm>
            <a:off x="1638604" y="6148626"/>
            <a:ext cx="2267712" cy="391162"/>
            <a:chOff x="1638604" y="6148626"/>
            <a:chExt cx="2267712" cy="391162"/>
          </a:xfrm>
        </p:grpSpPr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BD8D6EDD-985A-41E9-9C1C-47F4CB13A008}"/>
                </a:ext>
              </a:extLst>
            </p:cNvPr>
            <p:cNvSpPr/>
            <p:nvPr/>
          </p:nvSpPr>
          <p:spPr>
            <a:xfrm>
              <a:off x="1638604" y="6148626"/>
              <a:ext cx="2267712" cy="380390"/>
            </a:xfrm>
            <a:prstGeom prst="rect">
              <a:avLst/>
            </a:prstGeom>
            <a:solidFill>
              <a:srgbClr val="1D4ED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88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5DD10DB6-DD9A-4D7A-9C58-CFB05ED4A3DF}"/>
                </a:ext>
              </a:extLst>
            </p:cNvPr>
            <p:cNvSpPr/>
            <p:nvPr/>
          </p:nvSpPr>
          <p:spPr>
            <a:xfrm>
              <a:off x="1638604" y="6159398"/>
              <a:ext cx="2267712" cy="38039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">
                  <a:solidFill>
                    <a:srgbClr val="FFFFFF"/>
                  </a:solidFill>
                  <a:uFillTx/>
                  <a:latin typeface="Calibri" pitchFamily="34"/>
                  <a:ea typeface="Calibri" pitchFamily="34"/>
                  <a:cs typeface="Calibri" pitchFamily="34"/>
                </a:rPr>
                <a:t>RESEARCH NOVELTY</a:t>
              </a:r>
              <a:endPara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A8A7E3E9-2721-4CBC-ABBF-D800B5639EEC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86134E68-2C3D-4C5F-BC90-3535E9C4A0A5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B9E4AD45-3FB3-48A2-95E7-08F84C154D20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25">
              <a:extLst>
                <a:ext uri="{FF2B5EF4-FFF2-40B4-BE49-F238E27FC236}">
                  <a16:creationId xmlns:a16="http://schemas.microsoft.com/office/drawing/2014/main" id="{B3D7C51B-6F75-4801-8F2A-C4340184DC5B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26">
              <a:extLst>
                <a:ext uri="{FF2B5EF4-FFF2-40B4-BE49-F238E27FC236}">
                  <a16:creationId xmlns:a16="http://schemas.microsoft.com/office/drawing/2014/main" id="{8BB2C9E2-F78D-4D2D-BBBA-ADD7D8327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27">
              <a:extLst>
                <a:ext uri="{FF2B5EF4-FFF2-40B4-BE49-F238E27FC236}">
                  <a16:creationId xmlns:a16="http://schemas.microsoft.com/office/drawing/2014/main" id="{62BE624E-800E-4FE1-B656-63466F64FDA8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12D997FD-D36D-434E-BEB1-9AF913C590E4}"/>
              </a:ext>
            </a:extLst>
          </p:cNvPr>
          <p:cNvSpPr txBox="1"/>
          <p:nvPr/>
        </p:nvSpPr>
        <p:spPr>
          <a:xfrm>
            <a:off x="468218" y="731291"/>
            <a:ext cx="13693962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Skill Forecasting and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Semantic Career Pathway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Optimization Ecosystem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92C3DE3-725E-49D5-B03A-A2A6BB42B257}"/>
              </a:ext>
            </a:extLst>
          </p:cNvPr>
          <p:cNvSpPr txBox="1"/>
          <p:nvPr/>
        </p:nvSpPr>
        <p:spPr>
          <a:xfrm>
            <a:off x="468218" y="1756397"/>
            <a:ext cx="5216487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F1E54"/>
                </a:solidFill>
                <a:uFillTx/>
                <a:latin typeface="Calibri"/>
                <a:ea typeface="Calibri"/>
                <a:cs typeface="Calibri"/>
              </a:rPr>
              <a:t>The Problem &amp; Its Gravity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52">
            <a:extLst>
              <a:ext uri="{FF2B5EF4-FFF2-40B4-BE49-F238E27FC236}">
                <a16:creationId xmlns:a16="http://schemas.microsoft.com/office/drawing/2014/main" id="{5179D090-D17C-400E-B1AC-4227CA22B9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33" b="8913"/>
          <a:stretch>
            <a:fillRect/>
          </a:stretch>
        </p:blipFill>
        <p:spPr>
          <a:xfrm>
            <a:off x="10434529" y="3952576"/>
            <a:ext cx="4152436" cy="3609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544D8A8E-421A-435A-9A58-55729EE98D11}"/>
              </a:ext>
            </a:extLst>
          </p:cNvPr>
          <p:cNvSpPr txBox="1"/>
          <p:nvPr/>
        </p:nvSpPr>
        <p:spPr>
          <a:xfrm>
            <a:off x="5104610" y="2799591"/>
            <a:ext cx="8474842" cy="10156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F1E54"/>
                </a:solidFill>
                <a:uFillTx/>
                <a:latin typeface="Calibri"/>
                <a:ea typeface="Calibri"/>
                <a:cs typeface="Calibri"/>
              </a:rPr>
              <a:t>Global IT technologies evolve rapidly, while traditional academic curricula remain static. This creates a severe, widening knowledge gap for fresh graduates.  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2BA8412-842C-4130-BAEB-248EA6381D12}"/>
              </a:ext>
            </a:extLst>
          </p:cNvPr>
          <p:cNvSpPr txBox="1"/>
          <p:nvPr/>
        </p:nvSpPr>
        <p:spPr>
          <a:xfrm>
            <a:off x="1279583" y="4473839"/>
            <a:ext cx="4147544" cy="2308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F1E54"/>
                </a:solidFill>
                <a:uFillTx/>
                <a:latin typeface="Calibri"/>
                <a:ea typeface="Calibri"/>
                <a:cs typeface="Calibri"/>
              </a:rPr>
              <a:t>Impact on Students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F1E54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F1E54"/>
                </a:solidFill>
                <a:uFillTx/>
                <a:latin typeface="Calibri"/>
                <a:ea typeface="Calibri"/>
                <a:cs typeface="Calibri"/>
              </a:rPr>
              <a:t>High career anxiety, wasted self-study hours on outdated tech, and resumes consistently rejected by automated systems due to missing contextual skills.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F5CB0C50-078C-4BCA-A5C6-AC911592E82E}"/>
              </a:ext>
            </a:extLst>
          </p:cNvPr>
          <p:cNvSpPr txBox="1"/>
          <p:nvPr/>
        </p:nvSpPr>
        <p:spPr>
          <a:xfrm>
            <a:off x="6276587" y="4473839"/>
            <a:ext cx="4160419" cy="26160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F1E54"/>
                </a:solidFill>
                <a:uFillTx/>
                <a:latin typeface="Calibri"/>
                <a:ea typeface="Calibri"/>
                <a:cs typeface="Calibri"/>
              </a:rPr>
              <a:t>Impact on Industry </a:t>
            </a:r>
            <a:endParaRPr lang="en-US" sz="24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F1E54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F1E54"/>
                </a:solidFill>
                <a:uFillTx/>
                <a:latin typeface="Calibri"/>
                <a:ea typeface="Calibri"/>
                <a:cs typeface="Calibri"/>
              </a:rPr>
              <a:t>Despite thousands of IT graduates entering the workforce, companies face severe talent shortages and extended, costly retraining periods (bench time).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F1E54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B69FE50-7254-4EAF-B5F4-29EE63566F0A}"/>
              </a:ext>
            </a:extLst>
          </p:cNvPr>
          <p:cNvSpPr txBox="1"/>
          <p:nvPr/>
        </p:nvSpPr>
        <p:spPr>
          <a:xfrm>
            <a:off x="906097" y="3044284"/>
            <a:ext cx="3722540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C00000"/>
                </a:solidFill>
                <a:uFillTx/>
                <a:latin typeface="Calibri"/>
                <a:ea typeface="Calibri"/>
                <a:cs typeface="Calibri"/>
              </a:rPr>
              <a:t>The Core Problem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1827DB7D-5373-454A-8DF9-AB71C59E8FE0}"/>
              </a:ext>
            </a:extLst>
          </p:cNvPr>
          <p:cNvSpPr/>
          <p:nvPr/>
        </p:nvSpPr>
        <p:spPr>
          <a:xfrm>
            <a:off x="685507" y="2601193"/>
            <a:ext cx="12385922" cy="1354189"/>
          </a:xfrm>
          <a:prstGeom prst="rect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Arrow: Right 7">
            <a:extLst>
              <a:ext uri="{FF2B5EF4-FFF2-40B4-BE49-F238E27FC236}">
                <a16:creationId xmlns:a16="http://schemas.microsoft.com/office/drawing/2014/main" id="{1E7FD31D-A1E5-4B36-9377-78DA1BAE2576}"/>
              </a:ext>
            </a:extLst>
          </p:cNvPr>
          <p:cNvSpPr/>
          <p:nvPr/>
        </p:nvSpPr>
        <p:spPr>
          <a:xfrm>
            <a:off x="3909901" y="3071286"/>
            <a:ext cx="732251" cy="451814"/>
          </a:xfrm>
          <a:custGeom>
            <a:avLst>
              <a:gd name="f0" fmla="val 14936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val f7"/>
              <a:gd name="f15" fmla="val f8"/>
              <a:gd name="f16" fmla="pin 0 f0 21600"/>
              <a:gd name="f17" fmla="pin 0 f1 10800"/>
              <a:gd name="f18" fmla="*/ f10 f2 1"/>
              <a:gd name="f19" fmla="*/ f11 f2 1"/>
              <a:gd name="f20" fmla="+- f15 0 f14"/>
              <a:gd name="f21" fmla="val f16"/>
              <a:gd name="f22" fmla="val f17"/>
              <a:gd name="f23" fmla="*/ f16 f12 1"/>
              <a:gd name="f24" fmla="*/ f17 f13 1"/>
              <a:gd name="f25" fmla="*/ f18 1 f4"/>
              <a:gd name="f26" fmla="*/ f19 1 f4"/>
              <a:gd name="f27" fmla="*/ f20 1 21600"/>
              <a:gd name="f28" fmla="+- 21600 0 f22"/>
              <a:gd name="f29" fmla="+- 21600 0 f21"/>
              <a:gd name="f30" fmla="*/ f22 f13 1"/>
              <a:gd name="f31" fmla="*/ f21 f12 1"/>
              <a:gd name="f32" fmla="+- f25 0 f3"/>
              <a:gd name="f33" fmla="+- f26 0 f3"/>
              <a:gd name="f34" fmla="*/ 0 f27 1"/>
              <a:gd name="f35" fmla="*/ 21600 f27 1"/>
              <a:gd name="f36" fmla="*/ f29 f22 1"/>
              <a:gd name="f37" fmla="*/ f28 f13 1"/>
              <a:gd name="f38" fmla="*/ f36 1 10800"/>
              <a:gd name="f39" fmla="*/ f34 1 f27"/>
              <a:gd name="f40" fmla="*/ f35 1 f27"/>
              <a:gd name="f41" fmla="+- f21 f38 0"/>
              <a:gd name="f42" fmla="*/ f39 f12 1"/>
              <a:gd name="f43" fmla="*/ f39 f13 1"/>
              <a:gd name="f44" fmla="*/ f40 f13 1"/>
              <a:gd name="f45" fmla="*/ f41 f12 1"/>
            </a:gdLst>
            <a:ahLst>
              <a:ahXY gdRefX="f0" minX="f7" maxX="f8" gdRefY="f1" minY="f7" maxY="f9">
                <a:pos x="f23" y="f2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43"/>
              </a:cxn>
              <a:cxn ang="f33">
                <a:pos x="f31" y="f44"/>
              </a:cxn>
            </a:cxnLst>
            <a:rect l="f42" t="f30" r="f45" b="f37"/>
            <a:pathLst>
              <a:path w="21600" h="21600">
                <a:moveTo>
                  <a:pt x="f7" y="f22"/>
                </a:moveTo>
                <a:lnTo>
                  <a:pt x="f21" y="f22"/>
                </a:lnTo>
                <a:lnTo>
                  <a:pt x="f21" y="f7"/>
                </a:lnTo>
                <a:lnTo>
                  <a:pt x="f8" y="f9"/>
                </a:lnTo>
                <a:lnTo>
                  <a:pt x="f21" y="f8"/>
                </a:lnTo>
                <a:lnTo>
                  <a:pt x="f21" y="f28"/>
                </a:lnTo>
                <a:lnTo>
                  <a:pt x="f7" y="f28"/>
                </a:lnTo>
                <a:close/>
              </a:path>
            </a:pathLst>
          </a:custGeom>
          <a:solidFill>
            <a:srgbClr val="000000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A319E1CE-ECE6-4BDD-A4EA-F3244F8712EA}"/>
              </a:ext>
            </a:extLst>
          </p:cNvPr>
          <p:cNvSpPr/>
          <p:nvPr/>
        </p:nvSpPr>
        <p:spPr>
          <a:xfrm>
            <a:off x="1030336" y="4326401"/>
            <a:ext cx="4642774" cy="2539508"/>
          </a:xfrm>
          <a:prstGeom prst="rect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385C469A-BBA3-4837-A3B4-C76F8F55D52E}"/>
              </a:ext>
            </a:extLst>
          </p:cNvPr>
          <p:cNvSpPr/>
          <p:nvPr/>
        </p:nvSpPr>
        <p:spPr>
          <a:xfrm>
            <a:off x="6040224" y="4326401"/>
            <a:ext cx="4642774" cy="2539508"/>
          </a:xfrm>
          <a:prstGeom prst="rect">
            <a:avLst/>
          </a:prstGeom>
          <a:noFill/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1A405A0F-3B26-49B9-934D-F7A9DB99D30B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CF5985A6-FB5A-401A-8BEC-C5256A87C5AA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D74E15EB-0CCE-41A7-B777-C96FB0EC098F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25">
              <a:extLst>
                <a:ext uri="{FF2B5EF4-FFF2-40B4-BE49-F238E27FC236}">
                  <a16:creationId xmlns:a16="http://schemas.microsoft.com/office/drawing/2014/main" id="{DDA2D2D9-3445-494C-A938-203733E8EC09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26">
              <a:extLst>
                <a:ext uri="{FF2B5EF4-FFF2-40B4-BE49-F238E27FC236}">
                  <a16:creationId xmlns:a16="http://schemas.microsoft.com/office/drawing/2014/main" id="{BAFBF5B6-97E1-47D3-9C94-4D73EEAE9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27">
              <a:extLst>
                <a:ext uri="{FF2B5EF4-FFF2-40B4-BE49-F238E27FC236}">
                  <a16:creationId xmlns:a16="http://schemas.microsoft.com/office/drawing/2014/main" id="{DAB20D17-C316-4C70-A1BC-4B1F5826A3B9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BA1CF849-EF7D-4EA3-ADD0-0FE4DE8739AE}"/>
              </a:ext>
            </a:extLst>
          </p:cNvPr>
          <p:cNvSpPr txBox="1"/>
          <p:nvPr/>
        </p:nvSpPr>
        <p:spPr>
          <a:xfrm>
            <a:off x="468218" y="1891994"/>
            <a:ext cx="6307156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F1E5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Target Audience &amp; Beneficiaries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4518E47-B35F-467C-B573-F6102F9F6881}"/>
              </a:ext>
            </a:extLst>
          </p:cNvPr>
          <p:cNvSpPr txBox="1"/>
          <p:nvPr/>
        </p:nvSpPr>
        <p:spPr>
          <a:xfrm>
            <a:off x="468218" y="603375"/>
            <a:ext cx="13693962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Skill Forecasting and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Semantic Career Pathway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Optimization Ecosystem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38F8755A-0578-4235-B1CA-F41F3D825425}"/>
              </a:ext>
            </a:extLst>
          </p:cNvPr>
          <p:cNvSpPr txBox="1"/>
          <p:nvPr/>
        </p:nvSpPr>
        <p:spPr>
          <a:xfrm>
            <a:off x="1357362" y="5394850"/>
            <a:ext cx="2952524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4472C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IT Undergraduates</a:t>
            </a:r>
            <a:endParaRPr lang="en-US" sz="2800" b="0" i="0" u="none" strike="noStrike" kern="1200" cap="none" spc="0" baseline="0">
              <a:solidFill>
                <a:srgbClr val="4472C4"/>
              </a:solidFill>
              <a:uFillTx/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100C0A-606E-4C91-A2FE-FA3BED731B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50"/>
          <a:stretch>
            <a:fillRect/>
          </a:stretch>
        </p:blipFill>
        <p:spPr>
          <a:xfrm>
            <a:off x="1742188" y="3370944"/>
            <a:ext cx="2182864" cy="1978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A1EC9CC0-3273-4801-B137-E54A8E7FE315}"/>
              </a:ext>
            </a:extLst>
          </p:cNvPr>
          <p:cNvSpPr txBox="1"/>
          <p:nvPr/>
        </p:nvSpPr>
        <p:spPr>
          <a:xfrm>
            <a:off x="5462616" y="5349724"/>
            <a:ext cx="3483077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4472C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Academic Institutions</a:t>
            </a:r>
            <a:endParaRPr lang="en-US" sz="2800" b="0" i="0" u="none" strike="noStrike" kern="1200" cap="none" spc="0" baseline="0">
              <a:solidFill>
                <a:srgbClr val="4472C4"/>
              </a:solidFill>
              <a:uFillTx/>
              <a:latin typeface="Calibri"/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0B5A28FB-F238-415F-B8B6-127E873CD07E}"/>
              </a:ext>
            </a:extLst>
          </p:cNvPr>
          <p:cNvSpPr txBox="1"/>
          <p:nvPr/>
        </p:nvSpPr>
        <p:spPr>
          <a:xfrm>
            <a:off x="9401339" y="5349724"/>
            <a:ext cx="4195139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4472C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Tech Industry &amp; Recruiters</a:t>
            </a:r>
            <a:endParaRPr lang="en-US" sz="2800" b="0" i="0" u="none" strike="noStrike" kern="1200" cap="none" spc="0" baseline="0">
              <a:solidFill>
                <a:srgbClr val="4472C4"/>
              </a:solidFill>
              <a:uFillTx/>
              <a:latin typeface="Calibri"/>
            </a:endParaRPr>
          </a:p>
        </p:txBody>
      </p:sp>
      <p:pic>
        <p:nvPicPr>
          <p:cNvPr id="14" name="Picture 20">
            <a:extLst>
              <a:ext uri="{FF2B5EF4-FFF2-40B4-BE49-F238E27FC236}">
                <a16:creationId xmlns:a16="http://schemas.microsoft.com/office/drawing/2014/main" id="{60BFF6DC-FA2E-4D80-9E44-E46AC1765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895" y="3454356"/>
            <a:ext cx="1808509" cy="180850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22">
            <a:extLst>
              <a:ext uri="{FF2B5EF4-FFF2-40B4-BE49-F238E27FC236}">
                <a16:creationId xmlns:a16="http://schemas.microsoft.com/office/drawing/2014/main" id="{F621C2D7-7F05-425A-80F6-E852C1C45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8666" y="3454356"/>
            <a:ext cx="1940493" cy="19404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C9A8142-FD27-41DE-A5C9-49AD934CCD88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5AF28571-5F2C-4A8C-B701-414E9A3F181B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A3659119-05F9-47F0-B4D2-682ECEDFFECC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25">
              <a:extLst>
                <a:ext uri="{FF2B5EF4-FFF2-40B4-BE49-F238E27FC236}">
                  <a16:creationId xmlns:a16="http://schemas.microsoft.com/office/drawing/2014/main" id="{12A55E4E-B7D4-4B62-9E44-203BC1945E61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26">
              <a:extLst>
                <a:ext uri="{FF2B5EF4-FFF2-40B4-BE49-F238E27FC236}">
                  <a16:creationId xmlns:a16="http://schemas.microsoft.com/office/drawing/2014/main" id="{6A5B2C45-50E3-44E4-BC4C-9885FCBD7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27">
              <a:extLst>
                <a:ext uri="{FF2B5EF4-FFF2-40B4-BE49-F238E27FC236}">
                  <a16:creationId xmlns:a16="http://schemas.microsoft.com/office/drawing/2014/main" id="{A3C91749-3D43-4590-9030-58B599BC94C3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8FD4C4B6-9278-4FCD-B270-64AE4A7B72D8}"/>
              </a:ext>
            </a:extLst>
          </p:cNvPr>
          <p:cNvSpPr txBox="1"/>
          <p:nvPr/>
        </p:nvSpPr>
        <p:spPr>
          <a:xfrm>
            <a:off x="3895837" y="1592290"/>
            <a:ext cx="6838724" cy="6920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 Light" pitchFamily="34"/>
                <a:cs typeface="Calibri Light" pitchFamily="34"/>
              </a:rPr>
              <a:t>Who Benefits  from the Solution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 Light" pitchFamily="34"/>
              <a:cs typeface="Calibri Light" pitchFamily="34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A46C926-B450-4329-BBFE-39199626634F}"/>
              </a:ext>
            </a:extLst>
          </p:cNvPr>
          <p:cNvSpPr txBox="1"/>
          <p:nvPr/>
        </p:nvSpPr>
        <p:spPr>
          <a:xfrm>
            <a:off x="468218" y="603375"/>
            <a:ext cx="13693962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Skill Forecasting and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Semantic Career Pathway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</a:rPr>
              <a:t> </a:t>
            </a: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Optimization Ecosystem</a:t>
            </a: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</a:rPr>
              <a:t>​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F539BBCC-A329-435D-820D-3768810984E8}"/>
              </a:ext>
            </a:extLst>
          </p:cNvPr>
          <p:cNvSpPr txBox="1"/>
          <p:nvPr/>
        </p:nvSpPr>
        <p:spPr>
          <a:xfrm>
            <a:off x="1290501" y="3125071"/>
            <a:ext cx="7697117" cy="31482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C00000"/>
                </a:solidFill>
                <a:uFillTx/>
                <a:latin typeface="Calibri"/>
                <a:ea typeface="Calibri Light"/>
                <a:cs typeface="Calibri Light"/>
              </a:rPr>
              <a:t>IT undergraduates</a:t>
            </a:r>
            <a:r>
              <a:rPr lang="en-US" sz="2800" b="1" i="0" u="none" strike="noStrike" kern="1200" cap="none" spc="0" baseline="0">
                <a:solidFill>
                  <a:srgbClr val="00B0F0"/>
                </a:solidFill>
                <a:uFillTx/>
                <a:latin typeface="Calibri"/>
                <a:ea typeface="Calibri Light"/>
                <a:cs typeface="Calibri Light"/>
              </a:rPr>
              <a:t> 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 Light"/>
                <a:cs typeface="Calibri Light"/>
              </a:rPr>
              <a:t>preparing better for future careers</a:t>
            </a:r>
          </a:p>
          <a:p>
            <a:pPr marL="457200" marR="0" lvl="0" indent="-457200" algn="l" defTabSz="914400" rtl="0" fontAlgn="auto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 Light" pitchFamily="34"/>
                <a:cs typeface="Calibri Light" pitchFamily="34"/>
              </a:rPr>
              <a:t>Recruiters and employers selecting suitable candidates</a:t>
            </a:r>
          </a:p>
          <a:p>
            <a:pPr marL="457200" marR="0" lvl="0" indent="-457200" algn="l" defTabSz="914400" rtl="0" fontAlgn="auto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 Light" pitchFamily="34"/>
                <a:cs typeface="Calibri Light" pitchFamily="34"/>
              </a:rPr>
              <a:t>Universities and career counselors guiding students effectively</a:t>
            </a:r>
          </a:p>
          <a:p>
            <a:pPr marL="457200" marR="0" lvl="0" indent="-457200" algn="l" defTabSz="914400" rtl="0" fontAlgn="auto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 Light" pitchFamily="34"/>
                <a:cs typeface="Calibri Light" pitchFamily="34"/>
              </a:rPr>
              <a:t>Reducing skill mismatch in the IT industry</a:t>
            </a:r>
          </a:p>
          <a:p>
            <a:pPr marL="457200" marR="0" lvl="0" indent="-457200" algn="l" defTabSz="914400" rtl="0" fontAlgn="auto" hangingPunct="1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 Light" pitchFamily="34"/>
                <a:cs typeface="Calibri Light" pitchFamily="34"/>
              </a:rPr>
              <a:t>Improving graduate employability and career readiness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F0769CA-6BF5-4F71-BC76-31D139DEE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690" y="2600306"/>
            <a:ext cx="4199564" cy="419956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E1BD0CBD-44A9-4E9D-AE1C-DF5B8F03338C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3ADA6E1-9EF6-4359-A6E7-D875F96A8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93" y="1191408"/>
            <a:ext cx="11069013" cy="6178052"/>
          </a:xfrm>
          <a:prstGeom prst="rect">
            <a:avLst/>
          </a:prstGeom>
          <a:noFill/>
          <a:ln w="19046" cap="flat">
            <a:solidFill>
              <a:srgbClr val="F0E9E6"/>
            </a:solidFill>
            <a:prstDash val="solid"/>
            <a:miter/>
          </a:ln>
        </p:spPr>
      </p:pic>
      <p:grpSp>
        <p:nvGrpSpPr>
          <p:cNvPr id="4" name="Group 23">
            <a:extLst>
              <a:ext uri="{FF2B5EF4-FFF2-40B4-BE49-F238E27FC236}">
                <a16:creationId xmlns:a16="http://schemas.microsoft.com/office/drawing/2014/main" id="{A0A02EC9-C29C-457B-9615-7F167D3F2511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5" name="Rectangle 24">
              <a:extLst>
                <a:ext uri="{FF2B5EF4-FFF2-40B4-BE49-F238E27FC236}">
                  <a16:creationId xmlns:a16="http://schemas.microsoft.com/office/drawing/2014/main" id="{6AF24CFA-1CC7-48C6-8C00-7A392E86465A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9C4A30BD-0402-4FD2-9B69-A13A6B4E7C2F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7" name="Picture 26">
              <a:extLst>
                <a:ext uri="{FF2B5EF4-FFF2-40B4-BE49-F238E27FC236}">
                  <a16:creationId xmlns:a16="http://schemas.microsoft.com/office/drawing/2014/main" id="{05D68B29-7D43-484A-A251-011153BF7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4DAC245E-64FE-4802-BA74-4F433B7F778A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TextBox 4">
            <a:extLst>
              <a:ext uri="{FF2B5EF4-FFF2-40B4-BE49-F238E27FC236}">
                <a16:creationId xmlns:a16="http://schemas.microsoft.com/office/drawing/2014/main" id="{803C5AB5-25C4-4005-8BB1-6086EAAD6FE1}"/>
              </a:ext>
            </a:extLst>
          </p:cNvPr>
          <p:cNvSpPr txBox="1"/>
          <p:nvPr/>
        </p:nvSpPr>
        <p:spPr>
          <a:xfrm>
            <a:off x="3930264" y="488682"/>
            <a:ext cx="6769870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0F1E5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High-Level System Architecture</a:t>
            </a:r>
            <a:endParaRPr lang="en-US" sz="4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A logo with blue squares&#10;&#10;AI-generated content may be incorrect.">
            <a:extLst>
              <a:ext uri="{FF2B5EF4-FFF2-40B4-BE49-F238E27FC236}">
                <a16:creationId xmlns:a16="http://schemas.microsoft.com/office/drawing/2014/main" id="{AF789CF9-35F7-4947-A955-F302FD8A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68" y="5655938"/>
            <a:ext cx="1880079" cy="185502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D917517D-9072-48D1-AF68-7FC2F456D2CB}"/>
              </a:ext>
            </a:extLst>
          </p:cNvPr>
          <p:cNvSpPr/>
          <p:nvPr/>
        </p:nvSpPr>
        <p:spPr>
          <a:xfrm>
            <a:off x="12511671" y="7649733"/>
            <a:ext cx="2118728" cy="579866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5214ABD1-66E8-4477-A8A4-C4AE5D317AFB}"/>
              </a:ext>
            </a:extLst>
          </p:cNvPr>
          <p:cNvGrpSpPr/>
          <p:nvPr/>
        </p:nvGrpSpPr>
        <p:grpSpPr>
          <a:xfrm>
            <a:off x="0" y="7563962"/>
            <a:ext cx="14633225" cy="579866"/>
            <a:chOff x="0" y="7563962"/>
            <a:chExt cx="14633225" cy="579866"/>
          </a:xfrm>
        </p:grpSpPr>
        <p:sp>
          <p:nvSpPr>
            <p:cNvPr id="5" name="Rectangle 24">
              <a:extLst>
                <a:ext uri="{FF2B5EF4-FFF2-40B4-BE49-F238E27FC236}">
                  <a16:creationId xmlns:a16="http://schemas.microsoft.com/office/drawing/2014/main" id="{31B5EE5D-DB7F-4FA4-BCE8-F8C06C203DB6}"/>
                </a:ext>
              </a:extLst>
            </p:cNvPr>
            <p:cNvSpPr/>
            <p:nvPr/>
          </p:nvSpPr>
          <p:spPr>
            <a:xfrm>
              <a:off x="12511671" y="7563962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8CDED95F-BC67-4075-BB8F-87464B8F1F1E}"/>
                </a:ext>
              </a:extLst>
            </p:cNvPr>
            <p:cNvSpPr/>
            <p:nvPr/>
          </p:nvSpPr>
          <p:spPr>
            <a:xfrm>
              <a:off x="0" y="760908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Times New Roman"/>
                  <a:ea typeface="Calibri"/>
                  <a:cs typeface="Times New Roman"/>
                </a:rPr>
                <a:t>R26-IT-128</a:t>
              </a: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pic>
          <p:nvPicPr>
            <p:cNvPr id="7" name="Picture 26">
              <a:extLst>
                <a:ext uri="{FF2B5EF4-FFF2-40B4-BE49-F238E27FC236}">
                  <a16:creationId xmlns:a16="http://schemas.microsoft.com/office/drawing/2014/main" id="{B636DE8D-0289-4190-9718-E0E65A7C9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762143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27">
              <a:extLst>
                <a:ext uri="{FF2B5EF4-FFF2-40B4-BE49-F238E27FC236}">
                  <a16:creationId xmlns:a16="http://schemas.microsoft.com/office/drawing/2014/main" id="{37C1DC7C-1626-48F6-B2D1-51ED6937E9E0}"/>
                </a:ext>
              </a:extLst>
            </p:cNvPr>
            <p:cNvSpPr/>
            <p:nvPr/>
          </p:nvSpPr>
          <p:spPr>
            <a:xfrm>
              <a:off x="12912754" y="760908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9" name="Rectangle: Rounded Corners 2">
            <a:extLst>
              <a:ext uri="{FF2B5EF4-FFF2-40B4-BE49-F238E27FC236}">
                <a16:creationId xmlns:a16="http://schemas.microsoft.com/office/drawing/2014/main" id="{01BFDC10-3F85-4B26-AEEE-DA551050AD9C}"/>
              </a:ext>
            </a:extLst>
          </p:cNvPr>
          <p:cNvSpPr/>
          <p:nvPr/>
        </p:nvSpPr>
        <p:spPr>
          <a:xfrm>
            <a:off x="8135179" y="1854622"/>
            <a:ext cx="5425327" cy="4985299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 Forecasts which skills will be in demand up to 3 months ahead.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Trained on local Sri Lankan job market data.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Reads CVs in context to accurately identify skills. Validates claimed skills against real code on GitHub.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Detects emotions during mock interviews and gives feedback.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All features combined in one platform for students.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1AF92C92-F63E-4211-BADD-55F5AF728CA9}"/>
              </a:ext>
            </a:extLst>
          </p:cNvPr>
          <p:cNvSpPr/>
          <p:nvPr/>
        </p:nvSpPr>
        <p:spPr>
          <a:xfrm>
            <a:off x="2038883" y="1854622"/>
            <a:ext cx="5287536" cy="4985482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Only show current skill demand - no forecasting.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Built for global markets, not Sri Lanka.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CV tools match keywords only - no context.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No verification of actual coding ability.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Interview tools give no emotion feedback.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•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</a:rPr>
              <a:t>Features exist as separate, unconnected tools.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Calibri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1F4483A5-E51E-4DD7-B605-930B0C9A73A8}"/>
              </a:ext>
            </a:extLst>
          </p:cNvPr>
          <p:cNvSpPr txBox="1"/>
          <p:nvPr/>
        </p:nvSpPr>
        <p:spPr>
          <a:xfrm>
            <a:off x="5164430" y="392807"/>
            <a:ext cx="4301547" cy="9977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44546A"/>
                </a:solidFill>
                <a:uFillTx/>
                <a:latin typeface="Cambria"/>
              </a:rPr>
              <a:t>Literature review</a:t>
            </a:r>
            <a:endParaRPr lang="en-US" sz="4000" b="1" i="0" u="none" strike="noStrike" kern="1200" cap="none" spc="0" baseline="0">
              <a:solidFill>
                <a:srgbClr val="44546A"/>
              </a:solidFill>
              <a:uFillTx/>
              <a:latin typeface="Cambria"/>
              <a:ea typeface="Cambria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76CF430B-2230-48DE-B951-055EF3B25E93}"/>
              </a:ext>
            </a:extLst>
          </p:cNvPr>
          <p:cNvSpPr txBox="1"/>
          <p:nvPr/>
        </p:nvSpPr>
        <p:spPr>
          <a:xfrm>
            <a:off x="3078053" y="1384474"/>
            <a:ext cx="3052294" cy="800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44546A"/>
                </a:solidFill>
                <a:uFillTx/>
                <a:latin typeface="Cambria"/>
                <a:ea typeface="Cambria"/>
              </a:rPr>
              <a:t>Existing Systems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68F4954-F11E-405A-8790-6157FF251287}"/>
              </a:ext>
            </a:extLst>
          </p:cNvPr>
          <p:cNvSpPr txBox="1"/>
          <p:nvPr/>
        </p:nvSpPr>
        <p:spPr>
          <a:xfrm>
            <a:off x="9453094" y="1384474"/>
            <a:ext cx="3052294" cy="800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44546A"/>
                </a:solidFill>
                <a:uFillTx/>
                <a:latin typeface="Cambria"/>
                <a:ea typeface="Cambria"/>
              </a:rPr>
              <a:t>Pathway IQ</a:t>
            </a:r>
            <a:endParaRPr lang="en-US" sz="1800" b="0" i="0" u="none" strike="noStrike" kern="1200" cap="none" spc="0" baseline="0">
              <a:solidFill>
                <a:srgbClr val="44546A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4" name="Picture 7" descr="A blue square with white letters&#10;&#10;AI-generated content may be incorrect.">
            <a:extLst>
              <a:ext uri="{FF2B5EF4-FFF2-40B4-BE49-F238E27FC236}">
                <a16:creationId xmlns:a16="http://schemas.microsoft.com/office/drawing/2014/main" id="{9E64323C-E7BE-4DED-95C9-7B0030E25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6476256"/>
            <a:ext cx="815370" cy="82789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10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7DF1F4F3-5D75-4797-B269-0C3B3C9B8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76613" y="696708"/>
            <a:ext cx="1239514" cy="116085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2204E4-7836-4BF3-B218-625D60588B84}"/>
              </a:ext>
            </a:extLst>
          </p:cNvPr>
          <p:cNvSpPr/>
          <p:nvPr/>
        </p:nvSpPr>
        <p:spPr>
          <a:xfrm>
            <a:off x="934461" y="1651753"/>
            <a:ext cx="10499954" cy="9253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Hybrid Proficiency Validation Framework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11A5E3-9447-4F99-9F9A-35FF067E1AE0}"/>
              </a:ext>
            </a:extLst>
          </p:cNvPr>
          <p:cNvSpPr/>
          <p:nvPr/>
        </p:nvSpPr>
        <p:spPr>
          <a:xfrm>
            <a:off x="2547518" y="3229852"/>
            <a:ext cx="10045196" cy="5900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2C2926"/>
                </a:solidFill>
                <a:uFillTx/>
                <a:latin typeface="Calibri"/>
                <a:ea typeface="Inter" pitchFamily="34"/>
                <a:cs typeface="Inter" pitchFamily="34"/>
              </a:rPr>
              <a:t>IT22091802 | PRASADI R.D.S</a:t>
            </a:r>
            <a:endParaRPr lang="en-US" sz="40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99D05709-0E84-4EF6-931B-4E1D125E6764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C049C4A8-7CCA-4958-AC00-815F7AA6E540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F82E7749-2D4B-4585-9632-BD752F267D41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IT22091802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 pitchFamily="34"/>
                  <a:cs typeface="Inter" pitchFamily="34"/>
                </a:rPr>
                <a:t>PRASADI R.D.S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564D19C3-6352-4D51-A1E6-73E6C0DFE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2AAC9C2C-A064-4A0B-ACA9-58E1E01A47B2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4E97525E-E69E-45D8-950F-07A8F7F34C36}"/>
              </a:ext>
            </a:extLst>
          </p:cNvPr>
          <p:cNvGrpSpPr/>
          <p:nvPr/>
        </p:nvGrpSpPr>
        <p:grpSpPr>
          <a:xfrm>
            <a:off x="12501274" y="3269208"/>
            <a:ext cx="822960" cy="182880"/>
            <a:chOff x="12501274" y="3269208"/>
            <a:chExt cx="822960" cy="182880"/>
          </a:xfrm>
        </p:grpSpPr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19782AA9-AB83-411A-8DCA-1840D08843E9}"/>
                </a:ext>
              </a:extLst>
            </p:cNvPr>
            <p:cNvSpPr/>
            <p:nvPr/>
          </p:nvSpPr>
          <p:spPr>
            <a:xfrm>
              <a:off x="1250127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EB437229-8087-47B7-92F5-10B66D2B3145}"/>
                </a:ext>
              </a:extLst>
            </p:cNvPr>
            <p:cNvSpPr/>
            <p:nvPr/>
          </p:nvSpPr>
          <p:spPr>
            <a:xfrm>
              <a:off x="1282131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5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07A272D0-91D1-4672-A8BE-BA2488EF9016}"/>
                </a:ext>
              </a:extLst>
            </p:cNvPr>
            <p:cNvSpPr/>
            <p:nvPr/>
          </p:nvSpPr>
          <p:spPr>
            <a:xfrm>
              <a:off x="1314135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25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3" name="Rectangle 16">
            <a:extLst>
              <a:ext uri="{FF2B5EF4-FFF2-40B4-BE49-F238E27FC236}">
                <a16:creationId xmlns:a16="http://schemas.microsoft.com/office/drawing/2014/main" id="{EC38415A-B8D1-4763-9A52-07977E4A3C28}"/>
              </a:ext>
            </a:extLst>
          </p:cNvPr>
          <p:cNvSpPr/>
          <p:nvPr/>
        </p:nvSpPr>
        <p:spPr>
          <a:xfrm>
            <a:off x="11244422" y="30641"/>
            <a:ext cx="3336654" cy="3104195"/>
          </a:xfrm>
          <a:prstGeom prst="rect">
            <a:avLst/>
          </a:prstGeom>
          <a:solidFill>
            <a:srgbClr val="4472C4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7E6A6BD-00EB-4366-B225-203A545A7645}"/>
              </a:ext>
            </a:extLst>
          </p:cNvPr>
          <p:cNvSpPr/>
          <p:nvPr/>
        </p:nvSpPr>
        <p:spPr>
          <a:xfrm>
            <a:off x="600139" y="2613300"/>
            <a:ext cx="10369506" cy="117701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9CDF3C-686C-42C2-AADD-5C1593F28764}"/>
              </a:ext>
            </a:extLst>
          </p:cNvPr>
          <p:cNvSpPr txBox="1"/>
          <p:nvPr/>
        </p:nvSpPr>
        <p:spPr>
          <a:xfrm>
            <a:off x="934461" y="4782741"/>
            <a:ext cx="11856220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Specialization: Information and Communication Technology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131804-1708-49A7-B009-09F32B64F4B7}"/>
              </a:ext>
            </a:extLst>
          </p:cNvPr>
          <p:cNvSpPr/>
          <p:nvPr/>
        </p:nvSpPr>
        <p:spPr>
          <a:xfrm>
            <a:off x="2528014" y="484567"/>
            <a:ext cx="9574371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Hybrid Proficiency Validation Framework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42AD37D1-2820-44D7-840D-76B9E1755E63}"/>
              </a:ext>
            </a:extLst>
          </p:cNvPr>
          <p:cNvGrpSpPr/>
          <p:nvPr/>
        </p:nvGrpSpPr>
        <p:grpSpPr>
          <a:xfrm>
            <a:off x="0" y="7649733"/>
            <a:ext cx="14633225" cy="841055"/>
            <a:chOff x="0" y="7649733"/>
            <a:chExt cx="14633225" cy="841055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8AF03A38-C25B-4AA1-87FA-693437F82D7F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ACE6BD19-018C-4603-8484-3AB0BBFF703C}"/>
                </a:ext>
              </a:extLst>
            </p:cNvPr>
            <p:cNvSpPr/>
            <p:nvPr/>
          </p:nvSpPr>
          <p:spPr>
            <a:xfrm>
              <a:off x="0" y="7968401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IT22091802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 pitchFamily="34"/>
                  <a:cs typeface="Inter" pitchFamily="34"/>
                </a:rPr>
                <a:t>PRASADI R.D.S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3C37F46E-F4F2-43AB-AA3E-1D7F5CA32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7B18AEAF-E760-48F2-B921-8D5F054818AF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65991ED1-0103-45A0-B2C4-0B1F5B0BAD10}"/>
              </a:ext>
            </a:extLst>
          </p:cNvPr>
          <p:cNvSpPr/>
          <p:nvPr/>
        </p:nvSpPr>
        <p:spPr>
          <a:xfrm>
            <a:off x="611925" y="2056851"/>
            <a:ext cx="6368018" cy="4807156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AE3F3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How the solution will address the Sub-Problem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Graduates list skills on CVs with no proof of ability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extracts skills from the CV and verifies them against real GitHub code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Produces a verified evidence-based skill profile</a:t>
            </a: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14">
            <a:extLst>
              <a:ext uri="{FF2B5EF4-FFF2-40B4-BE49-F238E27FC236}">
                <a16:creationId xmlns:a16="http://schemas.microsoft.com/office/drawing/2014/main" id="{E156B394-AD0C-48CE-8132-6A2D31407578}"/>
              </a:ext>
            </a:extLst>
          </p:cNvPr>
          <p:cNvSpPr/>
          <p:nvPr/>
        </p:nvSpPr>
        <p:spPr>
          <a:xfrm>
            <a:off x="7648160" y="2056851"/>
            <a:ext cx="6368018" cy="4807156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AE3F3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 Requirements Addressed by the solution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Upload CV and get instant skill extraction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Each skill rated as Beginner, Intermediate, or Expert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Gap report shows what to improve before applying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A0D3E8A-9E21-423D-96B5-8D99FA038109}"/>
              </a:ext>
            </a:extLst>
          </p:cNvPr>
          <p:cNvSpPr txBox="1"/>
          <p:nvPr/>
        </p:nvSpPr>
        <p:spPr>
          <a:xfrm>
            <a:off x="2344613" y="334012"/>
            <a:ext cx="10163903" cy="7798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Hybrid Proficiency Validation Framework</a:t>
            </a:r>
          </a:p>
        </p:txBody>
      </p:sp>
      <p:sp>
        <p:nvSpPr>
          <p:cNvPr id="3" name="Rectangle: Rounded Corners 3">
            <a:extLst>
              <a:ext uri="{FF2B5EF4-FFF2-40B4-BE49-F238E27FC236}">
                <a16:creationId xmlns:a16="http://schemas.microsoft.com/office/drawing/2014/main" id="{288F2936-96B6-47B0-A70F-0B2C9E36D93A}"/>
              </a:ext>
            </a:extLst>
          </p:cNvPr>
          <p:cNvSpPr/>
          <p:nvPr/>
        </p:nvSpPr>
        <p:spPr>
          <a:xfrm>
            <a:off x="611925" y="2056851"/>
            <a:ext cx="6368018" cy="4807156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8CBAD"/>
          </a:solidFill>
          <a:ln w="57150" cap="flat">
            <a:solidFill>
              <a:srgbClr val="843C0C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Design Excellence / Contribution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Goes beyond keyword matching and understands technical context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Proficiency is evidence-based, not self-reported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Reduces hiring mismatch by validating what students actually know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A32CDDB5-DD6B-4ACD-B1B9-2C1AA691AA1E}"/>
              </a:ext>
            </a:extLst>
          </p:cNvPr>
          <p:cNvSpPr/>
          <p:nvPr/>
        </p:nvSpPr>
        <p:spPr>
          <a:xfrm>
            <a:off x="7322688" y="2056851"/>
            <a:ext cx="6368018" cy="4807156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F8CBAD"/>
          </a:solidFill>
          <a:ln w="57150" cap="flat">
            <a:solidFill>
              <a:srgbClr val="843C0C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 Feedback on Prototype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Skill gap report was clear and actionable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Users liked seeing which GitHub project proved each skill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Most valued feature: evidence-based proficiency scoring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AED63C2F-B1CC-4167-9AEE-05332B0C18B6}"/>
              </a:ext>
            </a:extLst>
          </p:cNvPr>
          <p:cNvGrpSpPr/>
          <p:nvPr/>
        </p:nvGrpSpPr>
        <p:grpSpPr>
          <a:xfrm>
            <a:off x="0" y="7662260"/>
            <a:ext cx="14633225" cy="841055"/>
            <a:chOff x="0" y="7662260"/>
            <a:chExt cx="14633225" cy="841055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498FDA6-E94D-4686-B095-16C9A75C1609}"/>
                </a:ext>
              </a:extLst>
            </p:cNvPr>
            <p:cNvSpPr/>
            <p:nvPr/>
          </p:nvSpPr>
          <p:spPr>
            <a:xfrm>
              <a:off x="12511671" y="7662260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65EB2184-1248-46FF-AD82-9186E57AB231}"/>
                </a:ext>
              </a:extLst>
            </p:cNvPr>
            <p:cNvSpPr/>
            <p:nvPr/>
          </p:nvSpPr>
          <p:spPr>
            <a:xfrm>
              <a:off x="0" y="7980928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IT22091802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 pitchFamily="34"/>
                  <a:cs typeface="Inter" pitchFamily="34"/>
                </a:rPr>
                <a:t>PRASADI R.D.S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237A8F9-BAB6-4231-A95A-504610F7A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19730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E442D3-6D0D-405E-8454-72408CB48E27}"/>
                </a:ext>
              </a:extLst>
            </p:cNvPr>
            <p:cNvSpPr/>
            <p:nvPr/>
          </p:nvSpPr>
          <p:spPr>
            <a:xfrm>
              <a:off x="12912754" y="7814745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49DEDB-9759-48A3-A1BD-BA8AF04A8BCF}"/>
              </a:ext>
            </a:extLst>
          </p:cNvPr>
          <p:cNvSpPr/>
          <p:nvPr/>
        </p:nvSpPr>
        <p:spPr>
          <a:xfrm>
            <a:off x="934461" y="1342668"/>
            <a:ext cx="10499954" cy="9253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2F5597"/>
                </a:solidFill>
                <a:highlight>
                  <a:srgbClr val="F5F5F5"/>
                </a:highlight>
                <a:uFillTx/>
                <a:latin typeface="Calibri"/>
              </a:rPr>
              <a:t>Semantic Skill Forecasting Engine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B75E3C-9370-4369-B64A-5B25B6FED6C8}"/>
              </a:ext>
            </a:extLst>
          </p:cNvPr>
          <p:cNvSpPr/>
          <p:nvPr/>
        </p:nvSpPr>
        <p:spPr>
          <a:xfrm>
            <a:off x="937653" y="3680615"/>
            <a:ext cx="9517157" cy="5900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2C2926"/>
                </a:solidFill>
                <a:uFillTx/>
                <a:latin typeface="Calibri"/>
                <a:ea typeface="Inter"/>
              </a:rPr>
              <a:t>IT22154408 RATHNAYAKE KDV</a:t>
            </a:r>
            <a:endParaRPr lang="en-US" sz="40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EB398605-A4D5-4C02-954B-4DB473F0C9C6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7C395873-5B89-4A9D-919F-B5C57449D132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81B0BD12-18C4-4DB8-B11D-2F35D8A949A5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</a:rPr>
                <a:t>IT22154408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| 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</a:rPr>
                <a:t>RATHNAYAKE KDV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/>
                </a:rPr>
                <a:t> 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| R26-IT-128 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52B534EE-104A-4454-86D6-37CE92F0B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572E2AB2-C5AC-483E-A5D7-D8AD1A5F94BD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6AA54418-EB37-40B6-BAD3-B42E662DADD2}"/>
              </a:ext>
            </a:extLst>
          </p:cNvPr>
          <p:cNvGrpSpPr/>
          <p:nvPr/>
        </p:nvGrpSpPr>
        <p:grpSpPr>
          <a:xfrm>
            <a:off x="12501274" y="3269208"/>
            <a:ext cx="822960" cy="182880"/>
            <a:chOff x="12501274" y="3269208"/>
            <a:chExt cx="822960" cy="182880"/>
          </a:xfrm>
        </p:grpSpPr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1BE3F8E0-44C3-4084-B6EF-5A3BB143AA8D}"/>
                </a:ext>
              </a:extLst>
            </p:cNvPr>
            <p:cNvSpPr/>
            <p:nvPr/>
          </p:nvSpPr>
          <p:spPr>
            <a:xfrm>
              <a:off x="1250127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7E31F26A-AB8B-470D-B57C-4D4751AFC6FF}"/>
                </a:ext>
              </a:extLst>
            </p:cNvPr>
            <p:cNvSpPr/>
            <p:nvPr/>
          </p:nvSpPr>
          <p:spPr>
            <a:xfrm>
              <a:off x="1282131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5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9E4DD955-02D3-4570-A823-4B3A9D4A251B}"/>
                </a:ext>
              </a:extLst>
            </p:cNvPr>
            <p:cNvSpPr/>
            <p:nvPr/>
          </p:nvSpPr>
          <p:spPr>
            <a:xfrm>
              <a:off x="1314135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25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3" name="Rectangle 16">
            <a:extLst>
              <a:ext uri="{FF2B5EF4-FFF2-40B4-BE49-F238E27FC236}">
                <a16:creationId xmlns:a16="http://schemas.microsoft.com/office/drawing/2014/main" id="{04C880C3-02FC-481E-8145-12036FE072F2}"/>
              </a:ext>
            </a:extLst>
          </p:cNvPr>
          <p:cNvSpPr/>
          <p:nvPr/>
        </p:nvSpPr>
        <p:spPr>
          <a:xfrm>
            <a:off x="11244422" y="30641"/>
            <a:ext cx="3336654" cy="3104195"/>
          </a:xfrm>
          <a:prstGeom prst="rect">
            <a:avLst/>
          </a:prstGeom>
          <a:solidFill>
            <a:srgbClr val="4472C4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9B5EA51-893D-465C-9FAE-8069C02E526D}"/>
              </a:ext>
            </a:extLst>
          </p:cNvPr>
          <p:cNvSpPr/>
          <p:nvPr/>
        </p:nvSpPr>
        <p:spPr>
          <a:xfrm>
            <a:off x="806199" y="2690576"/>
            <a:ext cx="10369506" cy="143451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0E5469-534E-4DBC-9F2D-BE84FA2AA5A8}"/>
              </a:ext>
            </a:extLst>
          </p:cNvPr>
          <p:cNvSpPr txBox="1"/>
          <p:nvPr/>
        </p:nvSpPr>
        <p:spPr>
          <a:xfrm>
            <a:off x="805677" y="4409255"/>
            <a:ext cx="11856220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Specialization: Information and Communication Technology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C070AE-59E3-414A-8669-52F86A2286BD}"/>
              </a:ext>
            </a:extLst>
          </p:cNvPr>
          <p:cNvSpPr/>
          <p:nvPr/>
        </p:nvSpPr>
        <p:spPr>
          <a:xfrm>
            <a:off x="934461" y="1342668"/>
            <a:ext cx="10499954" cy="9253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F632E47D-3BF8-4C93-A15C-787546804E41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4" name="Rectangle 10">
              <a:extLst>
                <a:ext uri="{FF2B5EF4-FFF2-40B4-BE49-F238E27FC236}">
                  <a16:creationId xmlns:a16="http://schemas.microsoft.com/office/drawing/2014/main" id="{1E50CE28-5FBC-43B2-B62A-41A0525533D0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F9ED5"/>
                </a:solidFill>
                <a:uFillTx/>
                <a:latin typeface="Aptos"/>
              </a:endParaRPr>
            </a:p>
          </p:txBody>
        </p:sp>
        <p:sp>
          <p:nvSpPr>
            <p:cNvPr id="5" name="Rectangle 11">
              <a:extLst>
                <a:ext uri="{FF2B5EF4-FFF2-40B4-BE49-F238E27FC236}">
                  <a16:creationId xmlns:a16="http://schemas.microsoft.com/office/drawing/2014/main" id="{BB3DA0D7-7022-4D84-A0FF-AF7D63262C59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  <a:ea typeface="Aptos"/>
                  <a:cs typeface="Aptos"/>
                </a:rPr>
                <a:t>IT22154408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| 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  <a:ea typeface="Aptos"/>
                  <a:cs typeface="Aptos"/>
                </a:rPr>
                <a:t>RATHNAYAKE KDV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Aptos"/>
                  <a:ea typeface="Inter"/>
                </a:rPr>
                <a:t> 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| R26-IT-128 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Calibri"/>
                <a:cs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6" name="Picture 12">
              <a:extLst>
                <a:ext uri="{FF2B5EF4-FFF2-40B4-BE49-F238E27FC236}">
                  <a16:creationId xmlns:a16="http://schemas.microsoft.com/office/drawing/2014/main" id="{520DBD25-5E8E-452B-B290-82D296BF8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13">
              <a:extLst>
                <a:ext uri="{FF2B5EF4-FFF2-40B4-BE49-F238E27FC236}">
                  <a16:creationId xmlns:a16="http://schemas.microsoft.com/office/drawing/2014/main" id="{806BCC7B-2448-467B-A723-932E735236C7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FBF2330-6CB3-45A5-A9AF-3D393DF23CAD}"/>
              </a:ext>
            </a:extLst>
          </p:cNvPr>
          <p:cNvSpPr txBox="1"/>
          <p:nvPr/>
        </p:nvSpPr>
        <p:spPr>
          <a:xfrm>
            <a:off x="1521854" y="2085920"/>
            <a:ext cx="5049261" cy="23698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Problem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Students face high uncertainty about which skills will be required by the time they graduate. Existing platforms only show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past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or </a:t>
            </a:r>
            <a:r>
              <a:rPr lang="en-US" sz="24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current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job postings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81195-8A93-4BD6-B145-0578DE3431F1}"/>
              </a:ext>
            </a:extLst>
          </p:cNvPr>
          <p:cNvSpPr txBox="1"/>
          <p:nvPr/>
        </p:nvSpPr>
        <p:spPr>
          <a:xfrm>
            <a:off x="8667807" y="1954520"/>
            <a:ext cx="4505331" cy="273921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Solution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Our prototype predicts the future. It uses AI to generate a 3 month proactive demand forecast, showing students exactly where the market is heading. 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38F75297-D303-49CD-B79E-6257D48D3BB3}"/>
              </a:ext>
            </a:extLst>
          </p:cNvPr>
          <p:cNvSpPr/>
          <p:nvPr/>
        </p:nvSpPr>
        <p:spPr>
          <a:xfrm>
            <a:off x="0" y="-53519"/>
            <a:ext cx="14630400" cy="925381"/>
          </a:xfrm>
          <a:prstGeom prst="rect">
            <a:avLst/>
          </a:prstGeom>
          <a:solidFill>
            <a:srgbClr val="0B3041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3C70D84B-3D89-48A3-9178-3E8756F99D8E}"/>
              </a:ext>
            </a:extLst>
          </p:cNvPr>
          <p:cNvSpPr txBox="1"/>
          <p:nvPr/>
        </p:nvSpPr>
        <p:spPr>
          <a:xfrm>
            <a:off x="3144923" y="1090028"/>
            <a:ext cx="834055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104862"/>
                </a:solidFill>
                <a:uFillTx/>
                <a:latin typeface="Aptos"/>
              </a:rPr>
              <a:t>How the Solution Addresses the Prototype</a:t>
            </a:r>
            <a:endParaRPr lang="en-US" sz="3600" b="0" i="0" u="none" strike="noStrike" kern="1200" cap="none" spc="0" baseline="0">
              <a:solidFill>
                <a:srgbClr val="104862"/>
              </a:solidFill>
              <a:uFillTx/>
              <a:latin typeface="Aptos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C3E51C32-82B1-47B1-82B9-604F9EC18DF8}"/>
              </a:ext>
            </a:extLst>
          </p:cNvPr>
          <p:cNvSpPr txBox="1"/>
          <p:nvPr/>
        </p:nvSpPr>
        <p:spPr>
          <a:xfrm>
            <a:off x="3546893" y="134645"/>
            <a:ext cx="7218703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Semantic Skill Forecasting Engine</a:t>
            </a: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F90690CD-7538-44EC-8D0F-78BEAFBA0D65}"/>
              </a:ext>
            </a:extLst>
          </p:cNvPr>
          <p:cNvSpPr txBox="1"/>
          <p:nvPr/>
        </p:nvSpPr>
        <p:spPr>
          <a:xfrm>
            <a:off x="1521854" y="5216112"/>
            <a:ext cx="10045698" cy="21587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156082"/>
                </a:solidFill>
                <a:uFillTx/>
                <a:latin typeface="Aptos"/>
              </a:rPr>
              <a:t>User Requirements Addressed by the Solution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Automated Sourcing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Dark Data Extraction</a:t>
            </a:r>
          </a:p>
          <a:p>
            <a:pPr marL="342900" marR="0" lvl="0" indent="-3429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Smart Grouping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Rectangle: Rounded Corners 27">
            <a:extLst>
              <a:ext uri="{FF2B5EF4-FFF2-40B4-BE49-F238E27FC236}">
                <a16:creationId xmlns:a16="http://schemas.microsoft.com/office/drawing/2014/main" id="{46484EB3-FA83-4103-9AEB-9C8F09C1748D}"/>
              </a:ext>
            </a:extLst>
          </p:cNvPr>
          <p:cNvSpPr/>
          <p:nvPr/>
        </p:nvSpPr>
        <p:spPr>
          <a:xfrm>
            <a:off x="1521854" y="2031778"/>
            <a:ext cx="5301115" cy="261740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Rectangle: Rounded Corners 28">
            <a:extLst>
              <a:ext uri="{FF2B5EF4-FFF2-40B4-BE49-F238E27FC236}">
                <a16:creationId xmlns:a16="http://schemas.microsoft.com/office/drawing/2014/main" id="{9A0EF314-09DE-4CAF-8F98-DB12ACC59698}"/>
              </a:ext>
            </a:extLst>
          </p:cNvPr>
          <p:cNvSpPr/>
          <p:nvPr/>
        </p:nvSpPr>
        <p:spPr>
          <a:xfrm>
            <a:off x="8269915" y="1967432"/>
            <a:ext cx="5301115" cy="268174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6" name="Arrow: Right 29">
            <a:extLst>
              <a:ext uri="{FF2B5EF4-FFF2-40B4-BE49-F238E27FC236}">
                <a16:creationId xmlns:a16="http://schemas.microsoft.com/office/drawing/2014/main" id="{97509719-443E-4866-B457-FCEDAF072400}"/>
              </a:ext>
            </a:extLst>
          </p:cNvPr>
          <p:cNvSpPr/>
          <p:nvPr/>
        </p:nvSpPr>
        <p:spPr>
          <a:xfrm>
            <a:off x="7048496" y="3003310"/>
            <a:ext cx="969565" cy="622304"/>
          </a:xfrm>
          <a:custGeom>
            <a:avLst>
              <a:gd name="f0" fmla="val 14668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C00000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C00000"/>
              </a:solidFill>
              <a:uFillTx/>
              <a:latin typeface="Aptos"/>
            </a:endParaRPr>
          </a:p>
        </p:txBody>
      </p:sp>
      <p:pic>
        <p:nvPicPr>
          <p:cNvPr id="17" name="Picture 33">
            <a:extLst>
              <a:ext uri="{FF2B5EF4-FFF2-40B4-BE49-F238E27FC236}">
                <a16:creationId xmlns:a16="http://schemas.microsoft.com/office/drawing/2014/main" id="{A1C7A8B3-BDEC-444E-8290-F2EA247510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21" t="28165" r="12166" b="8587"/>
          <a:stretch>
            <a:fillRect/>
          </a:stretch>
        </p:blipFill>
        <p:spPr>
          <a:xfrm>
            <a:off x="9778995" y="4839205"/>
            <a:ext cx="3620502" cy="309518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4C5BDB79-0FDF-4D97-BBC1-08343EFC0C06}"/>
              </a:ext>
            </a:extLst>
          </p:cNvPr>
          <p:cNvSpPr/>
          <p:nvPr/>
        </p:nvSpPr>
        <p:spPr>
          <a:xfrm>
            <a:off x="7758290" y="2077196"/>
            <a:ext cx="5828458" cy="1836782"/>
          </a:xfrm>
          <a:prstGeom prst="rect">
            <a:avLst/>
          </a:prstGeom>
          <a:solidFill>
            <a:srgbClr val="C1E5F5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8A759A4-4A8C-473B-93EB-5130EE1EE748}"/>
              </a:ext>
            </a:extLst>
          </p:cNvPr>
          <p:cNvSpPr/>
          <p:nvPr/>
        </p:nvSpPr>
        <p:spPr>
          <a:xfrm>
            <a:off x="934461" y="1342668"/>
            <a:ext cx="10499954" cy="9253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BE94695F-8735-4A66-9CC1-86633058D00C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E6C11CD2-64E3-4F15-9D79-E31EC19447F7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F9ED5"/>
                </a:solidFill>
                <a:uFillTx/>
                <a:latin typeface="Aptos"/>
              </a:endParaRP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A935D5F3-663D-4A1F-AD89-EBF8147FD822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  <a:ea typeface="Aptos"/>
                  <a:cs typeface="Aptos"/>
                </a:rPr>
                <a:t>IT22154408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| 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  <a:ea typeface="Aptos"/>
                  <a:cs typeface="Aptos"/>
                </a:rPr>
                <a:t>RATHNAYAKE KDV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Aptos"/>
                  <a:ea typeface="Inter"/>
                </a:rPr>
                <a:t> 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| R26-IT-128 </a:t>
              </a: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ea typeface="Calibri"/>
                <a:cs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74FAC4C3-867A-4B39-B953-D87E6AC6A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44963ED6-76FB-4BDE-ADFB-92886B362FB9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9" name="Rectangle 19">
            <a:extLst>
              <a:ext uri="{FF2B5EF4-FFF2-40B4-BE49-F238E27FC236}">
                <a16:creationId xmlns:a16="http://schemas.microsoft.com/office/drawing/2014/main" id="{BC630C19-CF56-485C-8E93-AC391DF05F95}"/>
              </a:ext>
            </a:extLst>
          </p:cNvPr>
          <p:cNvSpPr/>
          <p:nvPr/>
        </p:nvSpPr>
        <p:spPr>
          <a:xfrm>
            <a:off x="0" y="-53519"/>
            <a:ext cx="14630400" cy="925381"/>
          </a:xfrm>
          <a:prstGeom prst="rect">
            <a:avLst/>
          </a:prstGeom>
          <a:solidFill>
            <a:srgbClr val="0B3041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9C46356-CF4E-4B27-BC71-21FDD1817809}"/>
              </a:ext>
            </a:extLst>
          </p:cNvPr>
          <p:cNvSpPr txBox="1"/>
          <p:nvPr/>
        </p:nvSpPr>
        <p:spPr>
          <a:xfrm>
            <a:off x="3546893" y="134645"/>
            <a:ext cx="7218703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FFFFFF"/>
                </a:solidFill>
                <a:uFillTx/>
                <a:latin typeface="Aptos"/>
              </a:rPr>
              <a:t>Semantic Skill Forecasting Engine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BA8E4C33-96BC-4DA4-9B86-185F432573AE}"/>
              </a:ext>
            </a:extLst>
          </p:cNvPr>
          <p:cNvSpPr txBox="1"/>
          <p:nvPr/>
        </p:nvSpPr>
        <p:spPr>
          <a:xfrm>
            <a:off x="4400970" y="1192020"/>
            <a:ext cx="5828458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156082"/>
                </a:solidFill>
                <a:uFillTx/>
                <a:latin typeface="Aptos"/>
              </a:rPr>
              <a:t>Design Excellence &amp; Contribution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C6DB3E96-76DB-48DD-951A-92DB93FB7F58}"/>
              </a:ext>
            </a:extLst>
          </p:cNvPr>
          <p:cNvSpPr txBox="1"/>
          <p:nvPr/>
        </p:nvSpPr>
        <p:spPr>
          <a:xfrm>
            <a:off x="770939" y="2078998"/>
            <a:ext cx="5828458" cy="20005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Early Warning Radar: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This is the core innovation. The system mathematically tracks global tech trends and calculates the exact time delay before they reach. 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95FA2693-FF74-4DAF-BD50-86938A467E69}"/>
              </a:ext>
            </a:extLst>
          </p:cNvPr>
          <p:cNvSpPr txBox="1"/>
          <p:nvPr/>
        </p:nvSpPr>
        <p:spPr>
          <a:xfrm>
            <a:off x="7758290" y="2077196"/>
            <a:ext cx="6014621" cy="16927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Benefit:</a:t>
            </a: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This alerts local undergraduates to start learning emerging global skills </a:t>
            </a:r>
            <a:r>
              <a:rPr lang="en-US" sz="2800" b="1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before</a:t>
            </a: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they become standard requirements in the market. 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CB33396A-D7EF-40F8-98F7-3D245BB9FABE}"/>
              </a:ext>
            </a:extLst>
          </p:cNvPr>
          <p:cNvSpPr txBox="1"/>
          <p:nvPr/>
        </p:nvSpPr>
        <p:spPr>
          <a:xfrm>
            <a:off x="770939" y="5049664"/>
            <a:ext cx="9149925" cy="22467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156082"/>
                </a:solidFill>
                <a:uFillTx/>
                <a:latin typeface="Aptos"/>
              </a:rPr>
              <a:t>User Feedback on Prototype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156082"/>
              </a:solidFill>
              <a:uFillTx/>
              <a:latin typeface="Aptos"/>
            </a:endParaRP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Usability Testing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Behavioral Impact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Problem Validation</a:t>
            </a:r>
          </a:p>
        </p:txBody>
      </p:sp>
      <p:pic>
        <p:nvPicPr>
          <p:cNvPr id="15" name="Picture 18">
            <a:extLst>
              <a:ext uri="{FF2B5EF4-FFF2-40B4-BE49-F238E27FC236}">
                <a16:creationId xmlns:a16="http://schemas.microsoft.com/office/drawing/2014/main" id="{86F76AED-890E-42D5-932A-1FC6CC6F7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517" y="4596844"/>
            <a:ext cx="4483102" cy="23630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FD37ABCB-65E0-4C83-A3D6-1E4568DCE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17" t="10387" r="1437" b="577"/>
          <a:stretch>
            <a:fillRect/>
          </a:stretch>
        </p:blipFill>
        <p:spPr>
          <a:xfrm>
            <a:off x="10020296" y="3966886"/>
            <a:ext cx="4610103" cy="362994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4F2F0C-77AA-4BAC-BA47-6DAC761DF865}"/>
              </a:ext>
            </a:extLst>
          </p:cNvPr>
          <p:cNvSpPr/>
          <p:nvPr/>
        </p:nvSpPr>
        <p:spPr>
          <a:xfrm>
            <a:off x="934461" y="1651753"/>
            <a:ext cx="10499954" cy="9253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  <a:ea typeface="Calibri"/>
                <a:cs typeface="Calibri"/>
              </a:rPr>
              <a:t>Career Pathway Predictor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8951CE-2214-40C6-BEBB-10CABC7DD60F}"/>
              </a:ext>
            </a:extLst>
          </p:cNvPr>
          <p:cNvSpPr/>
          <p:nvPr/>
        </p:nvSpPr>
        <p:spPr>
          <a:xfrm>
            <a:off x="928783" y="3353424"/>
            <a:ext cx="10045196" cy="5900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2C2926"/>
                </a:solidFill>
                <a:uFillTx/>
                <a:latin typeface="Calibri"/>
                <a:ea typeface="Inter"/>
                <a:cs typeface="Inter" pitchFamily="34"/>
              </a:rPr>
              <a:t>IT22153890 | ALPHONSO S. R. P. A. M. D. N.</a:t>
            </a:r>
            <a:endParaRPr lang="en-US" sz="4000" b="1" i="0" u="none" strike="noStrike" kern="1200" cap="none" spc="0" baseline="0">
              <a:solidFill>
                <a:srgbClr val="2C2926"/>
              </a:solidFill>
              <a:uFillTx/>
              <a:latin typeface="Calibri"/>
              <a:ea typeface="Inter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6E2AF08E-6BC3-40EE-90FC-631BD4F2ABCC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969434D5-7A71-4E59-AB5C-0D534B5F072E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B98E44EF-BAD7-4099-AF4E-FC09086C3CA7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IT22153890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/>
                </a:rPr>
                <a:t>ALPHONSO S. R. P. A. M. D. N. 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651470F6-71DF-4642-BBFB-58EA31975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79BB60E5-F9B0-4E98-A52C-F7CD51CBC922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AD46DDFD-5AA2-461F-87F4-F6AB17ED4191}"/>
              </a:ext>
            </a:extLst>
          </p:cNvPr>
          <p:cNvGrpSpPr/>
          <p:nvPr/>
        </p:nvGrpSpPr>
        <p:grpSpPr>
          <a:xfrm>
            <a:off x="12501274" y="3269208"/>
            <a:ext cx="822960" cy="182880"/>
            <a:chOff x="12501274" y="3269208"/>
            <a:chExt cx="822960" cy="182880"/>
          </a:xfrm>
        </p:grpSpPr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BFE984D5-AC6F-4640-8819-6BBC3490017B}"/>
                </a:ext>
              </a:extLst>
            </p:cNvPr>
            <p:cNvSpPr/>
            <p:nvPr/>
          </p:nvSpPr>
          <p:spPr>
            <a:xfrm>
              <a:off x="1250127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BDDE3F17-6EFE-4409-936A-20F41DC646DF}"/>
                </a:ext>
              </a:extLst>
            </p:cNvPr>
            <p:cNvSpPr/>
            <p:nvPr/>
          </p:nvSpPr>
          <p:spPr>
            <a:xfrm>
              <a:off x="1282131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5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6ACCD627-56A2-4F12-8011-BA8326A22F60}"/>
                </a:ext>
              </a:extLst>
            </p:cNvPr>
            <p:cNvSpPr/>
            <p:nvPr/>
          </p:nvSpPr>
          <p:spPr>
            <a:xfrm>
              <a:off x="1314135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25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3" name="Rectangle 16">
            <a:extLst>
              <a:ext uri="{FF2B5EF4-FFF2-40B4-BE49-F238E27FC236}">
                <a16:creationId xmlns:a16="http://schemas.microsoft.com/office/drawing/2014/main" id="{8BDEEA3E-ABB2-43CC-AE9D-3B9077B18B83}"/>
              </a:ext>
            </a:extLst>
          </p:cNvPr>
          <p:cNvSpPr/>
          <p:nvPr/>
        </p:nvSpPr>
        <p:spPr>
          <a:xfrm>
            <a:off x="11244422" y="30641"/>
            <a:ext cx="3336654" cy="3104195"/>
          </a:xfrm>
          <a:prstGeom prst="rect">
            <a:avLst/>
          </a:prstGeom>
          <a:solidFill>
            <a:srgbClr val="4472C4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837D05B-0C53-4950-B93E-33B3AE94A703}"/>
              </a:ext>
            </a:extLst>
          </p:cNvPr>
          <p:cNvSpPr/>
          <p:nvPr/>
        </p:nvSpPr>
        <p:spPr>
          <a:xfrm>
            <a:off x="600139" y="2613300"/>
            <a:ext cx="10369506" cy="117701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9A464-D337-43D7-B96E-92DB9EBE3DC4}"/>
              </a:ext>
            </a:extLst>
          </p:cNvPr>
          <p:cNvSpPr txBox="1"/>
          <p:nvPr/>
        </p:nvSpPr>
        <p:spPr>
          <a:xfrm>
            <a:off x="934461" y="4782741"/>
            <a:ext cx="11856220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Specialization: Information Technology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02C3BD-BD9D-4FD0-9439-8A1320712662}"/>
              </a:ext>
            </a:extLst>
          </p:cNvPr>
          <p:cNvSpPr/>
          <p:nvPr/>
        </p:nvSpPr>
        <p:spPr>
          <a:xfrm>
            <a:off x="2528014" y="484567"/>
            <a:ext cx="9574371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Career Pathway Predictor</a:t>
            </a:r>
            <a:endParaRPr lang="en-US" sz="4400" b="1" i="0" u="none" strike="noStrike" kern="1200" cap="none" spc="0" baseline="0">
              <a:solidFill>
                <a:srgbClr val="1F4E79"/>
              </a:solidFill>
              <a:uFillTx/>
              <a:latin typeface="Calibri"/>
              <a:ea typeface="Calibri"/>
              <a:cs typeface="Calibri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D1B27F64-D4BB-40F3-9F7E-31675578FB40}"/>
              </a:ext>
            </a:extLst>
          </p:cNvPr>
          <p:cNvGrpSpPr/>
          <p:nvPr/>
        </p:nvGrpSpPr>
        <p:grpSpPr>
          <a:xfrm>
            <a:off x="0" y="7649733"/>
            <a:ext cx="14633225" cy="841055"/>
            <a:chOff x="0" y="7649733"/>
            <a:chExt cx="14633225" cy="841055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538BBBF0-40FA-47D2-A066-DF0354E63F1B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FA17DA83-9ED5-49A5-A324-549501B554EB}"/>
                </a:ext>
              </a:extLst>
            </p:cNvPr>
            <p:cNvSpPr/>
            <p:nvPr/>
          </p:nvSpPr>
          <p:spPr>
            <a:xfrm>
              <a:off x="0" y="7968401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IT22153890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Calibri"/>
                  <a:cs typeface="Calibri"/>
                </a:rPr>
                <a:t>ALPHONSO S. R. P. A. M. D. N.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</a:rPr>
                <a:t> 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| 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45F9A2EB-2AE2-4996-9A37-E6608094A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65912DCA-3F24-463F-8A0A-3B6B004D5609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10E1BA1D-C937-4046-AFCA-F1941BC27507}"/>
              </a:ext>
            </a:extLst>
          </p:cNvPr>
          <p:cNvSpPr/>
          <p:nvPr/>
        </p:nvSpPr>
        <p:spPr>
          <a:xfrm>
            <a:off x="401860" y="1340162"/>
            <a:ext cx="6578083" cy="6314681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AE3F3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How the solution will address the Sub-Problem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Analyzing real career histories of Sri Lankan IT professionals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Building a “career map” showing job progressions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Giving probability scores for each next role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Showing skill gaps, you must fill before moving to the next role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14">
            <a:extLst>
              <a:ext uri="{FF2B5EF4-FFF2-40B4-BE49-F238E27FC236}">
                <a16:creationId xmlns:a16="http://schemas.microsoft.com/office/drawing/2014/main" id="{E31261B6-0A25-4209-AD5E-6E3E049048C1}"/>
              </a:ext>
            </a:extLst>
          </p:cNvPr>
          <p:cNvSpPr/>
          <p:nvPr/>
        </p:nvSpPr>
        <p:spPr>
          <a:xfrm>
            <a:off x="7302169" y="1340162"/>
            <a:ext cx="6911711" cy="6302319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AE3F3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 Requirements addressed by the Solution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See probable career paths based on real local data, not generic role lists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Understand why a path is suggested (shared skills, role transition patterns)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Know what skills to learn next before applying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Compare multiple trajectories (e.g., technical vs. managerial tracks)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B1F66B-FB25-4ABB-B4E1-F515576F94EA}"/>
              </a:ext>
            </a:extLst>
          </p:cNvPr>
          <p:cNvSpPr/>
          <p:nvPr/>
        </p:nvSpPr>
        <p:spPr>
          <a:xfrm>
            <a:off x="2528014" y="274502"/>
            <a:ext cx="9574371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Career Pathway Predictor</a:t>
            </a:r>
            <a:endParaRPr lang="en-US" sz="4400" b="1" i="0" u="none" strike="noStrike" kern="1200" cap="none" spc="0" baseline="0">
              <a:solidFill>
                <a:srgbClr val="1F4E79"/>
              </a:solidFill>
              <a:uFillTx/>
              <a:latin typeface="Calibri"/>
              <a:ea typeface="Calibri"/>
              <a:cs typeface="Calibri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99734DFB-012B-41A0-8B29-BCD89EB0B1F6}"/>
              </a:ext>
            </a:extLst>
          </p:cNvPr>
          <p:cNvGrpSpPr/>
          <p:nvPr/>
        </p:nvGrpSpPr>
        <p:grpSpPr>
          <a:xfrm>
            <a:off x="0" y="7649733"/>
            <a:ext cx="14633225" cy="841055"/>
            <a:chOff x="0" y="7649733"/>
            <a:chExt cx="14633225" cy="841055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C7D6005A-0DB2-4395-B849-B3874D1FC4EC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141EAC65-A031-43A0-AAE2-A22D508820BF}"/>
                </a:ext>
              </a:extLst>
            </p:cNvPr>
            <p:cNvSpPr/>
            <p:nvPr/>
          </p:nvSpPr>
          <p:spPr>
            <a:xfrm>
              <a:off x="0" y="7968401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IT22153890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Calibri"/>
                  <a:cs typeface="Calibri"/>
                </a:rPr>
                <a:t>ALPHONSO S. R. P. A. M. D. N.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</a:rPr>
                <a:t> 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| 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BFFDF103-1F6C-44D5-A209-CFC0DD547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F08FD69C-E0B3-46CC-BCCF-BC3BDD399EE6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0677124-D313-414B-85B6-C051F8EB07CB}"/>
              </a:ext>
            </a:extLst>
          </p:cNvPr>
          <p:cNvSpPr/>
          <p:nvPr/>
        </p:nvSpPr>
        <p:spPr>
          <a:xfrm>
            <a:off x="611925" y="1216590"/>
            <a:ext cx="6392734" cy="6425881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AE3F3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Design Excellence / Contribution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Unlike generic global tools, our solution is local-first and explainable: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Uses a knowledge graph (like a smart map of job transitions) Not just a list of suggestions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Predicts up to 5 career steps ahead with time estimates </a:t>
            </a:r>
            <a:b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</a:b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Highlights missing skills for each step 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Provides interactive graphs</a:t>
            </a: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14">
            <a:extLst>
              <a:ext uri="{FF2B5EF4-FFF2-40B4-BE49-F238E27FC236}">
                <a16:creationId xmlns:a16="http://schemas.microsoft.com/office/drawing/2014/main" id="{ABC969D0-9E07-45B1-A53A-7CBD996968B9}"/>
              </a:ext>
            </a:extLst>
          </p:cNvPr>
          <p:cNvSpPr/>
          <p:nvPr/>
        </p:nvSpPr>
        <p:spPr>
          <a:xfrm>
            <a:off x="7302169" y="1216590"/>
            <a:ext cx="6714009" cy="6425881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DAE3F3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 Feedback on Prototype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Students: “Finally, a tool that shows realistic Sri Lankan career moves”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Reduced confusion about role requirements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Skill gap visualization helped prioritize learning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Career counselors: “We can now advise students with real evidence”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Requested improvement: Add filtering by company size and remote-work trends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8E72F2-9111-4640-954A-4EBDCC79E6EF}"/>
              </a:ext>
            </a:extLst>
          </p:cNvPr>
          <p:cNvSpPr/>
          <p:nvPr/>
        </p:nvSpPr>
        <p:spPr>
          <a:xfrm>
            <a:off x="934461" y="1651753"/>
            <a:ext cx="10499954" cy="9253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INTERVIEW SIMULATOR</a:t>
            </a:r>
            <a:endParaRPr lang="en-US" sz="4400" b="1" i="0" u="none" strike="noStrike" kern="1200" cap="none" spc="0" baseline="0">
              <a:solidFill>
                <a:srgbClr val="1F4E79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0E68BD-C080-4E97-BB36-097F4BA28E9C}"/>
              </a:ext>
            </a:extLst>
          </p:cNvPr>
          <p:cNvSpPr/>
          <p:nvPr/>
        </p:nvSpPr>
        <p:spPr>
          <a:xfrm>
            <a:off x="1160254" y="4847024"/>
            <a:ext cx="10045196" cy="5900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2C2926"/>
                </a:solidFill>
                <a:uFillTx/>
                <a:latin typeface="Calibri"/>
                <a:ea typeface="Inter"/>
                <a:cs typeface="Inter" pitchFamily="34"/>
              </a:rPr>
              <a:t>IT22291264 | KAVINDU D. M. G.</a:t>
            </a:r>
            <a:endParaRPr lang="en-US" sz="40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Inter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5CEBFADA-A547-4D0C-9F88-E5E1B7655FEF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B97DFEB0-9597-4828-933D-A555D4E25EFB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ADA2E8D4-1C5B-4FB5-840E-D77AED30EDBB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IT22291264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/>
                </a:rPr>
                <a:t>KAVINDU D. M. G.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7" name="Picture 12">
              <a:extLst>
                <a:ext uri="{FF2B5EF4-FFF2-40B4-BE49-F238E27FC236}">
                  <a16:creationId xmlns:a16="http://schemas.microsoft.com/office/drawing/2014/main" id="{B17E3967-0853-4A0D-A547-E20EF054F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00EF5D81-DE2E-49D4-B511-C280D64BBD20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grpSp>
        <p:nvGrpSpPr>
          <p:cNvPr id="9" name="Group 20">
            <a:extLst>
              <a:ext uri="{FF2B5EF4-FFF2-40B4-BE49-F238E27FC236}">
                <a16:creationId xmlns:a16="http://schemas.microsoft.com/office/drawing/2014/main" id="{60E2991F-51D1-439E-9821-F056727701EB}"/>
              </a:ext>
            </a:extLst>
          </p:cNvPr>
          <p:cNvGrpSpPr/>
          <p:nvPr/>
        </p:nvGrpSpPr>
        <p:grpSpPr>
          <a:xfrm>
            <a:off x="12501274" y="3269208"/>
            <a:ext cx="822960" cy="182880"/>
            <a:chOff x="12501274" y="3269208"/>
            <a:chExt cx="822960" cy="182880"/>
          </a:xfrm>
        </p:grpSpPr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FDCDBD26-3F7E-42C8-B1D1-E18692AD9BB2}"/>
                </a:ext>
              </a:extLst>
            </p:cNvPr>
            <p:cNvSpPr/>
            <p:nvPr/>
          </p:nvSpPr>
          <p:spPr>
            <a:xfrm>
              <a:off x="1250127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CA4203B6-366B-423F-B673-E3422A81C862}"/>
                </a:ext>
              </a:extLst>
            </p:cNvPr>
            <p:cNvSpPr/>
            <p:nvPr/>
          </p:nvSpPr>
          <p:spPr>
            <a:xfrm>
              <a:off x="1282131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5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C7BE12C9-6427-4631-8609-C863AB39693B}"/>
                </a:ext>
              </a:extLst>
            </p:cNvPr>
            <p:cNvSpPr/>
            <p:nvPr/>
          </p:nvSpPr>
          <p:spPr>
            <a:xfrm>
              <a:off x="13141354" y="3269208"/>
              <a:ext cx="182880" cy="18288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0891B2">
                <a:alpha val="25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3" name="Rectangle 16">
            <a:extLst>
              <a:ext uri="{FF2B5EF4-FFF2-40B4-BE49-F238E27FC236}">
                <a16:creationId xmlns:a16="http://schemas.microsoft.com/office/drawing/2014/main" id="{D74E6156-BC9D-41CA-B5B0-999E64D27784}"/>
              </a:ext>
            </a:extLst>
          </p:cNvPr>
          <p:cNvSpPr/>
          <p:nvPr/>
        </p:nvSpPr>
        <p:spPr>
          <a:xfrm>
            <a:off x="11244422" y="30641"/>
            <a:ext cx="3336654" cy="3104195"/>
          </a:xfrm>
          <a:prstGeom prst="rect">
            <a:avLst/>
          </a:prstGeom>
          <a:solidFill>
            <a:srgbClr val="4472C4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D44148F-1B05-441A-82B4-273F27438483}"/>
              </a:ext>
            </a:extLst>
          </p:cNvPr>
          <p:cNvSpPr/>
          <p:nvPr/>
        </p:nvSpPr>
        <p:spPr>
          <a:xfrm>
            <a:off x="612492" y="3082863"/>
            <a:ext cx="10369506" cy="117701"/>
          </a:xfrm>
          <a:prstGeom prst="rect">
            <a:avLst/>
          </a:prstGeom>
          <a:solidFill>
            <a:srgbClr val="0891B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6564C6-3F23-4865-9ED5-440E4E41999F}"/>
              </a:ext>
            </a:extLst>
          </p:cNvPr>
          <p:cNvSpPr txBox="1"/>
          <p:nvPr/>
        </p:nvSpPr>
        <p:spPr>
          <a:xfrm>
            <a:off x="934461" y="5671383"/>
            <a:ext cx="11856220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Specialization: Information and Communication Technology</a:t>
            </a:r>
            <a:endParaRPr lang="en-US" sz="36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90398B-62B1-4152-AB61-09647C5F626E}"/>
              </a:ext>
            </a:extLst>
          </p:cNvPr>
          <p:cNvSpPr/>
          <p:nvPr/>
        </p:nvSpPr>
        <p:spPr>
          <a:xfrm>
            <a:off x="2528014" y="484567"/>
            <a:ext cx="9574371" cy="7087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INTERVIEW SIMULATOR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82D9AB69-EDFE-4A31-A57C-B636124B4F09}"/>
              </a:ext>
            </a:extLst>
          </p:cNvPr>
          <p:cNvGrpSpPr/>
          <p:nvPr/>
        </p:nvGrpSpPr>
        <p:grpSpPr>
          <a:xfrm>
            <a:off x="0" y="7649733"/>
            <a:ext cx="14633225" cy="841055"/>
            <a:chOff x="0" y="7649733"/>
            <a:chExt cx="14633225" cy="841055"/>
          </a:xfrm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A5AFA477-F1F5-44C9-8BB6-8AFD3067F854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6785D537-AAEB-4C60-A681-712AA7806F9B}"/>
                </a:ext>
              </a:extLst>
            </p:cNvPr>
            <p:cNvSpPr/>
            <p:nvPr/>
          </p:nvSpPr>
          <p:spPr>
            <a:xfrm>
              <a:off x="0" y="7968401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F98ACFA5-ABAB-4EF5-92F4-A63009B86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30A91C1C-672D-4C70-AE24-9D17CF28A038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6B38EA45-271C-4505-9148-47A438ED207C}"/>
              </a:ext>
            </a:extLst>
          </p:cNvPr>
          <p:cNvSpPr/>
          <p:nvPr/>
        </p:nvSpPr>
        <p:spPr>
          <a:xfrm>
            <a:off x="401860" y="1340162"/>
            <a:ext cx="6578083" cy="6314681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5E0B4"/>
          </a:solidFill>
          <a:ln w="12701" cap="flat">
            <a:solidFill>
              <a:srgbClr val="70AD47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How the solution will address the Sub-Problem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Many graduates cannot prove real interview skills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The interview module evaluates technical and communication abilities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AI analyzes responses and generates performance feedback</a:t>
            </a: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Helps recruiters identify skilled and job-ready candidates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just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14">
            <a:extLst>
              <a:ext uri="{FF2B5EF4-FFF2-40B4-BE49-F238E27FC236}">
                <a16:creationId xmlns:a16="http://schemas.microsoft.com/office/drawing/2014/main" id="{66AC6357-03EF-4E35-8C12-098296D2F741}"/>
              </a:ext>
            </a:extLst>
          </p:cNvPr>
          <p:cNvSpPr/>
          <p:nvPr/>
        </p:nvSpPr>
        <p:spPr>
          <a:xfrm>
            <a:off x="7302169" y="1340162"/>
            <a:ext cx="6911711" cy="6302319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5E0B4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 Requirements addressed by the Solution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Conduct mock technical interviews automatically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Evaluate communication and technical knowledge simultaneously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  Provide instant interview scoring and feedback 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Identify weak areas requiring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    improvement before job applications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8B98EC9A-FA8F-48B0-9141-ADFC25A8EC39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55F0C7BE-C692-4B68-94B4-8A1F3C101492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F46839D4-E5A4-4FFF-97C5-A9EA03DC51E7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IT22291264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/>
                </a:rPr>
                <a:t>KAVINDU D. M. G.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13" name="Picture 11">
              <a:extLst>
                <a:ext uri="{FF2B5EF4-FFF2-40B4-BE49-F238E27FC236}">
                  <a16:creationId xmlns:a16="http://schemas.microsoft.com/office/drawing/2014/main" id="{5E0716D3-3909-47D5-BAA5-9BA55F62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41AF6456-1063-4A95-AAC7-5B2426EC0079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E901E52-5FBD-4D72-8FBE-02800635F700}"/>
              </a:ext>
            </a:extLst>
          </p:cNvPr>
          <p:cNvSpPr txBox="1"/>
          <p:nvPr/>
        </p:nvSpPr>
        <p:spPr>
          <a:xfrm>
            <a:off x="2344613" y="334012"/>
            <a:ext cx="10163903" cy="7798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0" baseline="0">
                <a:solidFill>
                  <a:srgbClr val="1F4E79"/>
                </a:solidFill>
                <a:uFillTx/>
                <a:latin typeface="Calibri"/>
              </a:rPr>
              <a:t>INTERVIEW SIMULATOR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Rectangle: Rounded Corners 3">
            <a:extLst>
              <a:ext uri="{FF2B5EF4-FFF2-40B4-BE49-F238E27FC236}">
                <a16:creationId xmlns:a16="http://schemas.microsoft.com/office/drawing/2014/main" id="{803CB0BF-4F6D-4293-A346-593BC9D6F0FC}"/>
              </a:ext>
            </a:extLst>
          </p:cNvPr>
          <p:cNvSpPr/>
          <p:nvPr/>
        </p:nvSpPr>
        <p:spPr>
          <a:xfrm>
            <a:off x="611925" y="2056851"/>
            <a:ext cx="6368018" cy="4807156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5E0B4"/>
          </a:solidFill>
          <a:ln w="57150" cap="flat">
            <a:solidFill>
              <a:srgbClr val="843C0C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Design Excellence / Contribution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Designed a simple and user-friendly interview interface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Integrated AI-based evaluation for efficient assessment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Generates instant interview performance feedback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Contributed to interview workflow and evaluation design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56C3C609-E1FD-4CCB-A66C-D94AD1B3954C}"/>
              </a:ext>
            </a:extLst>
          </p:cNvPr>
          <p:cNvSpPr/>
          <p:nvPr/>
        </p:nvSpPr>
        <p:spPr>
          <a:xfrm>
            <a:off x="7322688" y="2056851"/>
            <a:ext cx="6368018" cy="4807156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5E0B4"/>
          </a:solidFill>
          <a:ln w="57150" cap="flat">
            <a:solidFill>
              <a:srgbClr val="843C0C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User Feedback on Prototype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Add more real-world technical interview questions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Clear interview process and feedback reports.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Most valued feature: evidence-based proficiency scoring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AD5153E6-6B46-4311-9B79-779763A41453}"/>
              </a:ext>
            </a:extLst>
          </p:cNvPr>
          <p:cNvGrpSpPr/>
          <p:nvPr/>
        </p:nvGrpSpPr>
        <p:grpSpPr>
          <a:xfrm>
            <a:off x="0" y="7649733"/>
            <a:ext cx="14633225" cy="769887"/>
            <a:chOff x="0" y="7649733"/>
            <a:chExt cx="14633225" cy="769887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1BC3B95-B85F-4585-B7BD-420FB6CE7AF4}"/>
                </a:ext>
              </a:extLst>
            </p:cNvPr>
            <p:cNvSpPr/>
            <p:nvPr/>
          </p:nvSpPr>
          <p:spPr>
            <a:xfrm>
              <a:off x="12511671" y="7649733"/>
              <a:ext cx="2118728" cy="579866"/>
            </a:xfrm>
            <a:prstGeom prst="rect">
              <a:avLst/>
            </a:pr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C000"/>
                </a:solidFill>
                <a:uFillTx/>
                <a:latin typeface="Calibri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E9113A9E-3178-4C28-9626-906337D90A05}"/>
                </a:ext>
              </a:extLst>
            </p:cNvPr>
            <p:cNvSpPr/>
            <p:nvPr/>
          </p:nvSpPr>
          <p:spPr>
            <a:xfrm>
              <a:off x="0" y="7897233"/>
              <a:ext cx="14633225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IT22291264 | </a:t>
              </a:r>
              <a:r>
                <a:rPr lang="en-US" sz="1800" b="1" i="0" u="none" strike="noStrike" kern="1200" cap="none" spc="0" baseline="0">
                  <a:solidFill>
                    <a:srgbClr val="2C2926"/>
                  </a:solidFill>
                  <a:uFillTx/>
                  <a:latin typeface="Calibri"/>
                  <a:ea typeface="Inter"/>
                </a:rPr>
                <a:t>KAVINDU D. M. G.</a:t>
              </a: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 | R26-IT-128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9EB1F70-1348-4464-AB12-BC8D62DB0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07212"/>
              <a:ext cx="3043708" cy="522387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DFA4E1-A3EE-4F34-A8E0-52256F9DF243}"/>
                </a:ext>
              </a:extLst>
            </p:cNvPr>
            <p:cNvSpPr/>
            <p:nvPr/>
          </p:nvSpPr>
          <p:spPr>
            <a:xfrm>
              <a:off x="12912754" y="7802218"/>
              <a:ext cx="1720471" cy="52238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11/05/2026</a:t>
              </a:r>
              <a:endPara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ED031-CF09-41D4-B365-75A242DD9461}"/>
              </a:ext>
            </a:extLst>
          </p:cNvPr>
          <p:cNvSpPr/>
          <p:nvPr/>
        </p:nvSpPr>
        <p:spPr>
          <a:xfrm>
            <a:off x="221915" y="1856277"/>
            <a:ext cx="6870710" cy="3615336"/>
          </a:xfrm>
          <a:prstGeom prst="rect">
            <a:avLst/>
          </a:prstGeom>
          <a:solidFill>
            <a:srgbClr val="FBE5D6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E1835-A57B-455B-94E8-879277D4A837}"/>
              </a:ext>
            </a:extLst>
          </p:cNvPr>
          <p:cNvSpPr/>
          <p:nvPr/>
        </p:nvSpPr>
        <p:spPr>
          <a:xfrm>
            <a:off x="7436906" y="4060859"/>
            <a:ext cx="6870710" cy="3665445"/>
          </a:xfrm>
          <a:prstGeom prst="rect">
            <a:avLst/>
          </a:prstGeom>
          <a:solidFill>
            <a:srgbClr val="FBE5D6"/>
          </a:solidFill>
          <a:ln w="12701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Sustainability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Freemium: Core features free for all students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B2C Premium: Full platform access for individuals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B2B Licensing: Institutional access for universities and recruiters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Cost Recovery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Low setup cost : cloud-based microservice architecture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Break-even via small percentage of premium conversions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Scales efficiently as user base grows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C4D59-5803-42CD-86F6-E13636BC2315}"/>
              </a:ext>
            </a:extLst>
          </p:cNvPr>
          <p:cNvSpPr txBox="1"/>
          <p:nvPr/>
        </p:nvSpPr>
        <p:spPr>
          <a:xfrm>
            <a:off x="4518544" y="566095"/>
            <a:ext cx="5844570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cs typeface="Arial"/>
              </a:rPr>
              <a:t>Commercialization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ADE39-286A-4CF5-888A-BB55F96A084E}"/>
              </a:ext>
            </a:extLst>
          </p:cNvPr>
          <p:cNvSpPr txBox="1"/>
          <p:nvPr/>
        </p:nvSpPr>
        <p:spPr>
          <a:xfrm>
            <a:off x="632225" y="2297603"/>
            <a:ext cx="6041166" cy="42550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Market &amp; Persona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Primary: IT undergraduates seeking career guidance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Secondary: University career guidance units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Enterprise: HR teams and tech recruiters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Unique Edge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Only platform combining skill forecasting, career paths, CV verification and interview simulation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Localised for Sri Lankan IT job market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Evidence-based — not self-reported or keyword-based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000" b="1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B546A-4DBB-5DF5-2AC1-BFC1D7CC1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729" y="772160"/>
            <a:ext cx="11884940" cy="668527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TM04033925%5b%5bfn=Droplet%5d%5d</Template>
  <TotalTime>1</TotalTime>
  <Words>1339</Words>
  <Application>Microsoft Office PowerPoint</Application>
  <PresentationFormat>Custom</PresentationFormat>
  <Paragraphs>267</Paragraphs>
  <Slides>21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Cambria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ACER</dc:creator>
  <cp:lastModifiedBy>RATHNAYAKE K D V it22154408</cp:lastModifiedBy>
  <cp:revision>42</cp:revision>
  <dcterms:created xsi:type="dcterms:W3CDTF">2026-03-12T08:23:46Z</dcterms:created>
  <dcterms:modified xsi:type="dcterms:W3CDTF">2026-10-08T05:52:51Z</dcterms:modified>
</cp:coreProperties>
</file>