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58" r:id="rId4"/>
    <p:sldId id="269" r:id="rId5"/>
    <p:sldId id="265" r:id="rId6"/>
    <p:sldId id="270" r:id="rId7"/>
    <p:sldId id="262" r:id="rId8"/>
    <p:sldId id="268" r:id="rId9"/>
  </p:sldIdLst>
  <p:sldSz cx="18288000" cy="10287000"/>
  <p:notesSz cx="6858000" cy="9144000"/>
  <p:embeddedFontLst>
    <p:embeddedFont>
      <p:font typeface="Inter" panose="020B0604020202020204" charset="0"/>
      <p:regular r:id="rId10"/>
    </p:embeddedFont>
    <p:embeddedFont>
      <p:font typeface="Inter Bold" panose="020B0604020202020204" charset="0"/>
      <p:regular r:id="rId11"/>
    </p:embeddedFont>
    <p:embeddedFont>
      <p:font typeface="Roboto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300" y="-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58129" y="-2195789"/>
            <a:ext cx="8829871" cy="3882432"/>
          </a:xfrm>
          <a:custGeom>
            <a:avLst/>
            <a:gdLst/>
            <a:ahLst/>
            <a:cxnLst/>
            <a:rect l="l" t="t" r="r" b="b"/>
            <a:pathLst>
              <a:path w="8829871" h="3882432">
                <a:moveTo>
                  <a:pt x="0" y="0"/>
                </a:moveTo>
                <a:lnTo>
                  <a:pt x="8829871" y="0"/>
                </a:lnTo>
                <a:lnTo>
                  <a:pt x="8829871" y="3882432"/>
                </a:lnTo>
                <a:lnTo>
                  <a:pt x="0" y="3882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97626" y="3876738"/>
            <a:ext cx="9292749" cy="163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7000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PathwayIQ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0" y="8623094"/>
            <a:ext cx="8829871" cy="3882432"/>
          </a:xfrm>
          <a:custGeom>
            <a:avLst/>
            <a:gdLst/>
            <a:ahLst/>
            <a:cxnLst/>
            <a:rect l="l" t="t" r="r" b="b"/>
            <a:pathLst>
              <a:path w="8829871" h="3882432">
                <a:moveTo>
                  <a:pt x="8829871" y="0"/>
                </a:moveTo>
                <a:lnTo>
                  <a:pt x="0" y="0"/>
                </a:lnTo>
                <a:lnTo>
                  <a:pt x="0" y="3882432"/>
                </a:lnTo>
                <a:lnTo>
                  <a:pt x="8829871" y="3882432"/>
                </a:lnTo>
                <a:lnTo>
                  <a:pt x="88298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8700" y="1413173"/>
            <a:ext cx="12844365" cy="6611874"/>
          </a:xfrm>
          <a:custGeom>
            <a:avLst/>
            <a:gdLst/>
            <a:ahLst/>
            <a:cxnLst/>
            <a:rect l="l" t="t" r="r" b="b"/>
            <a:pathLst>
              <a:path w="12844365" h="6611874">
                <a:moveTo>
                  <a:pt x="0" y="6611874"/>
                </a:move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lnTo>
                  <a:pt x="12844365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414935" y="2459563"/>
            <a:ext cx="12844365" cy="6519963"/>
          </a:xfrm>
          <a:custGeom>
            <a:avLst/>
            <a:gdLst/>
            <a:ahLst/>
            <a:cxnLst/>
            <a:rect l="l" t="t" r="r" b="b"/>
            <a:pathLst>
              <a:path w="12844365" h="6519963">
                <a:moveTo>
                  <a:pt x="0" y="6519963"/>
                </a:moveTo>
                <a:lnTo>
                  <a:pt x="12615765" y="6519963"/>
                </a:lnTo>
                <a:cubicBezTo>
                  <a:pt x="12742018" y="6519963"/>
                  <a:pt x="12844365" y="6417615"/>
                  <a:pt x="12844365" y="6291363"/>
                </a:cubicBezTo>
                <a:lnTo>
                  <a:pt x="12844365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410465" y="5376608"/>
            <a:ext cx="7467069" cy="65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Progress Review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5256" y="504825"/>
            <a:ext cx="688473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SLIIT · Group R26-IT-128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842807" y="1028700"/>
            <a:ext cx="3505200" cy="1279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4200" b="1" dirty="0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PP1 Feedback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5256" y="504825"/>
            <a:ext cx="688473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SLIIT · Group R26-IT-128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039868"/>
              </p:ext>
            </p:extLst>
          </p:nvPr>
        </p:nvGraphicFramePr>
        <p:xfrm>
          <a:off x="1055628" y="2871364"/>
          <a:ext cx="16176744" cy="4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76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50000">
                <a:tc>
                  <a:txBody>
                    <a:bodyPr/>
                    <a:lstStyle/>
                    <a:p>
                      <a:pPr algn="l"/>
                      <a:r>
                        <a:rPr sz="2400" b="1" dirty="0">
                          <a:solidFill>
                            <a:srgbClr val="FFFFFF"/>
                          </a:solidFill>
                          <a:latin typeface="Inter Bold"/>
                        </a:rPr>
                        <a:t>PP1 Comment</a:t>
                      </a:r>
                    </a:p>
                  </a:txBody>
                  <a:tcPr marL="137160" marR="137160" marT="91440" marB="91440" anchor="ctr">
                    <a:solidFill>
                      <a:srgbClr val="2E58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1" dirty="0">
                          <a:solidFill>
                            <a:srgbClr val="FFFFFF"/>
                          </a:solidFill>
                          <a:latin typeface="Inter Bold"/>
                        </a:rPr>
                        <a:t>How We Addressed It</a:t>
                      </a:r>
                    </a:p>
                  </a:txBody>
                  <a:tcPr marL="137160" marR="137160" marT="91440" marB="91440" anchor="ctr">
                    <a:solidFill>
                      <a:srgbClr val="2E5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Inter"/>
                        </a:rPr>
                        <a:t>Prioritize actual research logic over UI-level development.</a:t>
                      </a:r>
                    </a:p>
                  </a:txBody>
                  <a:tcPr marL="137160" marR="137160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dirty="0">
                          <a:solidFill>
                            <a:srgbClr val="000000"/>
                          </a:solidFill>
                          <a:latin typeface="Inter"/>
                        </a:rPr>
                        <a:t>Shifted focus to backend logic </a:t>
                      </a:r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Inter"/>
                        </a:rPr>
                        <a:t>- 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  <a:latin typeface="Inter"/>
                        </a:rPr>
                        <a:t>transitioned from UI mockups to 4 fully functional Python microservices.</a:t>
                      </a:r>
                    </a:p>
                  </a:txBody>
                  <a:tcPr marL="137160" marR="137160" marT="91440" marB="9144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Inter"/>
                        </a:rPr>
                        <a:t>Focus on dataset preparation and model development.</a:t>
                      </a:r>
                    </a:p>
                  </a:txBody>
                  <a:tcPr marL="137160" marR="137160" marT="91440" marB="9144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Inter" panose="020B0604020202020204" charset="0"/>
                          <a:ea typeface="Inter" panose="020B0604020202020204" charset="0"/>
                        </a:rPr>
                        <a:t>trained/evaluated multiple ML models across all four modules, benchmarked and compared before final selection.</a:t>
                      </a:r>
                      <a:endParaRPr sz="2400" b="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137160" marR="137160" marT="91440" marB="91440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Inter"/>
                        </a:rPr>
                        <a:t>Demonstrate measurable technical progress in parallel.</a:t>
                      </a:r>
                    </a:p>
                  </a:txBody>
                  <a:tcPr marL="137160" marR="137160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dirty="0">
                          <a:solidFill>
                            <a:srgbClr val="000000"/>
                          </a:solidFill>
                          <a:latin typeface="Inter"/>
                        </a:rPr>
                        <a:t>Achieved verified accuracy metrics across all components</a:t>
                      </a:r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Inter"/>
                        </a:rPr>
                        <a:t> - 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  <a:latin typeface="Inter"/>
                        </a:rPr>
                        <a:t>proven live in today’s demo.</a:t>
                      </a:r>
                    </a:p>
                  </a:txBody>
                  <a:tcPr marL="137160" marR="137160" marT="91440" marB="9144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594053" y="1293298"/>
            <a:ext cx="5099893" cy="14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4200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Ecosystem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13495" y="3727987"/>
            <a:ext cx="505000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One Ecosystem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5256" y="504825"/>
            <a:ext cx="688473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SLIIT · Group R26-IT-128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13495" y="4696362"/>
            <a:ext cx="505000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API Gateway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13495" y="5664737"/>
            <a:ext cx="505000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4 Microservices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13495" y="6633112"/>
            <a:ext cx="505000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Live Data 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24502" y="3727987"/>
            <a:ext cx="505000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Skill Forecasting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24502" y="4696362"/>
            <a:ext cx="505000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Career Pathway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4502" y="5664737"/>
            <a:ext cx="505000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CV Analyzer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24502" y="6633112"/>
            <a:ext cx="5653698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ct val="1000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Interview preparation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424502" y="3201473"/>
            <a:ext cx="6537982" cy="5742969"/>
          </a:xfrm>
          <a:custGeom>
            <a:avLst/>
            <a:gdLst/>
            <a:ahLst/>
            <a:cxnLst/>
            <a:rect l="l" t="t" r="r" b="b"/>
            <a:pathLst>
              <a:path w="6537982" h="5742969">
                <a:moveTo>
                  <a:pt x="0" y="0"/>
                </a:moveTo>
                <a:lnTo>
                  <a:pt x="6309382" y="0"/>
                </a:lnTo>
                <a:cubicBezTo>
                  <a:pt x="6435635" y="0"/>
                  <a:pt x="6537982" y="102348"/>
                  <a:pt x="6537982" y="228601"/>
                </a:cubicBezTo>
                <a:lnTo>
                  <a:pt x="6537982" y="5742969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813495" y="3143729"/>
            <a:ext cx="6537982" cy="5800713"/>
          </a:xfrm>
          <a:custGeom>
            <a:avLst/>
            <a:gdLst/>
            <a:ahLst/>
            <a:cxnLst/>
            <a:rect l="l" t="t" r="r" b="b"/>
            <a:pathLst>
              <a:path w="6537982" h="5800713">
                <a:moveTo>
                  <a:pt x="0" y="0"/>
                </a:moveTo>
                <a:lnTo>
                  <a:pt x="6309381" y="0"/>
                </a:lnTo>
                <a:cubicBezTo>
                  <a:pt x="6435633" y="0"/>
                  <a:pt x="6537981" y="102348"/>
                  <a:pt x="6537981" y="228600"/>
                </a:cubicBezTo>
                <a:lnTo>
                  <a:pt x="6537981" y="5800713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77067-46CC-A880-C34B-70FD63B12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C88EC2-DAEC-4DC8-D1C1-0B9268E24445}"/>
              </a:ext>
            </a:extLst>
          </p:cNvPr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15AA396-2B89-21AB-986F-58C5288399E0}"/>
              </a:ext>
            </a:extLst>
          </p:cNvPr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AAA32BC-5C1E-760D-F196-2E06DEE28BA2}"/>
              </a:ext>
            </a:extLst>
          </p:cNvPr>
          <p:cNvSpPr txBox="1"/>
          <p:nvPr/>
        </p:nvSpPr>
        <p:spPr>
          <a:xfrm>
            <a:off x="1055256" y="504825"/>
            <a:ext cx="688473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SLIIT · Group R26-IT-128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C48C28E-CD61-318A-2C7C-16AF42C3F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0" y="1375144"/>
            <a:ext cx="13639800" cy="761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48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581215" y="1250960"/>
            <a:ext cx="7125570" cy="14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4200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Milestones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5256" y="504825"/>
            <a:ext cx="688473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SLIIT · Group R26-IT-128</a:t>
            </a:r>
          </a:p>
        </p:txBody>
      </p:sp>
      <p:sp>
        <p:nvSpPr>
          <p:cNvPr id="6" name="Freeform 6"/>
          <p:cNvSpPr/>
          <p:nvPr/>
        </p:nvSpPr>
        <p:spPr>
          <a:xfrm>
            <a:off x="2540174" y="3501484"/>
            <a:ext cx="5466307" cy="4966793"/>
          </a:xfrm>
          <a:custGeom>
            <a:avLst/>
            <a:gdLst/>
            <a:ahLst/>
            <a:cxnLst/>
            <a:rect l="l" t="t" r="r" b="b"/>
            <a:pathLst>
              <a:path w="5466307" h="4966793">
                <a:moveTo>
                  <a:pt x="5466308" y="4966793"/>
                </a:moveTo>
                <a:lnTo>
                  <a:pt x="228600" y="4966793"/>
                </a:lnTo>
                <a:cubicBezTo>
                  <a:pt x="167972" y="4966793"/>
                  <a:pt x="109827" y="4942708"/>
                  <a:pt x="66956" y="4899837"/>
                </a:cubicBezTo>
                <a:cubicBezTo>
                  <a:pt x="24085" y="4856967"/>
                  <a:pt x="0" y="4798822"/>
                  <a:pt x="0" y="4738193"/>
                </a:cubicBez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7" y="24084"/>
                  <a:pt x="167972" y="0"/>
                  <a:pt x="228600" y="0"/>
                </a:cubicBezTo>
                <a:lnTo>
                  <a:pt x="5194535" y="0"/>
                </a:lnTo>
                <a:cubicBezTo>
                  <a:pt x="5320786" y="0"/>
                  <a:pt x="5423135" y="102347"/>
                  <a:pt x="5423135" y="228600"/>
                </a:cubicBezTo>
                <a:lnTo>
                  <a:pt x="5423135" y="4103595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936670" y="4413490"/>
            <a:ext cx="4654266" cy="2732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Transitioned from prototype to a working backend across all 4 components - forecasting, career prediction, CV scoring, and interview prep.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26843" y="3697754"/>
            <a:ext cx="3073920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Foundations</a:t>
            </a:r>
          </a:p>
        </p:txBody>
      </p:sp>
      <p:sp>
        <p:nvSpPr>
          <p:cNvPr id="9" name="Freeform 9"/>
          <p:cNvSpPr/>
          <p:nvPr/>
        </p:nvSpPr>
        <p:spPr>
          <a:xfrm>
            <a:off x="10300568" y="3501484"/>
            <a:ext cx="5466308" cy="4966793"/>
          </a:xfrm>
          <a:custGeom>
            <a:avLst/>
            <a:gdLst/>
            <a:ahLst/>
            <a:cxnLst/>
            <a:rect l="l" t="t" r="r" b="b"/>
            <a:pathLst>
              <a:path w="5466308" h="4966793">
                <a:moveTo>
                  <a:pt x="5466308" y="4966793"/>
                </a:moveTo>
                <a:lnTo>
                  <a:pt x="228600" y="4966793"/>
                </a:lnTo>
                <a:cubicBezTo>
                  <a:pt x="102348" y="4966793"/>
                  <a:pt x="0" y="4864445"/>
                  <a:pt x="0" y="4738193"/>
                </a:cubicBez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6" y="24084"/>
                  <a:pt x="167971" y="0"/>
                  <a:pt x="228600" y="0"/>
                </a:cubicBezTo>
                <a:lnTo>
                  <a:pt x="5194534" y="0"/>
                </a:lnTo>
                <a:cubicBezTo>
                  <a:pt x="5320787" y="0"/>
                  <a:pt x="5423134" y="102347"/>
                  <a:pt x="5423134" y="228600"/>
                </a:cubicBezTo>
                <a:lnTo>
                  <a:pt x="5423134" y="4103595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706589" y="4625850"/>
            <a:ext cx="4654266" cy="3194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Each component runs its own model: </a:t>
            </a:r>
          </a:p>
          <a:p>
            <a:pPr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indent="-457200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ARIMA/ES</a:t>
            </a:r>
          </a:p>
          <a:p>
            <a:pPr marL="457200" indent="-457200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Sentence-Transformers</a:t>
            </a:r>
          </a:p>
          <a:p>
            <a:pPr marL="457200" indent="-457200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HistGradientBoosting</a:t>
            </a:r>
            <a:endParaRPr lang="en-US" sz="26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indent="-457200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CNNs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87237" y="3697754"/>
            <a:ext cx="3073920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Algorithms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47EFB-FB2D-5485-3017-661F23D5E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DEB7B86-5C72-8F25-BC44-3C32D7F45034}"/>
              </a:ext>
            </a:extLst>
          </p:cNvPr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9944320-5A40-9BB3-FF87-99812CA1DFFE}"/>
              </a:ext>
            </a:extLst>
          </p:cNvPr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A640286-43FA-7891-3D3F-2D4008A0A154}"/>
              </a:ext>
            </a:extLst>
          </p:cNvPr>
          <p:cNvSpPr txBox="1"/>
          <p:nvPr/>
        </p:nvSpPr>
        <p:spPr>
          <a:xfrm>
            <a:off x="2383982" y="1394799"/>
            <a:ext cx="13520035" cy="14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4200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Professional Practices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5A1B58B-A474-C675-ABB3-C0D262200744}"/>
              </a:ext>
            </a:extLst>
          </p:cNvPr>
          <p:cNvSpPr txBox="1"/>
          <p:nvPr/>
        </p:nvSpPr>
        <p:spPr>
          <a:xfrm>
            <a:off x="1055256" y="504825"/>
            <a:ext cx="688473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SLIIT · Group R26-IT-128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F037AD6-26B5-EEE2-0988-9A5A0C71BC22}"/>
              </a:ext>
            </a:extLst>
          </p:cNvPr>
          <p:cNvSpPr/>
          <p:nvPr/>
        </p:nvSpPr>
        <p:spPr>
          <a:xfrm>
            <a:off x="2325256" y="3753555"/>
            <a:ext cx="6107647" cy="818860"/>
          </a:xfrm>
          <a:custGeom>
            <a:avLst/>
            <a:gdLst/>
            <a:ahLst/>
            <a:cxnLst/>
            <a:rect l="l" t="t" r="r" b="b"/>
            <a:pathLst>
              <a:path w="6107647" h="818860">
                <a:moveTo>
                  <a:pt x="0" y="818859"/>
                </a:moveTo>
                <a:lnTo>
                  <a:pt x="5879046" y="818859"/>
                </a:lnTo>
                <a:cubicBezTo>
                  <a:pt x="5939675" y="818859"/>
                  <a:pt x="5997820" y="794775"/>
                  <a:pt x="6040691" y="751904"/>
                </a:cubicBezTo>
                <a:cubicBezTo>
                  <a:pt x="6083562" y="709033"/>
                  <a:pt x="6107646" y="650888"/>
                  <a:pt x="6107646" y="590259"/>
                </a:cubicBezTo>
                <a:lnTo>
                  <a:pt x="6107646" y="228600"/>
                </a:lnTo>
                <a:cubicBezTo>
                  <a:pt x="6107646" y="102347"/>
                  <a:pt x="6005298" y="0"/>
                  <a:pt x="5879046" y="0"/>
                </a:cubicBezTo>
                <a:lnTo>
                  <a:pt x="566414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8070226-9D87-01C1-C8E8-809E2C5C5D17}"/>
              </a:ext>
            </a:extLst>
          </p:cNvPr>
          <p:cNvSpPr txBox="1"/>
          <p:nvPr/>
        </p:nvSpPr>
        <p:spPr>
          <a:xfrm>
            <a:off x="3170553" y="4726552"/>
            <a:ext cx="5191978" cy="2271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Static analysis via SonarQube reports zero code smells, bugs, or vulnerabilities across the codebase - verified ahead of deployment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AACCC7E-712D-B67F-C26D-AE14FB5E3C6D}"/>
              </a:ext>
            </a:extLst>
          </p:cNvPr>
          <p:cNvSpPr txBox="1"/>
          <p:nvPr/>
        </p:nvSpPr>
        <p:spPr>
          <a:xfrm>
            <a:off x="3170553" y="3831197"/>
            <a:ext cx="2998743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Code Quality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1BFE62E-D291-4535-4C54-9FB725FC851B}"/>
              </a:ext>
            </a:extLst>
          </p:cNvPr>
          <p:cNvSpPr/>
          <p:nvPr/>
        </p:nvSpPr>
        <p:spPr>
          <a:xfrm>
            <a:off x="9836048" y="3753555"/>
            <a:ext cx="6107647" cy="818860"/>
          </a:xfrm>
          <a:custGeom>
            <a:avLst/>
            <a:gdLst/>
            <a:ahLst/>
            <a:cxnLst/>
            <a:rect l="l" t="t" r="r" b="b"/>
            <a:pathLst>
              <a:path w="6107647" h="818860">
                <a:moveTo>
                  <a:pt x="0" y="818859"/>
                </a:moveTo>
                <a:lnTo>
                  <a:pt x="5879047" y="818859"/>
                </a:lnTo>
                <a:cubicBezTo>
                  <a:pt x="5939676" y="818859"/>
                  <a:pt x="5997821" y="794775"/>
                  <a:pt x="6040691" y="751904"/>
                </a:cubicBezTo>
                <a:cubicBezTo>
                  <a:pt x="6083563" y="709033"/>
                  <a:pt x="6107647" y="650888"/>
                  <a:pt x="6107647" y="590259"/>
                </a:cubicBezTo>
                <a:lnTo>
                  <a:pt x="6107647" y="228600"/>
                </a:lnTo>
                <a:cubicBezTo>
                  <a:pt x="6107647" y="102347"/>
                  <a:pt x="6005300" y="0"/>
                  <a:pt x="5879047" y="0"/>
                </a:cubicBezTo>
                <a:lnTo>
                  <a:pt x="566414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CF6FD2D-8ABC-B98F-2746-AC8E8787C4F6}"/>
              </a:ext>
            </a:extLst>
          </p:cNvPr>
          <p:cNvSpPr txBox="1"/>
          <p:nvPr/>
        </p:nvSpPr>
        <p:spPr>
          <a:xfrm>
            <a:off x="10681344" y="4726552"/>
            <a:ext cx="5262351" cy="2400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Stateless JWT verification via </a:t>
            </a:r>
            <a:r>
              <a:rPr lang="en-US" sz="26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Supabase</a:t>
            </a: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Auth — every protected route validates the token's signature against </a:t>
            </a:r>
            <a:r>
              <a:rPr lang="en-US" sz="26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Supabase's</a:t>
            </a: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live JWKS endpoint before granting access.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AA444B9-DF7D-2770-8F97-90B73B89AFAF}"/>
              </a:ext>
            </a:extLst>
          </p:cNvPr>
          <p:cNvSpPr txBox="1"/>
          <p:nvPr/>
        </p:nvSpPr>
        <p:spPr>
          <a:xfrm>
            <a:off x="10681345" y="3831197"/>
            <a:ext cx="3491855" cy="576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Authentication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916166-D640-AE4B-16D7-2CC4F3E59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405" b="58006"/>
          <a:stretch>
            <a:fillRect/>
          </a:stretch>
        </p:blipFill>
        <p:spPr>
          <a:xfrm>
            <a:off x="2642342" y="7127209"/>
            <a:ext cx="6248400" cy="145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02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383982" y="1394799"/>
            <a:ext cx="13520035" cy="14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4200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Professional Practices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5256" y="504825"/>
            <a:ext cx="688473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SLIIT · Group R26-IT-128</a:t>
            </a:r>
          </a:p>
        </p:txBody>
      </p:sp>
      <p:sp>
        <p:nvSpPr>
          <p:cNvPr id="6" name="Freeform 6"/>
          <p:cNvSpPr/>
          <p:nvPr/>
        </p:nvSpPr>
        <p:spPr>
          <a:xfrm>
            <a:off x="2325256" y="3753555"/>
            <a:ext cx="6107647" cy="818860"/>
          </a:xfrm>
          <a:custGeom>
            <a:avLst/>
            <a:gdLst/>
            <a:ahLst/>
            <a:cxnLst/>
            <a:rect l="l" t="t" r="r" b="b"/>
            <a:pathLst>
              <a:path w="6107647" h="818860">
                <a:moveTo>
                  <a:pt x="0" y="818859"/>
                </a:moveTo>
                <a:lnTo>
                  <a:pt x="5879046" y="818859"/>
                </a:lnTo>
                <a:cubicBezTo>
                  <a:pt x="5939675" y="818859"/>
                  <a:pt x="5997820" y="794775"/>
                  <a:pt x="6040691" y="751904"/>
                </a:cubicBezTo>
                <a:cubicBezTo>
                  <a:pt x="6083562" y="709033"/>
                  <a:pt x="6107646" y="650888"/>
                  <a:pt x="6107646" y="590259"/>
                </a:cubicBezTo>
                <a:lnTo>
                  <a:pt x="6107646" y="228600"/>
                </a:lnTo>
                <a:cubicBezTo>
                  <a:pt x="6107646" y="102347"/>
                  <a:pt x="6005298" y="0"/>
                  <a:pt x="5879046" y="0"/>
                </a:cubicBezTo>
                <a:lnTo>
                  <a:pt x="566414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170553" y="4726552"/>
            <a:ext cx="5191978" cy="2271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CV structuring and interview generation run on a local </a:t>
            </a:r>
            <a:r>
              <a:rPr lang="en-US" sz="26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Ollama</a:t>
            </a: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LLM- zero reliance on external cloud APIs keeps user data fully private.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70553" y="3831197"/>
            <a:ext cx="2998743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Privacy</a:t>
            </a:r>
          </a:p>
        </p:txBody>
      </p:sp>
      <p:sp>
        <p:nvSpPr>
          <p:cNvPr id="9" name="Freeform 9"/>
          <p:cNvSpPr/>
          <p:nvPr/>
        </p:nvSpPr>
        <p:spPr>
          <a:xfrm>
            <a:off x="9855099" y="3748012"/>
            <a:ext cx="6107647" cy="818860"/>
          </a:xfrm>
          <a:custGeom>
            <a:avLst/>
            <a:gdLst/>
            <a:ahLst/>
            <a:cxnLst/>
            <a:rect l="l" t="t" r="r" b="b"/>
            <a:pathLst>
              <a:path w="6107647" h="818860">
                <a:moveTo>
                  <a:pt x="0" y="818859"/>
                </a:moveTo>
                <a:lnTo>
                  <a:pt x="5879047" y="818859"/>
                </a:lnTo>
                <a:cubicBezTo>
                  <a:pt x="5939676" y="818859"/>
                  <a:pt x="5997821" y="794775"/>
                  <a:pt x="6040691" y="751904"/>
                </a:cubicBezTo>
                <a:cubicBezTo>
                  <a:pt x="6083563" y="709033"/>
                  <a:pt x="6107647" y="650888"/>
                  <a:pt x="6107647" y="590259"/>
                </a:cubicBezTo>
                <a:lnTo>
                  <a:pt x="6107647" y="228600"/>
                </a:lnTo>
                <a:cubicBezTo>
                  <a:pt x="6107647" y="102347"/>
                  <a:pt x="6005300" y="0"/>
                  <a:pt x="5879047" y="0"/>
                </a:cubicBezTo>
                <a:lnTo>
                  <a:pt x="566414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681344" y="4726552"/>
            <a:ext cx="5262351" cy="1600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Stateless architecture supports scalability - load-tested via JMeter with a 0% error rate and ~31ms average response time.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81345" y="3831197"/>
            <a:ext cx="2998743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Reliability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45AA19F-8A35-BEC7-3A5D-0AE217972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77" t="14739" b="58009"/>
          <a:stretch>
            <a:fillRect/>
          </a:stretch>
        </p:blipFill>
        <p:spPr>
          <a:xfrm>
            <a:off x="8587856" y="6819900"/>
            <a:ext cx="8642131" cy="18529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677854" y="2541746"/>
            <a:ext cx="7219820" cy="5649753"/>
          </a:xfrm>
          <a:custGeom>
            <a:avLst/>
            <a:gdLst/>
            <a:ahLst/>
            <a:cxnLst/>
            <a:rect l="l" t="t" r="r" b="b"/>
            <a:pathLst>
              <a:path w="6844106" h="5203506">
                <a:moveTo>
                  <a:pt x="5564133" y="0"/>
                </a:moveTo>
                <a:lnTo>
                  <a:pt x="228600" y="0"/>
                </a:lnTo>
                <a:cubicBezTo>
                  <a:pt x="102348" y="0"/>
                  <a:pt x="0" y="102348"/>
                  <a:pt x="0" y="228600"/>
                </a:cubicBezTo>
                <a:lnTo>
                  <a:pt x="0" y="4974906"/>
                </a:lnTo>
                <a:cubicBezTo>
                  <a:pt x="0" y="5035535"/>
                  <a:pt x="24085" y="5093680"/>
                  <a:pt x="66956" y="5136550"/>
                </a:cubicBezTo>
                <a:cubicBezTo>
                  <a:pt x="109826" y="5179421"/>
                  <a:pt x="167971" y="5203506"/>
                  <a:pt x="228600" y="5203506"/>
                </a:cubicBezTo>
                <a:lnTo>
                  <a:pt x="6615507" y="5203506"/>
                </a:lnTo>
                <a:cubicBezTo>
                  <a:pt x="6741759" y="5203506"/>
                  <a:pt x="6844107" y="5101158"/>
                  <a:pt x="6844107" y="4974906"/>
                </a:cubicBezTo>
                <a:lnTo>
                  <a:pt x="6844107" y="1952279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746989" y="2591747"/>
            <a:ext cx="7219821" cy="5089495"/>
          </a:xfrm>
          <a:custGeom>
            <a:avLst/>
            <a:gdLst/>
            <a:ahLst/>
            <a:cxnLst/>
            <a:rect l="l" t="t" r="r" b="b"/>
            <a:pathLst>
              <a:path w="7219821" h="5089495">
                <a:moveTo>
                  <a:pt x="0" y="0"/>
                </a:moveTo>
                <a:lnTo>
                  <a:pt x="7219821" y="0"/>
                </a:lnTo>
                <a:lnTo>
                  <a:pt x="7219821" y="5089495"/>
                </a:lnTo>
                <a:lnTo>
                  <a:pt x="0" y="5089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58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55256" y="504825"/>
            <a:ext cx="688473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SLIIT · Group R26-IT-128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85587" y="2247900"/>
            <a:ext cx="6228640" cy="14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4200" b="1" dirty="0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Commercialization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03783" y="3848100"/>
            <a:ext cx="6893891" cy="3656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Bridges the gap between academic curriculum and rapid industry shifts.</a:t>
            </a:r>
          </a:p>
          <a:p>
            <a:pPr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indent="-457200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B2C: undergraduates get personalized, data-driven career roadmaps. </a:t>
            </a:r>
          </a:p>
          <a:p>
            <a:pPr marL="457200" indent="-457200">
              <a:lnSpc>
                <a:spcPts val="3640"/>
              </a:lnSpc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indent="-457200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B2B: institutions optimize their syllabus using our 12-week market forecasts.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305</Words>
  <Application>Microsoft Office PowerPoint</Application>
  <PresentationFormat>Custom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Roboto Bold</vt:lpstr>
      <vt:lpstr>Inter</vt:lpstr>
      <vt:lpstr>Arial</vt:lpstr>
      <vt:lpstr>Calibri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Navy and White Minimalist Simple Research Project Presentation</dc:title>
  <dc:creator>ACER</dc:creator>
  <cp:lastModifiedBy>RATHNAYAKE K D V it22154408</cp:lastModifiedBy>
  <cp:revision>24</cp:revision>
  <dcterms:created xsi:type="dcterms:W3CDTF">2006-08-16T00:00:00Z</dcterms:created>
  <dcterms:modified xsi:type="dcterms:W3CDTF">2026-08-30T16:31:07Z</dcterms:modified>
  <dc:identifier>DAHTtW8FImA</dc:identifier>
</cp:coreProperties>
</file>