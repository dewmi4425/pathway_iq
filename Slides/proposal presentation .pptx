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9"/>
  </p:notesMasterIdLst>
  <p:sldIdLst>
    <p:sldId id="256" r:id="rId3"/>
    <p:sldId id="258" r:id="rId4"/>
    <p:sldId id="257" r:id="rId5"/>
    <p:sldId id="289" r:id="rId6"/>
    <p:sldId id="290" r:id="rId7"/>
    <p:sldId id="270" r:id="rId8"/>
    <p:sldId id="292" r:id="rId9"/>
    <p:sldId id="276" r:id="rId10"/>
    <p:sldId id="277" r:id="rId11"/>
    <p:sldId id="298" r:id="rId12"/>
    <p:sldId id="274" r:id="rId13"/>
    <p:sldId id="275" r:id="rId14"/>
    <p:sldId id="300" r:id="rId15"/>
    <p:sldId id="301" r:id="rId16"/>
    <p:sldId id="282" r:id="rId17"/>
    <p:sldId id="283" r:id="rId18"/>
    <p:sldId id="284" r:id="rId19"/>
    <p:sldId id="285" r:id="rId20"/>
    <p:sldId id="304" r:id="rId21"/>
    <p:sldId id="296" r:id="rId22"/>
    <p:sldId id="294" r:id="rId23"/>
    <p:sldId id="267" r:id="rId24"/>
    <p:sldId id="288" r:id="rId25"/>
    <p:sldId id="268" r:id="rId26"/>
    <p:sldId id="286" r:id="rId27"/>
    <p:sldId id="287" r:id="rId28"/>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5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369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9820-1D5A-4A85-8ED0-8C11C8905354}"/>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4734D7B0-2496-43ED-B620-609057219732}"/>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US"/>
          </a:p>
        </p:txBody>
      </p:sp>
      <p:sp>
        <p:nvSpPr>
          <p:cNvPr id="4" name="Slide Number Placeholder 3">
            <a:extLst>
              <a:ext uri="{FF2B5EF4-FFF2-40B4-BE49-F238E27FC236}">
                <a16:creationId xmlns:a16="http://schemas.microsoft.com/office/drawing/2014/main" id="{E4807C46-56F8-49A6-A7C8-D1E3F1051482}"/>
              </a:ext>
            </a:extLst>
          </p:cNvPr>
          <p:cNvSpPr txBox="1"/>
          <p:nvPr/>
        </p:nvSpPr>
        <p:spPr>
          <a:xfrm>
            <a:off x="0" y="0"/>
            <a:ext cx="0" cy="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C8D2295-F872-46C6-A854-8C31F1D19010}" type="slidenum">
              <a:t>1</a:t>
            </a:fld>
            <a:endParaRPr lang="en-US" sz="1800" b="0" i="0" u="none" strike="noStrike" kern="1200" cap="none" spc="0" baseline="0">
              <a:solidFill>
                <a:srgbClr val="000000"/>
              </a:solidFill>
              <a:uFillTx/>
              <a:latin typeface="Apto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D0181-96A9-459E-8DAF-072103CD7C51}"/>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D02F258B-1905-4BF0-852D-4058BE650AC4}"/>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US"/>
          </a:p>
        </p:txBody>
      </p:sp>
      <p:sp>
        <p:nvSpPr>
          <p:cNvPr id="4" name="Slide Number Placeholder 3">
            <a:extLst>
              <a:ext uri="{FF2B5EF4-FFF2-40B4-BE49-F238E27FC236}">
                <a16:creationId xmlns:a16="http://schemas.microsoft.com/office/drawing/2014/main" id="{2EAC220C-B867-4C24-94B9-9F283EBEDF24}"/>
              </a:ext>
            </a:extLst>
          </p:cNvPr>
          <p:cNvSpPr txBox="1"/>
          <p:nvPr/>
        </p:nvSpPr>
        <p:spPr>
          <a:xfrm>
            <a:off x="0" y="0"/>
            <a:ext cx="0" cy="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BBF6A28-CACD-43E1-91AC-301BE735A0AC}" type="slidenum">
              <a:t>2</a:t>
            </a:fld>
            <a:endParaRPr lang="en-US" sz="1800" b="0" i="0" u="none" strike="noStrike" kern="1200" cap="none" spc="0" baseline="0">
              <a:solidFill>
                <a:srgbClr val="000000"/>
              </a:solidFill>
              <a:uFillTx/>
              <a:latin typeface="Apto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536ED-E79F-4A8C-B641-9CEC099FAF34}"/>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44700CA4-0AA6-4EDC-88F7-3A1C8CAC5E8B}"/>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US"/>
          </a:p>
        </p:txBody>
      </p:sp>
      <p:sp>
        <p:nvSpPr>
          <p:cNvPr id="4" name="Slide Number Placeholder 3">
            <a:extLst>
              <a:ext uri="{FF2B5EF4-FFF2-40B4-BE49-F238E27FC236}">
                <a16:creationId xmlns:a16="http://schemas.microsoft.com/office/drawing/2014/main" id="{D18140E0-6B3B-4CC4-8F15-A1AAD0A0573A}"/>
              </a:ext>
            </a:extLst>
          </p:cNvPr>
          <p:cNvSpPr txBox="1"/>
          <p:nvPr/>
        </p:nvSpPr>
        <p:spPr>
          <a:xfrm>
            <a:off x="0" y="0"/>
            <a:ext cx="0" cy="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59CB7F8-2FFE-441F-BA61-F9C6819FE283}" type="slidenum">
              <a:t>3</a:t>
            </a:fld>
            <a:endParaRPr lang="en-US" sz="1800" b="0" i="0" u="none" strike="noStrike" kern="1200" cap="none" spc="0" baseline="0">
              <a:solidFill>
                <a:srgbClr val="000000"/>
              </a:solidFill>
              <a:uFillTx/>
              <a:latin typeface="Apto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25494-2D47-4DEE-837D-5A9493972324}"/>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A160E1D4-E03F-4023-91B3-FEC0B094DA93}"/>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US"/>
          </a:p>
        </p:txBody>
      </p:sp>
      <p:sp>
        <p:nvSpPr>
          <p:cNvPr id="4" name="Slide Number Placeholder 3">
            <a:extLst>
              <a:ext uri="{FF2B5EF4-FFF2-40B4-BE49-F238E27FC236}">
                <a16:creationId xmlns:a16="http://schemas.microsoft.com/office/drawing/2014/main" id="{3D8F334C-E12E-4D54-870F-B20D88DAF3D6}"/>
              </a:ext>
            </a:extLst>
          </p:cNvPr>
          <p:cNvSpPr txBox="1"/>
          <p:nvPr/>
        </p:nvSpPr>
        <p:spPr>
          <a:xfrm>
            <a:off x="0" y="0"/>
            <a:ext cx="0" cy="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BA06C6D-A9B0-43B8-9F92-81B01B0E0FF4}" type="slidenum">
              <a:t>4</a:t>
            </a:fld>
            <a:endParaRPr lang="en-US" sz="1800" b="0" i="0" u="none" strike="noStrike" kern="1200" cap="none" spc="0" baseline="0">
              <a:solidFill>
                <a:srgbClr val="000000"/>
              </a:solidFill>
              <a:uFillTx/>
              <a:latin typeface="Apto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0769D-FA2A-4A2D-87BD-EE2105277343}"/>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3B75183E-A58C-4B8A-8B71-5F9F3E62080E}"/>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US"/>
          </a:p>
        </p:txBody>
      </p:sp>
      <p:sp>
        <p:nvSpPr>
          <p:cNvPr id="4" name="Slide Number Placeholder 3">
            <a:extLst>
              <a:ext uri="{FF2B5EF4-FFF2-40B4-BE49-F238E27FC236}">
                <a16:creationId xmlns:a16="http://schemas.microsoft.com/office/drawing/2014/main" id="{0106938C-64A7-4A95-B9F5-CE686C3174B0}"/>
              </a:ext>
            </a:extLst>
          </p:cNvPr>
          <p:cNvSpPr txBox="1"/>
          <p:nvPr/>
        </p:nvSpPr>
        <p:spPr>
          <a:xfrm>
            <a:off x="0" y="0"/>
            <a:ext cx="0" cy="0"/>
          </a:xfrm>
          <a:prstGeom prst="rect">
            <a:avLst/>
          </a:prstGeom>
          <a:noFill/>
          <a:ln cap="flat">
            <a:noFill/>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5DE85B0A-8844-4CC7-A8AC-FE03387C3FE0}" type="slidenum">
              <a:t>5</a:t>
            </a:fld>
            <a:endParaRPr lang="en-US" sz="1800" b="0" i="0" u="none" strike="noStrike" kern="1200" cap="none" spc="0" baseline="0">
              <a:solidFill>
                <a:srgbClr val="000000"/>
              </a:solidFill>
              <a:uFillTx/>
              <a:latin typeface="Apto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110C7-D125-4835-9CE9-608C9FF7944E}"/>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B7A0393D-A1E3-444B-B04F-C86200608A7B}"/>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709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22AF56E-4469-4E9A-AFDB-BF594D08BCA5}"/>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24419E41-86EF-4743-8C8B-286F5B022082}"/>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67856BD3-BA5F-4B5B-9279-8128A6C66A02}"/>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408236748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286B8C6-C5EF-4859-8299-ACE1B1F9AABD}"/>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93AAE638-1872-426F-A58B-2631FDA02063}"/>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2C382C03-7AB0-4E2A-851B-37CAAFD8B37C}"/>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252974109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4B09D27-4308-4B4A-86EF-6A01802B9873}"/>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C78D2B94-D6D4-4437-83DB-4A04368C6E58}"/>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405A6888-D1B5-4E93-9010-EB29AD9C9DDF}"/>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397140996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EE6E222-ABA7-4438-BB78-E82CAB145955}"/>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EFA305E2-8185-456C-B939-7E1D68C605DA}"/>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CBAE2EF2-FFAB-440D-B744-25960BBCD7A6}"/>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47387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FB4B78E-8967-4289-920A-3DACDA63F0A0}"/>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C726F0AE-8C0E-4C2B-8495-D96048793E4C}"/>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0AE173C8-2A18-4D80-B712-A4E12E538424}"/>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242315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7872AE0-F89C-4972-98B0-3D6EC333EA2D}"/>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6F4375AE-C143-41ED-8832-935CCD2D1DB4}"/>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4" name="Image 1" descr="preencoded.png">
            <a:hlinkClick r:id="rId3"/>
            <a:extLst>
              <a:ext uri="{FF2B5EF4-FFF2-40B4-BE49-F238E27FC236}">
                <a16:creationId xmlns:a16="http://schemas.microsoft.com/office/drawing/2014/main" id="{04147079-6601-44CB-A778-CB545D114886}"/>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062113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7C210D4-EE6E-4F7C-990E-0D393F67BE1C}"/>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F3D586E4-6703-4DBC-B352-BCBCC143CA79}"/>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4" name="Image 1" descr="preencoded.png">
            <a:hlinkClick r:id="rId3"/>
            <a:extLst>
              <a:ext uri="{FF2B5EF4-FFF2-40B4-BE49-F238E27FC236}">
                <a16:creationId xmlns:a16="http://schemas.microsoft.com/office/drawing/2014/main" id="{21EA123C-F6A0-4E29-B5E3-A82118856937}"/>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949415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63999A4-12BC-4678-9947-50574285B65F}"/>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9AD656B8-E69C-4A89-AB60-E426AF002DF9}"/>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4" name="Image 1" descr="preencoded.png">
            <a:hlinkClick r:id="rId3"/>
            <a:extLst>
              <a:ext uri="{FF2B5EF4-FFF2-40B4-BE49-F238E27FC236}">
                <a16:creationId xmlns:a16="http://schemas.microsoft.com/office/drawing/2014/main" id="{05F1ECD2-3091-4F1D-8B00-D478C9D1D20A}"/>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010341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7AD59D7-A117-40C1-B8FB-B2816C099EBB}"/>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E4DFF9E0-E237-458B-9D1B-836A0CDD3651}"/>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4" name="Image 1" descr="preencoded.png">
            <a:hlinkClick r:id="rId3"/>
            <a:extLst>
              <a:ext uri="{FF2B5EF4-FFF2-40B4-BE49-F238E27FC236}">
                <a16:creationId xmlns:a16="http://schemas.microsoft.com/office/drawing/2014/main" id="{D9BFFC01-EB2A-4A05-B855-6F860A4815E9}"/>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013167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D1FF609-308D-4DC0-AC47-DDA7D24D4A5A}"/>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7C6433F7-3E91-4875-8881-D2008CA3403F}"/>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BFAB7250-75F2-402E-9D99-C5E0CDF422E2}"/>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3543503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2975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B5B6141-7FB8-4066-8D7C-6E26735721C9}"/>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21F4D5F1-D2C5-4DF6-9F2D-83EDED9CF9D6}"/>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690E57C5-7203-461D-B31A-DD7EBC6ED70C}"/>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809364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B89EBA4-3412-4EA2-A245-2542CE8E4AB7}"/>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1BC5D67E-3C22-4F30-8225-6041B9568E53}"/>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9395979D-308E-44B0-BB48-0FF9FB12CD56}"/>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35039540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26D61FF-AFED-4B57-A48B-8E5D440EAC7B}"/>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CEE0C9B1-B0E8-425C-8218-13D17CF48929}"/>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7086F8EF-D28B-4DDB-8AB1-BA9E33BAE7A3}"/>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3482346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218D618-CD97-43CB-868C-6CD03AFE2D46}"/>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DA6B8522-6B4C-470D-8C29-F37D9504FED8}"/>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9723311D-179A-4469-831D-B0D6BC267EC7}"/>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34112112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0771174-5134-45FB-B944-F3F74AFA1862}"/>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6995A9CC-7628-4E5E-BE20-5636BF20212E}"/>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01E080B0-7FE6-431B-995E-458BA5C7B003}"/>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8346389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4A788B4-D2E7-4FA6-8DCD-ABCD271C73FC}"/>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4A80EDF1-B4EB-43DF-A35A-19732F2FC69B}"/>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4" name="Image 1" descr="preencoded.png">
            <a:hlinkClick r:id="rId3"/>
            <a:extLst>
              <a:ext uri="{FF2B5EF4-FFF2-40B4-BE49-F238E27FC236}">
                <a16:creationId xmlns:a16="http://schemas.microsoft.com/office/drawing/2014/main" id="{2DEDF841-7742-45C5-9D27-231A51C90480}"/>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34385639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7BF27FC-739C-4C56-A8C0-6023A5E87732}"/>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C034079E-936C-4E83-B2BA-E21F54A9DAA5}"/>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4" name="Image 1" descr="preencoded.png">
            <a:hlinkClick r:id="rId3"/>
            <a:extLst>
              <a:ext uri="{FF2B5EF4-FFF2-40B4-BE49-F238E27FC236}">
                <a16:creationId xmlns:a16="http://schemas.microsoft.com/office/drawing/2014/main" id="{86865DE7-0C56-43FD-A747-765E5DF2A055}"/>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0214081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56E6787-1E45-4B63-9931-8360C27C560E}"/>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CD71AEF1-B6EB-4154-8E41-B7462B59284C}"/>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4" name="Image 1" descr="preencoded.png">
            <a:hlinkClick r:id="rId3"/>
            <a:extLst>
              <a:ext uri="{FF2B5EF4-FFF2-40B4-BE49-F238E27FC236}">
                <a16:creationId xmlns:a16="http://schemas.microsoft.com/office/drawing/2014/main" id="{D0FFBED7-EEDF-4271-B8FF-91536ED69B69}"/>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30848934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5F06D54-C370-466A-9AE0-16BB53F6D350}"/>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AAC6A94A-8B11-4CD7-9B23-10A17920AB13}"/>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4" name="Image 1" descr="preencoded.png">
            <a:hlinkClick r:id="rId3"/>
            <a:extLst>
              <a:ext uri="{FF2B5EF4-FFF2-40B4-BE49-F238E27FC236}">
                <a16:creationId xmlns:a16="http://schemas.microsoft.com/office/drawing/2014/main" id="{D0B2DD4C-C8F9-425A-9D27-093234C2BCC1}"/>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40359731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CDE4BCC-1CDE-4B47-A546-ADD28977A821}"/>
              </a:ext>
            </a:extLst>
          </p:cNvPr>
          <p:cNvPicPr>
            <a:picLocks noChangeAspect="1"/>
          </p:cNvPicPr>
          <p:nvPr/>
        </p:nvPicPr>
        <p:blipFill>
          <a:blip r:embed="rId2"/>
          <a:stretch>
            <a:fillRect/>
          </a:stretch>
        </p:blipFill>
        <p:spPr>
          <a:xfrm>
            <a:off x="0" y="0"/>
            <a:ext cx="14630400" cy="8229600"/>
          </a:xfrm>
          <a:prstGeom prst="rect">
            <a:avLst/>
          </a:prstGeom>
          <a:noFill/>
          <a:ln cap="flat">
            <a:noFill/>
          </a:ln>
        </p:spPr>
      </p:pic>
      <p:sp>
        <p:nvSpPr>
          <p:cNvPr id="3" name="Shape 0">
            <a:extLst>
              <a:ext uri="{FF2B5EF4-FFF2-40B4-BE49-F238E27FC236}">
                <a16:creationId xmlns:a16="http://schemas.microsoft.com/office/drawing/2014/main" id="{EC1D319C-7391-4869-B591-1E1DFB1E10B7}"/>
              </a:ext>
            </a:extLst>
          </p:cNvPr>
          <p:cNvSpPr/>
          <p:nvPr/>
        </p:nvSpPr>
        <p:spPr>
          <a:xfrm>
            <a:off x="0" y="0"/>
            <a:ext cx="14630400" cy="8229600"/>
          </a:xfrm>
          <a:prstGeom prst="rect">
            <a:avLst/>
          </a:prstGeom>
          <a:solidFill>
            <a:srgbClr val="FFFFFF">
              <a:alpha val="9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4" name="Image 1" descr="preencoded.png">
            <a:hlinkClick r:id="rId3"/>
            <a:extLst>
              <a:ext uri="{FF2B5EF4-FFF2-40B4-BE49-F238E27FC236}">
                <a16:creationId xmlns:a16="http://schemas.microsoft.com/office/drawing/2014/main" id="{E7A2B657-AF20-4D07-9D56-B354511AFC99}"/>
              </a:ext>
            </a:extLst>
          </p:cNvPr>
          <p:cNvPicPr>
            <a:picLocks noChangeAspect="1"/>
          </p:cNvPicPr>
          <p:nvPr/>
        </p:nvPicPr>
        <p:blipFill>
          <a:blip r:embed="rId4"/>
          <a:stretch>
            <a:fillRect/>
          </a:stretch>
        </p:blipFill>
        <p:spPr>
          <a:xfrm>
            <a:off x="12839218" y="7749540"/>
            <a:ext cx="1722601" cy="411480"/>
          </a:xfrm>
          <a:prstGeom prst="rect">
            <a:avLst/>
          </a:prstGeom>
          <a:noFill/>
          <a:ln cap="flat">
            <a:noFill/>
          </a:ln>
        </p:spPr>
      </p:pic>
    </p:spTree>
    <p:extLst>
      <p:ext uri="{BB962C8B-B14F-4D97-AF65-F5344CB8AC3E}">
        <p14:creationId xmlns:p14="http://schemas.microsoft.com/office/powerpoint/2010/main" val="1657125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13.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13.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3.jpe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3.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5.jpe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3.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sv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 person standing next to a machine&#10;&#10;AI-generated content may be incorrect.">
            <a:extLst>
              <a:ext uri="{FF2B5EF4-FFF2-40B4-BE49-F238E27FC236}">
                <a16:creationId xmlns:a16="http://schemas.microsoft.com/office/drawing/2014/main" id="{4178434D-76D3-4BDC-8D0C-186F4D731D2B}"/>
              </a:ext>
            </a:extLst>
          </p:cNvPr>
          <p:cNvPicPr>
            <a:picLocks noChangeAspect="1"/>
          </p:cNvPicPr>
          <p:nvPr/>
        </p:nvPicPr>
        <p:blipFill>
          <a:blip r:embed="rId3"/>
          <a:stretch>
            <a:fillRect/>
          </a:stretch>
        </p:blipFill>
        <p:spPr>
          <a:xfrm>
            <a:off x="482108" y="1050874"/>
            <a:ext cx="5294897" cy="5471751"/>
          </a:xfrm>
          <a:prstGeom prst="rect">
            <a:avLst/>
          </a:prstGeom>
          <a:noFill/>
          <a:ln w="63495" cap="rnd">
            <a:solidFill>
              <a:srgbClr val="333333"/>
            </a:solidFill>
            <a:prstDash val="solid"/>
            <a:miter/>
          </a:ln>
          <a:effectLst>
            <a:outerShdw dist="292095" dir="5400000" algn="tl">
              <a:srgbClr val="000000">
                <a:alpha val="22000"/>
              </a:srgbClr>
            </a:outerShdw>
          </a:effectLst>
        </p:spPr>
      </p:pic>
      <p:sp>
        <p:nvSpPr>
          <p:cNvPr id="3" name="Text 1">
            <a:extLst>
              <a:ext uri="{FF2B5EF4-FFF2-40B4-BE49-F238E27FC236}">
                <a16:creationId xmlns:a16="http://schemas.microsoft.com/office/drawing/2014/main" id="{361767B6-C5C2-48DE-83A1-CB420B585F0B}"/>
              </a:ext>
            </a:extLst>
          </p:cNvPr>
          <p:cNvSpPr/>
          <p:nvPr/>
        </p:nvSpPr>
        <p:spPr>
          <a:xfrm>
            <a:off x="6262935" y="5770110"/>
            <a:ext cx="7556418" cy="1088712"/>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2C2926"/>
                </a:solidFill>
                <a:uFillTx/>
                <a:latin typeface="Calibri"/>
                <a:ea typeface="Inter"/>
                <a:cs typeface="Inter" pitchFamily="34"/>
              </a:rPr>
              <a:t>Project: </a:t>
            </a:r>
            <a:r>
              <a:rPr lang="en-US" sz="2000" b="0" i="0" u="none" strike="noStrike" kern="1200" cap="none" spc="0" baseline="0">
                <a:solidFill>
                  <a:srgbClr val="2C2926"/>
                </a:solidFill>
                <a:uFillTx/>
                <a:latin typeface="Calibri"/>
                <a:ea typeface="Calibri"/>
                <a:cs typeface="Calibri"/>
              </a:rPr>
              <a:t>R26-IT-128 </a:t>
            </a:r>
            <a:r>
              <a:rPr lang="en-US" sz="2000" b="0" i="0" u="none" strike="noStrike" kern="1200" cap="none" spc="0" baseline="0">
                <a:solidFill>
                  <a:srgbClr val="2C2926"/>
                </a:solidFill>
                <a:uFillTx/>
                <a:latin typeface="Calibri"/>
                <a:ea typeface="Inter"/>
                <a:cs typeface="Inter" pitchFamily="34"/>
              </a:rPr>
              <a:t> | March 2026 </a:t>
            </a:r>
            <a:endParaRPr lang="en-US" sz="2000" b="0" i="0" u="none" strike="noStrike" kern="1200" cap="none" spc="0" baseline="0">
              <a:solidFill>
                <a:srgbClr val="000000"/>
              </a:solidFill>
              <a:uFillTx/>
              <a:latin typeface="Calibri"/>
              <a:ea typeface="Inter"/>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2C2926"/>
                </a:solidFill>
                <a:uFillTx/>
                <a:latin typeface="Calibri"/>
                <a:ea typeface="Calibri"/>
                <a:cs typeface="Calibri"/>
              </a:rPr>
              <a:t>Undergraduate research project focused on semantic career guidance, CV-job matching,</a:t>
            </a:r>
            <a:endParaRPr lang="en-US" sz="1800" b="0" i="0" u="none" strike="noStrike" kern="1200" cap="none" spc="0" baseline="0">
              <a:solidFill>
                <a:srgbClr val="000000"/>
              </a:solidFill>
              <a:uFillTx/>
              <a:latin typeface="Calibri"/>
            </a:endParaRPr>
          </a:p>
          <a:p>
            <a:pPr marL="0" marR="0" lvl="0" indent="0" algn="l"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2C2926"/>
                </a:solidFill>
                <a:uFillTx/>
                <a:latin typeface="Calibri"/>
                <a:ea typeface="Calibri"/>
                <a:cs typeface="Calibri"/>
              </a:rPr>
              <a:t>and interview simulation for the evolving Sri Lankan IT job market.</a:t>
            </a:r>
            <a:endParaRPr lang="en-US" sz="1800" b="0" i="0" u="none" strike="noStrike" kern="1200" cap="none" spc="0" baseline="0">
              <a:solidFill>
                <a:srgbClr val="000000"/>
              </a:solidFill>
              <a:uFillTx/>
              <a:latin typeface="Calibri"/>
            </a:endParaRPr>
          </a:p>
        </p:txBody>
      </p:sp>
      <p:sp>
        <p:nvSpPr>
          <p:cNvPr id="4" name="Rectangle 9">
            <a:extLst>
              <a:ext uri="{FF2B5EF4-FFF2-40B4-BE49-F238E27FC236}">
                <a16:creationId xmlns:a16="http://schemas.microsoft.com/office/drawing/2014/main" id="{829A0E80-1BD9-4CEC-BD64-8A8C403B9842}"/>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pic>
        <p:nvPicPr>
          <p:cNvPr id="5" name="Picture 10">
            <a:extLst>
              <a:ext uri="{FF2B5EF4-FFF2-40B4-BE49-F238E27FC236}">
                <a16:creationId xmlns:a16="http://schemas.microsoft.com/office/drawing/2014/main" id="{D0804FB8-11DF-44CD-909E-C247AB1841A9}"/>
              </a:ext>
            </a:extLst>
          </p:cNvPr>
          <p:cNvPicPr>
            <a:picLocks noChangeAspect="1"/>
          </p:cNvPicPr>
          <p:nvPr/>
        </p:nvPicPr>
        <p:blipFill>
          <a:blip r:embed="rId4"/>
          <a:stretch>
            <a:fillRect/>
          </a:stretch>
        </p:blipFill>
        <p:spPr>
          <a:xfrm>
            <a:off x="11902150" y="7714097"/>
            <a:ext cx="2661342" cy="451137"/>
          </a:xfrm>
          <a:prstGeom prst="rect">
            <a:avLst/>
          </a:prstGeom>
          <a:noFill/>
          <a:ln cap="flat">
            <a:noFill/>
          </a:ln>
        </p:spPr>
      </p:pic>
      <p:sp>
        <p:nvSpPr>
          <p:cNvPr id="6" name="Text 3">
            <a:extLst>
              <a:ext uri="{FF2B5EF4-FFF2-40B4-BE49-F238E27FC236}">
                <a16:creationId xmlns:a16="http://schemas.microsoft.com/office/drawing/2014/main" id="{93CF68FA-7352-4D8A-8041-73E0BF66FD2A}"/>
              </a:ext>
            </a:extLst>
          </p:cNvPr>
          <p:cNvSpPr/>
          <p:nvPr/>
        </p:nvSpPr>
        <p:spPr>
          <a:xfrm>
            <a:off x="6797777" y="1271144"/>
            <a:ext cx="7016712" cy="10887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000000"/>
                </a:solidFill>
                <a:uFillTx/>
                <a:latin typeface="Calibri"/>
                <a:ea typeface="Calibri"/>
                <a:cs typeface="Calibri"/>
              </a:rPr>
              <a:t>Skill Forecasting and</a:t>
            </a:r>
            <a:endParaRPr lang="en-US" sz="1800" b="1" i="0" u="none" strike="noStrike" kern="1200" cap="none" spc="0" baseline="0">
              <a:solidFill>
                <a:srgbClr val="000000"/>
              </a:solidFill>
              <a:uFillTx/>
              <a:latin typeface="Calibri"/>
              <a:ea typeface="Calibri"/>
              <a:cs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000000"/>
                </a:solidFill>
                <a:uFillTx/>
                <a:latin typeface="Calibri"/>
                <a:ea typeface="Calibri"/>
                <a:cs typeface="Calibri"/>
              </a:rPr>
              <a:t>Semantic Career Pathway</a:t>
            </a:r>
            <a:endParaRPr lang="en-US" sz="1800" b="1" i="0" u="none" strike="noStrike" kern="1200" cap="none" spc="0" baseline="0">
              <a:solidFill>
                <a:srgbClr val="000000"/>
              </a:solidFill>
              <a:uFillTx/>
              <a:latin typeface="Calibri"/>
              <a:ea typeface="Calibri"/>
              <a:cs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000000"/>
                </a:solidFill>
                <a:uFillTx/>
                <a:latin typeface="Calibri"/>
                <a:ea typeface="Calibri"/>
                <a:cs typeface="Calibri"/>
              </a:rPr>
              <a:t>Optimization Ecosystem</a:t>
            </a:r>
            <a:endParaRPr lang="en-US" sz="1800" b="1" i="0" u="none" strike="noStrike" kern="1200" cap="none" spc="0" baseline="0">
              <a:solidFill>
                <a:srgbClr val="000000"/>
              </a:solidFill>
              <a:uFillTx/>
              <a:latin typeface="Calibri"/>
            </a:endParaRPr>
          </a:p>
        </p:txBody>
      </p:sp>
      <p:sp>
        <p:nvSpPr>
          <p:cNvPr id="7" name="Text 4">
            <a:extLst>
              <a:ext uri="{FF2B5EF4-FFF2-40B4-BE49-F238E27FC236}">
                <a16:creationId xmlns:a16="http://schemas.microsoft.com/office/drawing/2014/main" id="{5D1E8E80-BEB0-4E9C-989F-726608D38CB0}"/>
              </a:ext>
            </a:extLst>
          </p:cNvPr>
          <p:cNvSpPr/>
          <p:nvPr/>
        </p:nvSpPr>
        <p:spPr>
          <a:xfrm>
            <a:off x="6280190" y="3178033"/>
            <a:ext cx="7740606" cy="159699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600" b="1" i="0" u="none" strike="noStrike" kern="1200" cap="none" spc="0" baseline="0">
                <a:solidFill>
                  <a:srgbClr val="000000"/>
                </a:solidFill>
                <a:uFillTx/>
                <a:latin typeface="Calibri"/>
                <a:ea typeface="Calibri"/>
                <a:cs typeface="Calibri"/>
              </a:rPr>
              <a:t>for Undergraduates</a:t>
            </a:r>
            <a:endParaRPr lang="en-US" sz="1800" b="1" i="0" u="none" strike="noStrike" kern="1200" cap="none" spc="0" baseline="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Al-driven career intelligence ecosystem for Sri Lankan IT undergraduates</a:t>
            </a:r>
            <a:endParaRPr lang="en-US" sz="2000" b="0" i="0" u="none" strike="noStrike" kern="1200" cap="none" spc="0" baseline="0">
              <a:solidFill>
                <a:srgbClr val="000000"/>
              </a:solidFill>
              <a:uFillTx/>
              <a:latin typeface="Calibri"/>
            </a:endParaRPr>
          </a:p>
        </p:txBody>
      </p:sp>
      <p:grpSp>
        <p:nvGrpSpPr>
          <p:cNvPr id="8" name="Group 6">
            <a:extLst>
              <a:ext uri="{FF2B5EF4-FFF2-40B4-BE49-F238E27FC236}">
                <a16:creationId xmlns:a16="http://schemas.microsoft.com/office/drawing/2014/main" id="{7CC4916B-E05F-4FE3-92C6-905A98EEFD22}"/>
              </a:ext>
            </a:extLst>
          </p:cNvPr>
          <p:cNvGrpSpPr/>
          <p:nvPr/>
        </p:nvGrpSpPr>
        <p:grpSpPr>
          <a:xfrm>
            <a:off x="6280190" y="4603848"/>
            <a:ext cx="8055086" cy="749597"/>
            <a:chOff x="6280190" y="4603848"/>
            <a:chExt cx="8055086" cy="749597"/>
          </a:xfrm>
        </p:grpSpPr>
        <p:sp>
          <p:nvSpPr>
            <p:cNvPr id="9" name="Shape 5">
              <a:extLst>
                <a:ext uri="{FF2B5EF4-FFF2-40B4-BE49-F238E27FC236}">
                  <a16:creationId xmlns:a16="http://schemas.microsoft.com/office/drawing/2014/main" id="{A21F5EF6-56AA-4FDF-A440-0CCA5570D978}"/>
                </a:ext>
              </a:extLst>
            </p:cNvPr>
            <p:cNvSpPr/>
            <p:nvPr/>
          </p:nvSpPr>
          <p:spPr>
            <a:xfrm>
              <a:off x="6280190" y="4603848"/>
              <a:ext cx="1812862" cy="749597"/>
            </a:xfrm>
            <a:custGeom>
              <a:avLst/>
              <a:gdLst>
                <a:gd name="f0" fmla="val 10800000"/>
                <a:gd name="f1" fmla="val 5400000"/>
                <a:gd name="f2" fmla="val 16200000"/>
                <a:gd name="f3" fmla="val w"/>
                <a:gd name="f4" fmla="val h"/>
                <a:gd name="f5" fmla="val ss"/>
                <a:gd name="f6" fmla="val 0"/>
                <a:gd name="f7" fmla="*/ 5419351 1 1725033"/>
                <a:gd name="f8" fmla="val 45"/>
                <a:gd name="f9" fmla="val 2571"/>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0" name="Image 2" descr="preencoded.png">
              <a:extLst>
                <a:ext uri="{FF2B5EF4-FFF2-40B4-BE49-F238E27FC236}">
                  <a16:creationId xmlns:a16="http://schemas.microsoft.com/office/drawing/2014/main" id="{B88FC33F-5109-4942-83C4-7DDF1D2B7384}"/>
                </a:ext>
              </a:extLst>
            </p:cNvPr>
            <p:cNvPicPr>
              <a:picLocks noChangeAspect="1"/>
            </p:cNvPicPr>
            <p:nvPr/>
          </p:nvPicPr>
          <p:blipFill>
            <a:blip r:embed="rId5"/>
            <a:stretch>
              <a:fillRect/>
            </a:stretch>
          </p:blipFill>
          <p:spPr>
            <a:xfrm>
              <a:off x="6357009" y="4693084"/>
              <a:ext cx="460894" cy="535426"/>
            </a:xfrm>
            <a:prstGeom prst="rect">
              <a:avLst/>
            </a:prstGeom>
            <a:noFill/>
            <a:ln cap="flat">
              <a:noFill/>
            </a:ln>
          </p:spPr>
        </p:pic>
        <p:sp>
          <p:nvSpPr>
            <p:cNvPr id="11" name="Text 6">
              <a:extLst>
                <a:ext uri="{FF2B5EF4-FFF2-40B4-BE49-F238E27FC236}">
                  <a16:creationId xmlns:a16="http://schemas.microsoft.com/office/drawing/2014/main" id="{18E48B4F-C329-4634-9028-F57138A82079}"/>
                </a:ext>
              </a:extLst>
            </p:cNvPr>
            <p:cNvSpPr/>
            <p:nvPr/>
          </p:nvSpPr>
          <p:spPr>
            <a:xfrm>
              <a:off x="7003901" y="4639546"/>
              <a:ext cx="1351967" cy="67821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ea typeface="Calibri"/>
                  <a:cs typeface="Calibri"/>
                </a:rPr>
                <a:t>Skill </a:t>
              </a:r>
              <a:endParaRPr lang="en-US" sz="1800" b="0" i="0" u="none" strike="noStrike" kern="1200" cap="none" spc="0" baseline="0">
                <a:solidFill>
                  <a:srgbClr val="000000"/>
                </a:solidFill>
                <a:uFillTx/>
                <a:latin typeface="Calibri"/>
                <a:ea typeface="Calibri"/>
                <a:cs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ea typeface="Calibri"/>
                  <a:cs typeface="Calibri"/>
                </a:rPr>
                <a:t>Forecasting</a:t>
              </a:r>
              <a:endParaRPr lang="en-US" sz="1800" b="0" i="0" u="none" strike="noStrike" kern="1200" cap="none" spc="0" baseline="0">
                <a:solidFill>
                  <a:srgbClr val="000000"/>
                </a:solidFill>
                <a:uFillTx/>
                <a:latin typeface="Calibri"/>
                <a:ea typeface="Calibri"/>
                <a:cs typeface="Calibri"/>
              </a:endParaRPr>
            </a:p>
          </p:txBody>
        </p:sp>
        <p:sp>
          <p:nvSpPr>
            <p:cNvPr id="12" name="Shape 7">
              <a:extLst>
                <a:ext uri="{FF2B5EF4-FFF2-40B4-BE49-F238E27FC236}">
                  <a16:creationId xmlns:a16="http://schemas.microsoft.com/office/drawing/2014/main" id="{F82F0517-0EC2-4294-83B8-D4950762DBF4}"/>
                </a:ext>
              </a:extLst>
            </p:cNvPr>
            <p:cNvSpPr/>
            <p:nvPr/>
          </p:nvSpPr>
          <p:spPr>
            <a:xfrm>
              <a:off x="8277404" y="4603848"/>
              <a:ext cx="1812862" cy="749597"/>
            </a:xfrm>
            <a:custGeom>
              <a:avLst/>
              <a:gdLst>
                <a:gd name="f0" fmla="val 10800000"/>
                <a:gd name="f1" fmla="val 5400000"/>
                <a:gd name="f2" fmla="val 16200000"/>
                <a:gd name="f3" fmla="val w"/>
                <a:gd name="f4" fmla="val h"/>
                <a:gd name="f5" fmla="val ss"/>
                <a:gd name="f6" fmla="val 0"/>
                <a:gd name="f7" fmla="*/ 5419351 1 1725033"/>
                <a:gd name="f8" fmla="val 45"/>
                <a:gd name="f9" fmla="val 2571"/>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3" name="Image 3" descr="preencoded.png">
              <a:extLst>
                <a:ext uri="{FF2B5EF4-FFF2-40B4-BE49-F238E27FC236}">
                  <a16:creationId xmlns:a16="http://schemas.microsoft.com/office/drawing/2014/main" id="{2A38AF68-F0B9-427C-A31C-267796DD328C}"/>
                </a:ext>
              </a:extLst>
            </p:cNvPr>
            <p:cNvPicPr>
              <a:picLocks noChangeAspect="1"/>
            </p:cNvPicPr>
            <p:nvPr/>
          </p:nvPicPr>
          <p:blipFill>
            <a:blip r:embed="rId6"/>
            <a:stretch>
              <a:fillRect/>
            </a:stretch>
          </p:blipFill>
          <p:spPr>
            <a:xfrm>
              <a:off x="8354223" y="4693084"/>
              <a:ext cx="460894" cy="535426"/>
            </a:xfrm>
            <a:prstGeom prst="rect">
              <a:avLst/>
            </a:prstGeom>
            <a:noFill/>
            <a:ln cap="flat">
              <a:noFill/>
            </a:ln>
          </p:spPr>
        </p:pic>
        <p:sp>
          <p:nvSpPr>
            <p:cNvPr id="14" name="Text 8">
              <a:extLst>
                <a:ext uri="{FF2B5EF4-FFF2-40B4-BE49-F238E27FC236}">
                  <a16:creationId xmlns:a16="http://schemas.microsoft.com/office/drawing/2014/main" id="{00E821A1-07C9-43F9-80DC-123ECB309E4C}"/>
                </a:ext>
              </a:extLst>
            </p:cNvPr>
            <p:cNvSpPr/>
            <p:nvPr/>
          </p:nvSpPr>
          <p:spPr>
            <a:xfrm>
              <a:off x="8984117" y="4632752"/>
              <a:ext cx="1351967" cy="67821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ea typeface="Calibri"/>
                  <a:cs typeface="Calibri"/>
                </a:rPr>
                <a:t>Career Pathways</a:t>
              </a:r>
              <a:endParaRPr lang="en-US" sz="1800" b="0" i="0" u="none" strike="noStrike" kern="1200" cap="none" spc="0" baseline="0">
                <a:solidFill>
                  <a:srgbClr val="000000"/>
                </a:solidFill>
                <a:uFillTx/>
                <a:latin typeface="Calibri"/>
              </a:endParaRPr>
            </a:p>
          </p:txBody>
        </p:sp>
        <p:sp>
          <p:nvSpPr>
            <p:cNvPr id="15" name="Shape 9">
              <a:extLst>
                <a:ext uri="{FF2B5EF4-FFF2-40B4-BE49-F238E27FC236}">
                  <a16:creationId xmlns:a16="http://schemas.microsoft.com/office/drawing/2014/main" id="{A6A70D5D-0309-494C-8D7B-D8CB9125FEFC}"/>
                </a:ext>
              </a:extLst>
            </p:cNvPr>
            <p:cNvSpPr/>
            <p:nvPr/>
          </p:nvSpPr>
          <p:spPr>
            <a:xfrm>
              <a:off x="10274628" y="4603848"/>
              <a:ext cx="1812862" cy="749597"/>
            </a:xfrm>
            <a:custGeom>
              <a:avLst/>
              <a:gdLst>
                <a:gd name="f0" fmla="val 10800000"/>
                <a:gd name="f1" fmla="val 5400000"/>
                <a:gd name="f2" fmla="val 16200000"/>
                <a:gd name="f3" fmla="val w"/>
                <a:gd name="f4" fmla="val h"/>
                <a:gd name="f5" fmla="val ss"/>
                <a:gd name="f6" fmla="val 0"/>
                <a:gd name="f7" fmla="*/ 5419351 1 1725033"/>
                <a:gd name="f8" fmla="val 45"/>
                <a:gd name="f9" fmla="val 2571"/>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6" name="Image 4" descr="preencoded.png">
              <a:extLst>
                <a:ext uri="{FF2B5EF4-FFF2-40B4-BE49-F238E27FC236}">
                  <a16:creationId xmlns:a16="http://schemas.microsoft.com/office/drawing/2014/main" id="{48D2DEDD-034E-42C8-B86F-B31481E81814}"/>
                </a:ext>
              </a:extLst>
            </p:cNvPr>
            <p:cNvPicPr>
              <a:picLocks noChangeAspect="1"/>
            </p:cNvPicPr>
            <p:nvPr/>
          </p:nvPicPr>
          <p:blipFill>
            <a:blip r:embed="rId7"/>
            <a:stretch>
              <a:fillRect/>
            </a:stretch>
          </p:blipFill>
          <p:spPr>
            <a:xfrm>
              <a:off x="10351446" y="4693084"/>
              <a:ext cx="460894" cy="535426"/>
            </a:xfrm>
            <a:prstGeom prst="rect">
              <a:avLst/>
            </a:prstGeom>
            <a:noFill/>
            <a:ln cap="flat">
              <a:noFill/>
            </a:ln>
          </p:spPr>
        </p:pic>
        <p:sp>
          <p:nvSpPr>
            <p:cNvPr id="17" name="Text 10">
              <a:extLst>
                <a:ext uri="{FF2B5EF4-FFF2-40B4-BE49-F238E27FC236}">
                  <a16:creationId xmlns:a16="http://schemas.microsoft.com/office/drawing/2014/main" id="{055A1973-B934-4390-9304-88A1A8EEAB8F}"/>
                </a:ext>
              </a:extLst>
            </p:cNvPr>
            <p:cNvSpPr/>
            <p:nvPr/>
          </p:nvSpPr>
          <p:spPr>
            <a:xfrm>
              <a:off x="10965969" y="4616613"/>
              <a:ext cx="1351967" cy="67821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ea typeface="Calibri"/>
                  <a:cs typeface="Calibri"/>
                </a:rPr>
                <a:t>CV </a:t>
              </a:r>
              <a:endParaRPr lang="en-US" sz="1800" b="0" i="0" u="none" strike="noStrike" kern="1200" cap="none" spc="0" baseline="0">
                <a:solidFill>
                  <a:srgbClr val="000000"/>
                </a:solidFill>
                <a:uFillTx/>
                <a:latin typeface="Calibri"/>
                <a:ea typeface="Calibri"/>
                <a:cs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ea typeface="Calibri"/>
                  <a:cs typeface="Calibri"/>
                </a:rPr>
                <a:t>Optimization</a:t>
              </a:r>
              <a:endParaRPr lang="en-US" sz="1800" b="0" i="0" u="none" strike="noStrike" kern="1200" cap="none" spc="0" baseline="0">
                <a:solidFill>
                  <a:srgbClr val="000000"/>
                </a:solidFill>
                <a:uFillTx/>
                <a:latin typeface="Calibri"/>
                <a:ea typeface="Calibri"/>
                <a:cs typeface="Calibri"/>
              </a:endParaRPr>
            </a:p>
          </p:txBody>
        </p:sp>
        <p:sp>
          <p:nvSpPr>
            <p:cNvPr id="18" name="Shape 11">
              <a:extLst>
                <a:ext uri="{FF2B5EF4-FFF2-40B4-BE49-F238E27FC236}">
                  <a16:creationId xmlns:a16="http://schemas.microsoft.com/office/drawing/2014/main" id="{DF794731-7747-48E5-A7B1-F791AFF6F8EB}"/>
                </a:ext>
              </a:extLst>
            </p:cNvPr>
            <p:cNvSpPr/>
            <p:nvPr/>
          </p:nvSpPr>
          <p:spPr>
            <a:xfrm>
              <a:off x="12271851" y="4603848"/>
              <a:ext cx="1812862" cy="749597"/>
            </a:xfrm>
            <a:custGeom>
              <a:avLst/>
              <a:gdLst>
                <a:gd name="f0" fmla="val 10800000"/>
                <a:gd name="f1" fmla="val 5400000"/>
                <a:gd name="f2" fmla="val 16200000"/>
                <a:gd name="f3" fmla="val w"/>
                <a:gd name="f4" fmla="val h"/>
                <a:gd name="f5" fmla="val ss"/>
                <a:gd name="f6" fmla="val 0"/>
                <a:gd name="f7" fmla="*/ 5419351 1 1725033"/>
                <a:gd name="f8" fmla="val 45"/>
                <a:gd name="f9" fmla="val 2571"/>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9" name="Image 5" descr="preencoded.png">
              <a:extLst>
                <a:ext uri="{FF2B5EF4-FFF2-40B4-BE49-F238E27FC236}">
                  <a16:creationId xmlns:a16="http://schemas.microsoft.com/office/drawing/2014/main" id="{3C6971C6-3137-4305-9F7F-CCBDB6D6CACA}"/>
                </a:ext>
              </a:extLst>
            </p:cNvPr>
            <p:cNvPicPr>
              <a:picLocks noChangeAspect="1"/>
            </p:cNvPicPr>
            <p:nvPr/>
          </p:nvPicPr>
          <p:blipFill>
            <a:blip r:embed="rId8"/>
            <a:stretch>
              <a:fillRect/>
            </a:stretch>
          </p:blipFill>
          <p:spPr>
            <a:xfrm>
              <a:off x="12348661" y="4693084"/>
              <a:ext cx="460894" cy="535426"/>
            </a:xfrm>
            <a:prstGeom prst="rect">
              <a:avLst/>
            </a:prstGeom>
            <a:noFill/>
            <a:ln cap="flat">
              <a:noFill/>
            </a:ln>
          </p:spPr>
        </p:pic>
        <p:sp>
          <p:nvSpPr>
            <p:cNvPr id="20" name="Text 12">
              <a:extLst>
                <a:ext uri="{FF2B5EF4-FFF2-40B4-BE49-F238E27FC236}">
                  <a16:creationId xmlns:a16="http://schemas.microsoft.com/office/drawing/2014/main" id="{2BB32FEF-3727-427E-9869-BD53AEA98A65}"/>
                </a:ext>
              </a:extLst>
            </p:cNvPr>
            <p:cNvSpPr/>
            <p:nvPr/>
          </p:nvSpPr>
          <p:spPr>
            <a:xfrm>
              <a:off x="12983309" y="4608201"/>
              <a:ext cx="1351967" cy="67821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a:ea typeface="Calibri"/>
                  <a:cs typeface="Calibri"/>
                </a:rPr>
                <a:t>Interview Analytics</a:t>
              </a:r>
              <a:endParaRPr lang="en-US" sz="1800" b="0" i="0" u="none" strike="noStrike" kern="1200" cap="none" spc="0" baseline="0">
                <a:solidFill>
                  <a:srgbClr val="000000"/>
                </a:solidFill>
                <a:uFillTx/>
                <a:latin typeface="Calibri"/>
              </a:endParaRPr>
            </a:p>
          </p:txBody>
        </p:sp>
      </p:grpSp>
      <p:grpSp>
        <p:nvGrpSpPr>
          <p:cNvPr id="21" name="Group 2">
            <a:extLst>
              <a:ext uri="{FF2B5EF4-FFF2-40B4-BE49-F238E27FC236}">
                <a16:creationId xmlns:a16="http://schemas.microsoft.com/office/drawing/2014/main" id="{E907306A-B760-405F-A295-99B14FFF6B23}"/>
              </a:ext>
            </a:extLst>
          </p:cNvPr>
          <p:cNvGrpSpPr/>
          <p:nvPr/>
        </p:nvGrpSpPr>
        <p:grpSpPr>
          <a:xfrm>
            <a:off x="5279526" y="278681"/>
            <a:ext cx="1005840" cy="1005840"/>
            <a:chOff x="5279526" y="278681"/>
            <a:chExt cx="1005840" cy="1005840"/>
          </a:xfrm>
        </p:grpSpPr>
        <p:sp>
          <p:nvSpPr>
            <p:cNvPr id="22" name="Shape 2">
              <a:extLst>
                <a:ext uri="{FF2B5EF4-FFF2-40B4-BE49-F238E27FC236}">
                  <a16:creationId xmlns:a16="http://schemas.microsoft.com/office/drawing/2014/main" id="{5AEE19EC-D3B0-4BE3-93D6-B40ABCC3794F}"/>
                </a:ext>
              </a:extLst>
            </p:cNvPr>
            <p:cNvSpPr/>
            <p:nvPr/>
          </p:nvSpPr>
          <p:spPr>
            <a:xfrm>
              <a:off x="5279526" y="278681"/>
              <a:ext cx="1005840" cy="100584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F4A53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3" name="Image 1" descr="preencoded.png">
              <a:extLst>
                <a:ext uri="{FF2B5EF4-FFF2-40B4-BE49-F238E27FC236}">
                  <a16:creationId xmlns:a16="http://schemas.microsoft.com/office/drawing/2014/main" id="{83983EF6-7AF5-4BE5-9A06-FBE8F89765D7}"/>
                </a:ext>
              </a:extLst>
            </p:cNvPr>
            <p:cNvPicPr>
              <a:picLocks noChangeAspect="1"/>
            </p:cNvPicPr>
            <p:nvPr/>
          </p:nvPicPr>
          <p:blipFill>
            <a:blip r:embed="rId9"/>
            <a:stretch>
              <a:fillRect/>
            </a:stretch>
          </p:blipFill>
          <p:spPr>
            <a:xfrm>
              <a:off x="5462406" y="461561"/>
              <a:ext cx="640080" cy="640080"/>
            </a:xfrm>
            <a:prstGeom prst="rect">
              <a:avLst/>
            </a:prstGeom>
            <a:noFill/>
            <a:ln cap="flat">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449F8F17-1A8D-45CE-80E2-50AC45BAD7D4}"/>
              </a:ext>
            </a:extLst>
          </p:cNvPr>
          <p:cNvSpPr/>
          <p:nvPr/>
        </p:nvSpPr>
        <p:spPr>
          <a:xfrm>
            <a:off x="653238" y="3054635"/>
            <a:ext cx="8617259" cy="2021546"/>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000000"/>
                </a:solidFill>
                <a:uFillTx/>
                <a:latin typeface="Calibri"/>
                <a:ea typeface="Calibri"/>
                <a:cs typeface="Calibri"/>
              </a:rPr>
              <a:t>The Problem: A widening qualitative skill gap between academic training and rapidly evolving IT industry demands</a:t>
            </a:r>
            <a:endParaRPr lang="en-US" sz="18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000000"/>
                </a:solidFill>
                <a:uFillTx/>
                <a:latin typeface="Calibri"/>
                <a:ea typeface="Calibri"/>
                <a:cs typeface="Calibri"/>
              </a:rPr>
              <a:t>The Result: High uncertainty, delayed employability, and mismatched talent allocation</a:t>
            </a:r>
            <a:endParaRPr lang="en-US" sz="1800" b="0" i="0" u="none" strike="noStrike" kern="1200" cap="none" spc="0" baseline="0">
              <a:solidFill>
                <a:srgbClr val="000000"/>
              </a:solidFill>
              <a:uFillTx/>
              <a:latin typeface="Calibri"/>
              <a:ea typeface="Calibri"/>
              <a:cs typeface="Calibri"/>
            </a:endParaRPr>
          </a:p>
        </p:txBody>
      </p:sp>
      <p:grpSp>
        <p:nvGrpSpPr>
          <p:cNvPr id="3" name="Group 12">
            <a:extLst>
              <a:ext uri="{FF2B5EF4-FFF2-40B4-BE49-F238E27FC236}">
                <a16:creationId xmlns:a16="http://schemas.microsoft.com/office/drawing/2014/main" id="{B12F58A6-B48C-4BAA-94F4-93C874239384}"/>
              </a:ext>
            </a:extLst>
          </p:cNvPr>
          <p:cNvGrpSpPr/>
          <p:nvPr/>
        </p:nvGrpSpPr>
        <p:grpSpPr>
          <a:xfrm>
            <a:off x="0" y="7649733"/>
            <a:ext cx="14633225" cy="579866"/>
            <a:chOff x="0" y="7649733"/>
            <a:chExt cx="14633225" cy="579866"/>
          </a:xfrm>
        </p:grpSpPr>
        <p:sp>
          <p:nvSpPr>
            <p:cNvPr id="4" name="Rectangle 13">
              <a:extLst>
                <a:ext uri="{FF2B5EF4-FFF2-40B4-BE49-F238E27FC236}">
                  <a16:creationId xmlns:a16="http://schemas.microsoft.com/office/drawing/2014/main" id="{466F3041-4260-4B20-958F-6F23051B1864}"/>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14">
              <a:extLst>
                <a:ext uri="{FF2B5EF4-FFF2-40B4-BE49-F238E27FC236}">
                  <a16:creationId xmlns:a16="http://schemas.microsoft.com/office/drawing/2014/main" id="{B3397743-5B2C-4936-965F-0A115ADB16B1}"/>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R26-IT-128</a:t>
              </a:r>
              <a:endParaRPr lang="en-US" sz="1800" b="0" i="0" u="none" strike="noStrike" kern="1200" cap="none" spc="0" baseline="0">
                <a:solidFill>
                  <a:srgbClr val="FFC000"/>
                </a:solidFill>
                <a:uFillTx/>
                <a:latin typeface="Calibri"/>
              </a:endParaRPr>
            </a:p>
          </p:txBody>
        </p:sp>
        <p:pic>
          <p:nvPicPr>
            <p:cNvPr id="6" name="Picture 15">
              <a:extLst>
                <a:ext uri="{FF2B5EF4-FFF2-40B4-BE49-F238E27FC236}">
                  <a16:creationId xmlns:a16="http://schemas.microsoft.com/office/drawing/2014/main" id="{6AD16EE1-1B96-4413-90B3-8010B222404C}"/>
                </a:ext>
              </a:extLst>
            </p:cNvPr>
            <p:cNvPicPr>
              <a:picLocks noChangeAspect="1"/>
            </p:cNvPicPr>
            <p:nvPr/>
          </p:nvPicPr>
          <p:blipFill>
            <a:blip r:embed="rId3"/>
            <a:stretch>
              <a:fillRect/>
            </a:stretch>
          </p:blipFill>
          <p:spPr>
            <a:xfrm>
              <a:off x="0" y="7707212"/>
              <a:ext cx="3043708" cy="522387"/>
            </a:xfrm>
            <a:prstGeom prst="rect">
              <a:avLst/>
            </a:prstGeom>
            <a:noFill/>
            <a:ln cap="flat">
              <a:noFill/>
            </a:ln>
          </p:spPr>
        </p:pic>
        <p:sp>
          <p:nvSpPr>
            <p:cNvPr id="7" name="Rectangle 16">
              <a:extLst>
                <a:ext uri="{FF2B5EF4-FFF2-40B4-BE49-F238E27FC236}">
                  <a16:creationId xmlns:a16="http://schemas.microsoft.com/office/drawing/2014/main" id="{5C2B27DE-AF14-40BF-A92F-5C232A639DE5}"/>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8" name="Text 2">
            <a:extLst>
              <a:ext uri="{FF2B5EF4-FFF2-40B4-BE49-F238E27FC236}">
                <a16:creationId xmlns:a16="http://schemas.microsoft.com/office/drawing/2014/main" id="{56C72CAF-2BDD-41B6-AA00-552B060AE04F}"/>
              </a:ext>
            </a:extLst>
          </p:cNvPr>
          <p:cNvSpPr/>
          <p:nvPr/>
        </p:nvSpPr>
        <p:spPr>
          <a:xfrm>
            <a:off x="1005840" y="137160"/>
            <a:ext cx="6400800" cy="73152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FFFFFF"/>
                </a:solidFill>
                <a:uFillTx/>
                <a:latin typeface="Calibri" pitchFamily="34"/>
                <a:ea typeface="Calibri" pitchFamily="34"/>
                <a:cs typeface="Calibri" pitchFamily="34"/>
              </a:rPr>
              <a:t>Introduction</a:t>
            </a:r>
            <a:endParaRPr lang="en-US" sz="2800" b="0" i="0" u="none" strike="noStrike" kern="1200" cap="none" spc="0" baseline="0">
              <a:solidFill>
                <a:srgbClr val="000000"/>
              </a:solidFill>
              <a:uFillTx/>
              <a:latin typeface="Calibri"/>
            </a:endParaRPr>
          </a:p>
        </p:txBody>
      </p:sp>
      <p:sp>
        <p:nvSpPr>
          <p:cNvPr id="9" name="Shape 0">
            <a:extLst>
              <a:ext uri="{FF2B5EF4-FFF2-40B4-BE49-F238E27FC236}">
                <a16:creationId xmlns:a16="http://schemas.microsoft.com/office/drawing/2014/main" id="{E62B4BB1-63AB-42A3-8A47-71F95A19DAAF}"/>
              </a:ext>
            </a:extLst>
          </p:cNvPr>
          <p:cNvSpPr/>
          <p:nvPr/>
        </p:nvSpPr>
        <p:spPr>
          <a:xfrm>
            <a:off x="0" y="0"/>
            <a:ext cx="14630400" cy="1005840"/>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0" name="Text 0">
            <a:extLst>
              <a:ext uri="{FF2B5EF4-FFF2-40B4-BE49-F238E27FC236}">
                <a16:creationId xmlns:a16="http://schemas.microsoft.com/office/drawing/2014/main" id="{E9D2A15C-4DBB-494B-B539-302ED3E51EB2}"/>
              </a:ext>
            </a:extLst>
          </p:cNvPr>
          <p:cNvSpPr/>
          <p:nvPr/>
        </p:nvSpPr>
        <p:spPr>
          <a:xfrm>
            <a:off x="1838117" y="140726"/>
            <a:ext cx="3520513" cy="721132"/>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450" b="0" i="0" u="none" strike="noStrike" kern="1200" cap="none" spc="0" baseline="0">
                <a:solidFill>
                  <a:srgbClr val="FFFFFF"/>
                </a:solidFill>
                <a:uFillTx/>
                <a:latin typeface="Calibri"/>
                <a:ea typeface="Calibri"/>
                <a:cs typeface="Calibri"/>
              </a:rPr>
              <a:t>Bridging the IT Skills Gap in Sri Lanka</a:t>
            </a:r>
            <a:endParaRPr lang="en-US" sz="1800" b="0" i="0" u="none" strike="noStrike" kern="1200" cap="none" spc="0" baseline="0">
              <a:solidFill>
                <a:srgbClr val="000000"/>
              </a:solidFill>
              <a:uFillTx/>
              <a:latin typeface="Calibri"/>
            </a:endParaRPr>
          </a:p>
        </p:txBody>
      </p:sp>
      <p:grpSp>
        <p:nvGrpSpPr>
          <p:cNvPr id="11" name="Group 35">
            <a:extLst>
              <a:ext uri="{FF2B5EF4-FFF2-40B4-BE49-F238E27FC236}">
                <a16:creationId xmlns:a16="http://schemas.microsoft.com/office/drawing/2014/main" id="{059AA281-F27D-4176-AB67-E93856556FB1}"/>
              </a:ext>
            </a:extLst>
          </p:cNvPr>
          <p:cNvGrpSpPr/>
          <p:nvPr/>
        </p:nvGrpSpPr>
        <p:grpSpPr>
          <a:xfrm>
            <a:off x="9668536" y="2052956"/>
            <a:ext cx="4532689" cy="4619511"/>
            <a:chOff x="9668536" y="2052956"/>
            <a:chExt cx="4532689" cy="4619511"/>
          </a:xfrm>
        </p:grpSpPr>
        <p:sp>
          <p:nvSpPr>
            <p:cNvPr id="12" name="Shape 5">
              <a:extLst>
                <a:ext uri="{FF2B5EF4-FFF2-40B4-BE49-F238E27FC236}">
                  <a16:creationId xmlns:a16="http://schemas.microsoft.com/office/drawing/2014/main" id="{3FA8BBBD-5ADA-43D8-A69A-BD721020DB43}"/>
                </a:ext>
              </a:extLst>
            </p:cNvPr>
            <p:cNvSpPr/>
            <p:nvPr/>
          </p:nvSpPr>
          <p:spPr>
            <a:xfrm>
              <a:off x="9668536" y="2052956"/>
              <a:ext cx="4532689" cy="1185675"/>
            </a:xfrm>
            <a:prstGeom prst="rect">
              <a:avLst/>
            </a:prstGeom>
            <a:solidFill>
              <a:srgbClr val="1565A7"/>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ndParaRPr>
            </a:p>
          </p:txBody>
        </p:sp>
        <p:pic>
          <p:nvPicPr>
            <p:cNvPr id="13" name="Image 1" descr="preencoded.png">
              <a:extLst>
                <a:ext uri="{FF2B5EF4-FFF2-40B4-BE49-F238E27FC236}">
                  <a16:creationId xmlns:a16="http://schemas.microsoft.com/office/drawing/2014/main" id="{E8731AE1-FA87-4AB6-9BED-65F18024D354}"/>
                </a:ext>
              </a:extLst>
            </p:cNvPr>
            <p:cNvPicPr>
              <a:picLocks noChangeAspect="1"/>
            </p:cNvPicPr>
            <p:nvPr/>
          </p:nvPicPr>
          <p:blipFill>
            <a:blip r:embed="rId4"/>
            <a:stretch>
              <a:fillRect/>
            </a:stretch>
          </p:blipFill>
          <p:spPr>
            <a:xfrm>
              <a:off x="9819622" y="2360925"/>
              <a:ext cx="755449" cy="769915"/>
            </a:xfrm>
            <a:prstGeom prst="rect">
              <a:avLst/>
            </a:prstGeom>
            <a:noFill/>
            <a:ln cap="flat">
              <a:noFill/>
            </a:ln>
          </p:spPr>
        </p:pic>
        <p:sp>
          <p:nvSpPr>
            <p:cNvPr id="14" name="Text 6">
              <a:extLst>
                <a:ext uri="{FF2B5EF4-FFF2-40B4-BE49-F238E27FC236}">
                  <a16:creationId xmlns:a16="http://schemas.microsoft.com/office/drawing/2014/main" id="{8D5E873D-155C-4157-82E5-58D98E46C47F}"/>
                </a:ext>
              </a:extLst>
            </p:cNvPr>
            <p:cNvSpPr/>
            <p:nvPr/>
          </p:nvSpPr>
          <p:spPr>
            <a:xfrm>
              <a:off x="11002435" y="2306519"/>
              <a:ext cx="1359804" cy="7699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FFFFFF"/>
                  </a:solidFill>
                  <a:uFillTx/>
                  <a:latin typeface="Calibri" pitchFamily="34"/>
                  <a:ea typeface="Calibri" pitchFamily="34"/>
                  <a:cs typeface="Calibri" pitchFamily="34"/>
                </a:rPr>
                <a:t>4</a:t>
              </a:r>
              <a:endParaRPr lang="en-US" sz="2000" b="0" i="0" u="none" strike="noStrike" kern="1200" cap="none" spc="0" baseline="0">
                <a:solidFill>
                  <a:srgbClr val="000000"/>
                </a:solidFill>
                <a:uFillTx/>
                <a:latin typeface="Calibri"/>
              </a:endParaRPr>
            </a:p>
          </p:txBody>
        </p:sp>
        <p:sp>
          <p:nvSpPr>
            <p:cNvPr id="15" name="Text 7">
              <a:extLst>
                <a:ext uri="{FF2B5EF4-FFF2-40B4-BE49-F238E27FC236}">
                  <a16:creationId xmlns:a16="http://schemas.microsoft.com/office/drawing/2014/main" id="{FD75BBA0-3A5A-4725-93CC-06AC4ACD3E76}"/>
                </a:ext>
              </a:extLst>
            </p:cNvPr>
            <p:cNvSpPr/>
            <p:nvPr/>
          </p:nvSpPr>
          <p:spPr>
            <a:xfrm>
              <a:off x="12447123" y="2237737"/>
              <a:ext cx="1603016" cy="100089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FFFFFF"/>
                  </a:solidFill>
                  <a:uFillTx/>
                  <a:latin typeface="Calibri" pitchFamily="34"/>
                  <a:ea typeface="Calibri" pitchFamily="34"/>
                  <a:cs typeface="Calibri" pitchFamily="34"/>
                </a:rPr>
                <a:t>System</a:t>
              </a:r>
              <a:endParaRPr lang="en-US" sz="2000" b="0" i="0" u="none" strike="noStrike" kern="1200" cap="none" spc="0" baseline="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FFFFFF"/>
                  </a:solidFill>
                  <a:uFillTx/>
                  <a:latin typeface="Calibri" pitchFamily="34"/>
                  <a:ea typeface="Calibri" pitchFamily="34"/>
                  <a:cs typeface="Calibri" pitchFamily="34"/>
                </a:rPr>
                <a:t>Components</a:t>
              </a:r>
              <a:endParaRPr lang="en-US" sz="2000" b="0" i="0" u="none" strike="noStrike" kern="1200" cap="none" spc="0" baseline="0">
                <a:solidFill>
                  <a:srgbClr val="000000"/>
                </a:solidFill>
                <a:uFillTx/>
                <a:latin typeface="Calibri"/>
              </a:endParaRPr>
            </a:p>
          </p:txBody>
        </p:sp>
        <p:sp>
          <p:nvSpPr>
            <p:cNvPr id="16" name="Shape 8">
              <a:extLst>
                <a:ext uri="{FF2B5EF4-FFF2-40B4-BE49-F238E27FC236}">
                  <a16:creationId xmlns:a16="http://schemas.microsoft.com/office/drawing/2014/main" id="{1E21F026-6359-41D0-B325-F970B253118D}"/>
                </a:ext>
              </a:extLst>
            </p:cNvPr>
            <p:cNvSpPr/>
            <p:nvPr/>
          </p:nvSpPr>
          <p:spPr>
            <a:xfrm>
              <a:off x="9668536" y="3669779"/>
              <a:ext cx="4532689" cy="1385855"/>
            </a:xfrm>
            <a:prstGeom prst="rect">
              <a:avLst/>
            </a:prstGeom>
            <a:solidFill>
              <a:srgbClr val="00B4D8"/>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ndParaRPr>
            </a:p>
          </p:txBody>
        </p:sp>
        <p:pic>
          <p:nvPicPr>
            <p:cNvPr id="17" name="Image 2" descr="preencoded.png">
              <a:extLst>
                <a:ext uri="{FF2B5EF4-FFF2-40B4-BE49-F238E27FC236}">
                  <a16:creationId xmlns:a16="http://schemas.microsoft.com/office/drawing/2014/main" id="{7A2FA5A5-AA41-41AC-A2EF-E717FB1B86C3}"/>
                </a:ext>
              </a:extLst>
            </p:cNvPr>
            <p:cNvPicPr>
              <a:picLocks noChangeAspect="1"/>
            </p:cNvPicPr>
            <p:nvPr/>
          </p:nvPicPr>
          <p:blipFill>
            <a:blip r:embed="rId5"/>
            <a:stretch>
              <a:fillRect/>
            </a:stretch>
          </p:blipFill>
          <p:spPr>
            <a:xfrm>
              <a:off x="9819622" y="3977749"/>
              <a:ext cx="755449" cy="769915"/>
            </a:xfrm>
            <a:prstGeom prst="rect">
              <a:avLst/>
            </a:prstGeom>
            <a:noFill/>
            <a:ln cap="flat">
              <a:noFill/>
            </a:ln>
          </p:spPr>
        </p:pic>
        <p:sp>
          <p:nvSpPr>
            <p:cNvPr id="18" name="Text 9">
              <a:extLst>
                <a:ext uri="{FF2B5EF4-FFF2-40B4-BE49-F238E27FC236}">
                  <a16:creationId xmlns:a16="http://schemas.microsoft.com/office/drawing/2014/main" id="{21BC4DA6-924A-44B0-B93F-98F4B0AA7A04}"/>
                </a:ext>
              </a:extLst>
            </p:cNvPr>
            <p:cNvSpPr/>
            <p:nvPr/>
          </p:nvSpPr>
          <p:spPr>
            <a:xfrm>
              <a:off x="11002435" y="3878839"/>
              <a:ext cx="1359804" cy="7699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FFFFFF"/>
                  </a:solidFill>
                  <a:uFillTx/>
                  <a:latin typeface="Calibri" pitchFamily="34"/>
                  <a:ea typeface="Calibri" pitchFamily="34"/>
                  <a:cs typeface="Calibri" pitchFamily="34"/>
                </a:rPr>
                <a:t>AI</a:t>
              </a:r>
              <a:endParaRPr lang="en-US" sz="2000" b="0" i="0" u="none" strike="noStrike" kern="1200" cap="none" spc="0" baseline="0">
                <a:solidFill>
                  <a:srgbClr val="000000"/>
                </a:solidFill>
                <a:uFillTx/>
                <a:latin typeface="Calibri"/>
              </a:endParaRPr>
            </a:p>
          </p:txBody>
        </p:sp>
        <p:sp>
          <p:nvSpPr>
            <p:cNvPr id="19" name="Text 10">
              <a:extLst>
                <a:ext uri="{FF2B5EF4-FFF2-40B4-BE49-F238E27FC236}">
                  <a16:creationId xmlns:a16="http://schemas.microsoft.com/office/drawing/2014/main" id="{597B9BF8-0F34-46A0-BFB7-C09F4AD17729}"/>
                </a:ext>
              </a:extLst>
            </p:cNvPr>
            <p:cNvSpPr/>
            <p:nvPr/>
          </p:nvSpPr>
          <p:spPr>
            <a:xfrm>
              <a:off x="12508909" y="3854561"/>
              <a:ext cx="1541230" cy="100089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FFFFFF"/>
                  </a:solidFill>
                  <a:uFillTx/>
                  <a:latin typeface="Calibri" pitchFamily="34"/>
                  <a:ea typeface="Calibri" pitchFamily="34"/>
                  <a:cs typeface="Calibri" pitchFamily="34"/>
                </a:rPr>
                <a:t>Powered</a:t>
              </a:r>
              <a:endParaRPr lang="en-US" sz="2000" b="0" i="0" u="none" strike="noStrike" kern="1200" cap="none" spc="0" baseline="0">
                <a:solidFill>
                  <a:srgbClr val="000000"/>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FFFFFF"/>
                  </a:solidFill>
                  <a:uFillTx/>
                  <a:latin typeface="Calibri" pitchFamily="34"/>
                  <a:ea typeface="Calibri" pitchFamily="34"/>
                  <a:cs typeface="Calibri" pitchFamily="34"/>
                </a:rPr>
                <a:t>Recognition</a:t>
              </a:r>
              <a:endParaRPr lang="en-US" sz="2000" b="0" i="0" u="none" strike="noStrike" kern="1200" cap="none" spc="0" baseline="0">
                <a:solidFill>
                  <a:srgbClr val="000000"/>
                </a:solidFill>
                <a:uFillTx/>
                <a:latin typeface="Calibri"/>
              </a:endParaRPr>
            </a:p>
          </p:txBody>
        </p:sp>
        <p:sp>
          <p:nvSpPr>
            <p:cNvPr id="20" name="Shape 11">
              <a:extLst>
                <a:ext uri="{FF2B5EF4-FFF2-40B4-BE49-F238E27FC236}">
                  <a16:creationId xmlns:a16="http://schemas.microsoft.com/office/drawing/2014/main" id="{51761C53-79AB-409D-A88F-9DBE9786347C}"/>
                </a:ext>
              </a:extLst>
            </p:cNvPr>
            <p:cNvSpPr/>
            <p:nvPr/>
          </p:nvSpPr>
          <p:spPr>
            <a:xfrm>
              <a:off x="9668536" y="5286612"/>
              <a:ext cx="4532689" cy="1385855"/>
            </a:xfrm>
            <a:prstGeom prst="rect">
              <a:avLst/>
            </a:prstGeom>
            <a:solidFill>
              <a:srgbClr val="F4A532"/>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ndParaRPr>
            </a:p>
          </p:txBody>
        </p:sp>
        <p:pic>
          <p:nvPicPr>
            <p:cNvPr id="21" name="Image 3" descr="preencoded.png">
              <a:extLst>
                <a:ext uri="{FF2B5EF4-FFF2-40B4-BE49-F238E27FC236}">
                  <a16:creationId xmlns:a16="http://schemas.microsoft.com/office/drawing/2014/main" id="{358CB551-FAA4-4207-8E19-6B3040149563}"/>
                </a:ext>
              </a:extLst>
            </p:cNvPr>
            <p:cNvPicPr>
              <a:picLocks noChangeAspect="1"/>
            </p:cNvPicPr>
            <p:nvPr/>
          </p:nvPicPr>
          <p:blipFill>
            <a:blip r:embed="rId6"/>
            <a:stretch>
              <a:fillRect/>
            </a:stretch>
          </p:blipFill>
          <p:spPr>
            <a:xfrm>
              <a:off x="9819622" y="5594573"/>
              <a:ext cx="755449" cy="769915"/>
            </a:xfrm>
            <a:prstGeom prst="rect">
              <a:avLst/>
            </a:prstGeom>
            <a:noFill/>
            <a:ln cap="flat">
              <a:noFill/>
            </a:ln>
          </p:spPr>
        </p:pic>
        <p:sp>
          <p:nvSpPr>
            <p:cNvPr id="22" name="Text 12">
              <a:extLst>
                <a:ext uri="{FF2B5EF4-FFF2-40B4-BE49-F238E27FC236}">
                  <a16:creationId xmlns:a16="http://schemas.microsoft.com/office/drawing/2014/main" id="{2648E3B3-72ED-4C56-9131-6E6618C52415}"/>
                </a:ext>
              </a:extLst>
            </p:cNvPr>
            <p:cNvSpPr/>
            <p:nvPr/>
          </p:nvSpPr>
          <p:spPr>
            <a:xfrm>
              <a:off x="10607012" y="5586874"/>
              <a:ext cx="1891143" cy="7699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FFFFFF"/>
                  </a:solidFill>
                  <a:uFillTx/>
                  <a:latin typeface="Calibri"/>
                  <a:ea typeface="Calibri"/>
                  <a:cs typeface="Calibri"/>
                </a:rPr>
                <a:t>Undergraduates</a:t>
              </a:r>
            </a:p>
          </p:txBody>
        </p:sp>
        <p:sp>
          <p:nvSpPr>
            <p:cNvPr id="23" name="Text 13">
              <a:extLst>
                <a:ext uri="{FF2B5EF4-FFF2-40B4-BE49-F238E27FC236}">
                  <a16:creationId xmlns:a16="http://schemas.microsoft.com/office/drawing/2014/main" id="{DBA81292-9031-485F-AA2B-933F18537B21}"/>
                </a:ext>
              </a:extLst>
            </p:cNvPr>
            <p:cNvSpPr/>
            <p:nvPr/>
          </p:nvSpPr>
          <p:spPr>
            <a:xfrm>
              <a:off x="12558342" y="5471385"/>
              <a:ext cx="1491797" cy="100089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FFFFFF"/>
                  </a:solidFill>
                  <a:uFillTx/>
                  <a:latin typeface="Calibri"/>
                  <a:ea typeface="Calibri"/>
                  <a:cs typeface="Calibri"/>
                </a:rPr>
                <a:t>Target </a:t>
              </a:r>
              <a:endParaRPr lang="en-US" sz="2000" b="0" i="0" u="none" strike="noStrike" kern="1200" cap="none" spc="0" baseline="0">
                <a:solidFill>
                  <a:srgbClr val="000000"/>
                </a:solidFill>
                <a:uFillTx/>
                <a:latin typeface="Calibri"/>
                <a:ea typeface="Calibri"/>
                <a:cs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FFFFFF"/>
                  </a:solidFill>
                  <a:uFillTx/>
                  <a:latin typeface="Calibri"/>
                  <a:ea typeface="Calibri"/>
                  <a:cs typeface="Calibri"/>
                </a:rPr>
                <a:t>Audience</a:t>
              </a:r>
              <a:endParaRPr lang="en-US" sz="2000" b="0" i="0" u="none" strike="noStrike" kern="1200" cap="none" spc="0" baseline="0">
                <a:solidFill>
                  <a:srgbClr val="000000"/>
                </a:solidFill>
                <a:uFillTx/>
                <a:latin typeface="Calibri"/>
                <a:ea typeface="Calibri"/>
                <a:cs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B0A351C-DE06-4B55-8242-95B7D324DBC0}"/>
              </a:ext>
            </a:extLst>
          </p:cNvPr>
          <p:cNvSpPr/>
          <p:nvPr/>
        </p:nvSpPr>
        <p:spPr>
          <a:xfrm>
            <a:off x="0" y="0"/>
            <a:ext cx="14630400" cy="1005840"/>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nvGrpSpPr>
          <p:cNvPr id="3" name="Group 12">
            <a:extLst>
              <a:ext uri="{FF2B5EF4-FFF2-40B4-BE49-F238E27FC236}">
                <a16:creationId xmlns:a16="http://schemas.microsoft.com/office/drawing/2014/main" id="{32D3F442-4D5D-432B-AF59-C9755878F8F4}"/>
              </a:ext>
            </a:extLst>
          </p:cNvPr>
          <p:cNvGrpSpPr/>
          <p:nvPr/>
        </p:nvGrpSpPr>
        <p:grpSpPr>
          <a:xfrm>
            <a:off x="947354" y="2053714"/>
            <a:ext cx="6056354" cy="1968959"/>
            <a:chOff x="947354" y="2053714"/>
            <a:chExt cx="6056354" cy="1968959"/>
          </a:xfrm>
        </p:grpSpPr>
        <p:sp>
          <p:nvSpPr>
            <p:cNvPr id="4" name="Shape 1">
              <a:extLst>
                <a:ext uri="{FF2B5EF4-FFF2-40B4-BE49-F238E27FC236}">
                  <a16:creationId xmlns:a16="http://schemas.microsoft.com/office/drawing/2014/main" id="{C35BBDE8-1B40-41C1-B691-B8875073C34D}"/>
                </a:ext>
              </a:extLst>
            </p:cNvPr>
            <p:cNvSpPr/>
            <p:nvPr/>
          </p:nvSpPr>
          <p:spPr>
            <a:xfrm>
              <a:off x="947354" y="2053714"/>
              <a:ext cx="6056354" cy="1968959"/>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5" name="Text 2">
              <a:extLst>
                <a:ext uri="{FF2B5EF4-FFF2-40B4-BE49-F238E27FC236}">
                  <a16:creationId xmlns:a16="http://schemas.microsoft.com/office/drawing/2014/main" id="{BF531BC1-5CEC-4D98-94C7-9987A6288A8E}"/>
                </a:ext>
              </a:extLst>
            </p:cNvPr>
            <p:cNvSpPr/>
            <p:nvPr/>
          </p:nvSpPr>
          <p:spPr>
            <a:xfrm>
              <a:off x="1494952" y="2481709"/>
              <a:ext cx="2146133" cy="646883"/>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ea typeface="Calibri"/>
                  <a:cs typeface="Calibri"/>
                </a:rPr>
                <a:t>Target Users</a:t>
              </a:r>
              <a:endParaRPr lang="en-US" sz="1800" b="1" i="0" u="none" strike="noStrike" kern="1200" cap="none" spc="0" baseline="0">
                <a:solidFill>
                  <a:srgbClr val="BF9000"/>
                </a:solidFill>
                <a:uFillTx/>
                <a:latin typeface="Calibri"/>
              </a:endParaRPr>
            </a:p>
          </p:txBody>
        </p:sp>
        <p:sp>
          <p:nvSpPr>
            <p:cNvPr id="6" name="Text 3">
              <a:extLst>
                <a:ext uri="{FF2B5EF4-FFF2-40B4-BE49-F238E27FC236}">
                  <a16:creationId xmlns:a16="http://schemas.microsoft.com/office/drawing/2014/main" id="{21A78C34-8E6E-42E2-B61D-29DE11C90EB5}"/>
                </a:ext>
              </a:extLst>
            </p:cNvPr>
            <p:cNvSpPr/>
            <p:nvPr/>
          </p:nvSpPr>
          <p:spPr>
            <a:xfrm>
              <a:off x="1334767" y="2961448"/>
              <a:ext cx="5378976" cy="893012"/>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IT Undergraduates and fresh graduates in Sri Lanka</a:t>
              </a:r>
              <a:endParaRPr lang="en-US" sz="1800" b="0" i="0" u="none" strike="noStrike" kern="1200" cap="none" spc="0" baseline="0">
                <a:solidFill>
                  <a:srgbClr val="000000"/>
                </a:solidFill>
                <a:uFillTx/>
                <a:latin typeface="Calibri"/>
              </a:endParaRPr>
            </a:p>
          </p:txBody>
        </p:sp>
      </p:grpSp>
      <p:grpSp>
        <p:nvGrpSpPr>
          <p:cNvPr id="7" name="Group 14">
            <a:extLst>
              <a:ext uri="{FF2B5EF4-FFF2-40B4-BE49-F238E27FC236}">
                <a16:creationId xmlns:a16="http://schemas.microsoft.com/office/drawing/2014/main" id="{63AF782D-4864-4E4C-AF41-3ED2FBD34043}"/>
              </a:ext>
            </a:extLst>
          </p:cNvPr>
          <p:cNvGrpSpPr/>
          <p:nvPr/>
        </p:nvGrpSpPr>
        <p:grpSpPr>
          <a:xfrm>
            <a:off x="7423858" y="2053714"/>
            <a:ext cx="6056354" cy="1968959"/>
            <a:chOff x="7423858" y="2053714"/>
            <a:chExt cx="6056354" cy="1968959"/>
          </a:xfrm>
        </p:grpSpPr>
        <p:sp>
          <p:nvSpPr>
            <p:cNvPr id="8" name="Shape 4">
              <a:extLst>
                <a:ext uri="{FF2B5EF4-FFF2-40B4-BE49-F238E27FC236}">
                  <a16:creationId xmlns:a16="http://schemas.microsoft.com/office/drawing/2014/main" id="{4F48A16D-9977-48EE-AD4D-4A0703E318D6}"/>
                </a:ext>
              </a:extLst>
            </p:cNvPr>
            <p:cNvSpPr/>
            <p:nvPr/>
          </p:nvSpPr>
          <p:spPr>
            <a:xfrm>
              <a:off x="7423858" y="2053714"/>
              <a:ext cx="6056354" cy="1968959"/>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9" name="Text 5">
              <a:extLst>
                <a:ext uri="{FF2B5EF4-FFF2-40B4-BE49-F238E27FC236}">
                  <a16:creationId xmlns:a16="http://schemas.microsoft.com/office/drawing/2014/main" id="{AB4C22BB-FE25-4FBD-910E-A138EEA2485A}"/>
                </a:ext>
              </a:extLst>
            </p:cNvPr>
            <p:cNvSpPr/>
            <p:nvPr/>
          </p:nvSpPr>
          <p:spPr>
            <a:xfrm>
              <a:off x="7811271" y="2484397"/>
              <a:ext cx="4685358" cy="650943"/>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ea typeface="Calibri"/>
                  <a:cs typeface="Calibri"/>
                </a:rPr>
                <a:t>Key Stakeholders</a:t>
              </a:r>
              <a:br>
                <a:rPr lang="en-US" sz="2400" b="0" i="0" u="none" strike="noStrike" kern="1200" cap="none" spc="0" baseline="0">
                  <a:solidFill>
                    <a:srgbClr val="000000"/>
                  </a:solidFill>
                  <a:uFillTx/>
                  <a:latin typeface="Calibri"/>
                </a:rPr>
              </a:br>
              <a:endParaRPr lang="en-US" sz="2200" b="0" i="0" u="none" strike="noStrike" kern="1200" cap="none" spc="0" baseline="0">
                <a:solidFill>
                  <a:srgbClr val="BF9000"/>
                </a:solidFill>
                <a:uFillTx/>
                <a:latin typeface="Calibri"/>
                <a:ea typeface="Calibri"/>
                <a:cs typeface="Calibri"/>
              </a:endParaRPr>
            </a:p>
          </p:txBody>
        </p:sp>
        <p:sp>
          <p:nvSpPr>
            <p:cNvPr id="10" name="Text 6">
              <a:extLst>
                <a:ext uri="{FF2B5EF4-FFF2-40B4-BE49-F238E27FC236}">
                  <a16:creationId xmlns:a16="http://schemas.microsoft.com/office/drawing/2014/main" id="{6F4B48D9-0FB1-473A-9ACD-768676C306DF}"/>
                </a:ext>
              </a:extLst>
            </p:cNvPr>
            <p:cNvSpPr/>
            <p:nvPr/>
          </p:nvSpPr>
          <p:spPr>
            <a:xfrm>
              <a:off x="7811271" y="3044266"/>
              <a:ext cx="5281528" cy="713835"/>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Academic Institutions and the IT Industry</a:t>
              </a:r>
              <a:endParaRPr lang="en-US" sz="1800" b="0" i="0" u="none" strike="noStrike" kern="1200" cap="none" spc="0" baseline="0">
                <a:solidFill>
                  <a:srgbClr val="000000"/>
                </a:solidFill>
                <a:uFillTx/>
                <a:latin typeface="Calibri"/>
              </a:endParaRPr>
            </a:p>
          </p:txBody>
        </p:sp>
      </p:grpSp>
      <p:grpSp>
        <p:nvGrpSpPr>
          <p:cNvPr id="11" name="Group 22">
            <a:extLst>
              <a:ext uri="{FF2B5EF4-FFF2-40B4-BE49-F238E27FC236}">
                <a16:creationId xmlns:a16="http://schemas.microsoft.com/office/drawing/2014/main" id="{74E85027-6719-451D-B60F-2ADC83BBCB64}"/>
              </a:ext>
            </a:extLst>
          </p:cNvPr>
          <p:cNvGrpSpPr/>
          <p:nvPr/>
        </p:nvGrpSpPr>
        <p:grpSpPr>
          <a:xfrm>
            <a:off x="0" y="7649733"/>
            <a:ext cx="14633225" cy="579866"/>
            <a:chOff x="0" y="7649733"/>
            <a:chExt cx="14633225" cy="579866"/>
          </a:xfrm>
        </p:grpSpPr>
        <p:sp>
          <p:nvSpPr>
            <p:cNvPr id="12" name="Rectangle 18">
              <a:extLst>
                <a:ext uri="{FF2B5EF4-FFF2-40B4-BE49-F238E27FC236}">
                  <a16:creationId xmlns:a16="http://schemas.microsoft.com/office/drawing/2014/main" id="{663AB235-BD2F-4C3C-B7D6-76221F1C0966}"/>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13" name="Rectangle 19">
              <a:extLst>
                <a:ext uri="{FF2B5EF4-FFF2-40B4-BE49-F238E27FC236}">
                  <a16:creationId xmlns:a16="http://schemas.microsoft.com/office/drawing/2014/main" id="{74A0A057-6142-46B9-8D03-81F9C4508BB6}"/>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R26-IT-128</a:t>
              </a:r>
              <a:endParaRPr lang="en-US" sz="1800" b="0" i="0" u="none" strike="noStrike" kern="1200" cap="none" spc="0" baseline="0">
                <a:solidFill>
                  <a:srgbClr val="FFC000"/>
                </a:solidFill>
                <a:uFillTx/>
                <a:latin typeface="Calibri"/>
              </a:endParaRPr>
            </a:p>
          </p:txBody>
        </p:sp>
        <p:pic>
          <p:nvPicPr>
            <p:cNvPr id="14" name="Picture 20">
              <a:extLst>
                <a:ext uri="{FF2B5EF4-FFF2-40B4-BE49-F238E27FC236}">
                  <a16:creationId xmlns:a16="http://schemas.microsoft.com/office/drawing/2014/main" id="{CC68ECCF-F916-4710-B33C-AE2196C3D920}"/>
                </a:ext>
              </a:extLst>
            </p:cNvPr>
            <p:cNvPicPr>
              <a:picLocks noChangeAspect="1"/>
            </p:cNvPicPr>
            <p:nvPr/>
          </p:nvPicPr>
          <p:blipFill>
            <a:blip r:embed="rId3"/>
            <a:stretch>
              <a:fillRect/>
            </a:stretch>
          </p:blipFill>
          <p:spPr>
            <a:xfrm>
              <a:off x="0" y="7707212"/>
              <a:ext cx="3043708" cy="522387"/>
            </a:xfrm>
            <a:prstGeom prst="rect">
              <a:avLst/>
            </a:prstGeom>
            <a:noFill/>
            <a:ln cap="flat">
              <a:noFill/>
            </a:ln>
          </p:spPr>
        </p:pic>
        <p:sp>
          <p:nvSpPr>
            <p:cNvPr id="15" name="Rectangle 21">
              <a:extLst>
                <a:ext uri="{FF2B5EF4-FFF2-40B4-BE49-F238E27FC236}">
                  <a16:creationId xmlns:a16="http://schemas.microsoft.com/office/drawing/2014/main" id="{12F05E2F-923E-4974-B363-A8F2BFD5DC7A}"/>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16" name="Text 0">
            <a:extLst>
              <a:ext uri="{FF2B5EF4-FFF2-40B4-BE49-F238E27FC236}">
                <a16:creationId xmlns:a16="http://schemas.microsoft.com/office/drawing/2014/main" id="{D9914096-B911-42BC-BA84-E98EA49DC581}"/>
              </a:ext>
            </a:extLst>
          </p:cNvPr>
          <p:cNvSpPr/>
          <p:nvPr/>
        </p:nvSpPr>
        <p:spPr>
          <a:xfrm>
            <a:off x="1256842" y="86803"/>
            <a:ext cx="11499110" cy="708778"/>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FFFFFF"/>
                </a:solidFill>
                <a:uFillTx/>
                <a:latin typeface="Calibri"/>
                <a:ea typeface="Calibri"/>
                <a:cs typeface="Calibri"/>
              </a:rPr>
              <a:t>Users, Stakeholders, and Impact</a:t>
            </a:r>
            <a:endParaRPr lang="en-US" sz="1800" b="0" i="0" u="none" strike="noStrike" kern="1200" cap="none" spc="0" baseline="0">
              <a:solidFill>
                <a:srgbClr val="000000"/>
              </a:solidFill>
              <a:uFillTx/>
              <a:latin typeface="Calibri"/>
            </a:endParaRPr>
          </a:p>
        </p:txBody>
      </p:sp>
      <p:grpSp>
        <p:nvGrpSpPr>
          <p:cNvPr id="17" name="Group 23">
            <a:extLst>
              <a:ext uri="{FF2B5EF4-FFF2-40B4-BE49-F238E27FC236}">
                <a16:creationId xmlns:a16="http://schemas.microsoft.com/office/drawing/2014/main" id="{EA45D105-05DB-42F2-ADCD-5EC7956BAE3D}"/>
              </a:ext>
            </a:extLst>
          </p:cNvPr>
          <p:cNvGrpSpPr/>
          <p:nvPr/>
        </p:nvGrpSpPr>
        <p:grpSpPr>
          <a:xfrm>
            <a:off x="3522451" y="1406200"/>
            <a:ext cx="914400" cy="914400"/>
            <a:chOff x="3522451" y="1406200"/>
            <a:chExt cx="914400" cy="914400"/>
          </a:xfrm>
        </p:grpSpPr>
        <p:sp>
          <p:nvSpPr>
            <p:cNvPr id="18" name="Shape 4">
              <a:extLst>
                <a:ext uri="{FF2B5EF4-FFF2-40B4-BE49-F238E27FC236}">
                  <a16:creationId xmlns:a16="http://schemas.microsoft.com/office/drawing/2014/main" id="{F99A5248-7540-4364-AE6F-92B4451A07F3}"/>
                </a:ext>
              </a:extLst>
            </p:cNvPr>
            <p:cNvSpPr/>
            <p:nvPr/>
          </p:nvSpPr>
          <p:spPr>
            <a:xfrm>
              <a:off x="3522451" y="1406200"/>
              <a:ext cx="914400" cy="91440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53E3E"/>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9" name="Image 0" descr="preencoded.png">
              <a:extLst>
                <a:ext uri="{FF2B5EF4-FFF2-40B4-BE49-F238E27FC236}">
                  <a16:creationId xmlns:a16="http://schemas.microsoft.com/office/drawing/2014/main" id="{DC69288E-EF18-4C92-8F3C-CBF306B12940}"/>
                </a:ext>
              </a:extLst>
            </p:cNvPr>
            <p:cNvPicPr>
              <a:picLocks noChangeAspect="1"/>
            </p:cNvPicPr>
            <p:nvPr/>
          </p:nvPicPr>
          <p:blipFill>
            <a:blip r:embed="rId4"/>
            <a:stretch>
              <a:fillRect/>
            </a:stretch>
          </p:blipFill>
          <p:spPr>
            <a:xfrm>
              <a:off x="3659611" y="1543360"/>
              <a:ext cx="640080" cy="640080"/>
            </a:xfrm>
            <a:prstGeom prst="rect">
              <a:avLst/>
            </a:prstGeom>
            <a:noFill/>
            <a:ln cap="flat">
              <a:noFill/>
            </a:ln>
          </p:spPr>
        </p:pic>
      </p:grpSp>
      <p:grpSp>
        <p:nvGrpSpPr>
          <p:cNvPr id="20" name="Group 1">
            <a:extLst>
              <a:ext uri="{FF2B5EF4-FFF2-40B4-BE49-F238E27FC236}">
                <a16:creationId xmlns:a16="http://schemas.microsoft.com/office/drawing/2014/main" id="{BAAB785F-766B-4964-8187-C527897BE3F0}"/>
              </a:ext>
            </a:extLst>
          </p:cNvPr>
          <p:cNvGrpSpPr/>
          <p:nvPr/>
        </p:nvGrpSpPr>
        <p:grpSpPr>
          <a:xfrm>
            <a:off x="7311487" y="4759845"/>
            <a:ext cx="6056354" cy="2527657"/>
            <a:chOff x="7311487" y="4759845"/>
            <a:chExt cx="6056354" cy="2527657"/>
          </a:xfrm>
        </p:grpSpPr>
        <p:sp>
          <p:nvSpPr>
            <p:cNvPr id="21" name="Shape 4">
              <a:extLst>
                <a:ext uri="{FF2B5EF4-FFF2-40B4-BE49-F238E27FC236}">
                  <a16:creationId xmlns:a16="http://schemas.microsoft.com/office/drawing/2014/main" id="{F6C68EEB-14C6-4CB0-BC94-4D0ACE2E4D37}"/>
                </a:ext>
              </a:extLst>
            </p:cNvPr>
            <p:cNvSpPr/>
            <p:nvPr/>
          </p:nvSpPr>
          <p:spPr>
            <a:xfrm>
              <a:off x="7311487" y="4759845"/>
              <a:ext cx="6056354" cy="2347932"/>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2" name="Text 5">
              <a:extLst>
                <a:ext uri="{FF2B5EF4-FFF2-40B4-BE49-F238E27FC236}">
                  <a16:creationId xmlns:a16="http://schemas.microsoft.com/office/drawing/2014/main" id="{E3CB39F1-895A-478A-B4D5-0F891983DD5F}"/>
                </a:ext>
              </a:extLst>
            </p:cNvPr>
            <p:cNvSpPr/>
            <p:nvPr/>
          </p:nvSpPr>
          <p:spPr>
            <a:xfrm>
              <a:off x="7692481" y="4999738"/>
              <a:ext cx="4607725" cy="42344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ea typeface="Calibri"/>
                  <a:cs typeface="Calibri"/>
                </a:rPr>
                <a:t>Impact on Society</a:t>
              </a:r>
              <a:br>
                <a:rPr lang="en-US" sz="2400" b="0" i="0" u="none" strike="noStrike" kern="1200" cap="none" spc="0" baseline="0">
                  <a:solidFill>
                    <a:srgbClr val="000000"/>
                  </a:solidFill>
                  <a:uFillTx/>
                  <a:latin typeface="Calibri"/>
                </a:rPr>
              </a:br>
              <a:endParaRPr lang="en-US" sz="2200" b="0" i="0" u="none" strike="noStrike" kern="1200" cap="none" spc="0" baseline="0">
                <a:solidFill>
                  <a:srgbClr val="BF9000"/>
                </a:solidFill>
                <a:uFillTx/>
                <a:latin typeface="Calibri"/>
                <a:ea typeface="Calibri"/>
                <a:cs typeface="Calibri"/>
              </a:endParaRPr>
            </a:p>
          </p:txBody>
        </p:sp>
        <p:sp>
          <p:nvSpPr>
            <p:cNvPr id="23" name="Text 6">
              <a:extLst>
                <a:ext uri="{FF2B5EF4-FFF2-40B4-BE49-F238E27FC236}">
                  <a16:creationId xmlns:a16="http://schemas.microsoft.com/office/drawing/2014/main" id="{177EFCEF-33EC-49D4-B38B-559BFFB866A0}"/>
                </a:ext>
              </a:extLst>
            </p:cNvPr>
            <p:cNvSpPr/>
            <p:nvPr/>
          </p:nvSpPr>
          <p:spPr>
            <a:xfrm>
              <a:off x="7692481" y="5523396"/>
              <a:ext cx="5194020" cy="1764106"/>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Exacerbates skill shortages in Sri Lanka's IT sector, which contributes approximately 5% to the national GDP</a:t>
              </a:r>
              <a:endParaRPr lang="en-US" sz="18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a typeface="Calibri"/>
                <a:cs typeface="Calibri"/>
              </a:endParaRPr>
            </a:p>
          </p:txBody>
        </p:sp>
      </p:grpSp>
      <p:grpSp>
        <p:nvGrpSpPr>
          <p:cNvPr id="24" name="Group 24">
            <a:extLst>
              <a:ext uri="{FF2B5EF4-FFF2-40B4-BE49-F238E27FC236}">
                <a16:creationId xmlns:a16="http://schemas.microsoft.com/office/drawing/2014/main" id="{63250A94-6556-4FF5-8EFF-7ABF8A003FE7}"/>
              </a:ext>
            </a:extLst>
          </p:cNvPr>
          <p:cNvGrpSpPr/>
          <p:nvPr/>
        </p:nvGrpSpPr>
        <p:grpSpPr>
          <a:xfrm>
            <a:off x="9988311" y="1402387"/>
            <a:ext cx="914400" cy="914400"/>
            <a:chOff x="9988311" y="1402387"/>
            <a:chExt cx="914400" cy="914400"/>
          </a:xfrm>
        </p:grpSpPr>
        <p:sp>
          <p:nvSpPr>
            <p:cNvPr id="25" name="Shape 8">
              <a:extLst>
                <a:ext uri="{FF2B5EF4-FFF2-40B4-BE49-F238E27FC236}">
                  <a16:creationId xmlns:a16="http://schemas.microsoft.com/office/drawing/2014/main" id="{D21AABCD-E162-43EC-97CB-EFB3BD8AD925}"/>
                </a:ext>
              </a:extLst>
            </p:cNvPr>
            <p:cNvSpPr/>
            <p:nvPr/>
          </p:nvSpPr>
          <p:spPr>
            <a:xfrm>
              <a:off x="9988311" y="1402387"/>
              <a:ext cx="914400" cy="91440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6" name="Image 1" descr="preencoded.png">
              <a:extLst>
                <a:ext uri="{FF2B5EF4-FFF2-40B4-BE49-F238E27FC236}">
                  <a16:creationId xmlns:a16="http://schemas.microsoft.com/office/drawing/2014/main" id="{9647F5B8-0E4C-47FF-A708-B3FDA053EAFC}"/>
                </a:ext>
              </a:extLst>
            </p:cNvPr>
            <p:cNvPicPr>
              <a:picLocks noChangeAspect="1"/>
            </p:cNvPicPr>
            <p:nvPr/>
          </p:nvPicPr>
          <p:blipFill>
            <a:blip r:embed="rId5"/>
            <a:stretch>
              <a:fillRect/>
            </a:stretch>
          </p:blipFill>
          <p:spPr>
            <a:xfrm>
              <a:off x="10125471" y="1539547"/>
              <a:ext cx="640080" cy="640080"/>
            </a:xfrm>
            <a:prstGeom prst="rect">
              <a:avLst/>
            </a:prstGeom>
            <a:noFill/>
            <a:ln cap="flat">
              <a:noFill/>
            </a:ln>
          </p:spPr>
        </p:pic>
      </p:grpSp>
      <p:grpSp>
        <p:nvGrpSpPr>
          <p:cNvPr id="27" name="Group 27">
            <a:extLst>
              <a:ext uri="{FF2B5EF4-FFF2-40B4-BE49-F238E27FC236}">
                <a16:creationId xmlns:a16="http://schemas.microsoft.com/office/drawing/2014/main" id="{15470CA9-E0BB-4F3F-BF56-0B9CFC0E1224}"/>
              </a:ext>
            </a:extLst>
          </p:cNvPr>
          <p:cNvGrpSpPr/>
          <p:nvPr/>
        </p:nvGrpSpPr>
        <p:grpSpPr>
          <a:xfrm>
            <a:off x="9993669" y="4120871"/>
            <a:ext cx="914400" cy="914400"/>
            <a:chOff x="9993669" y="4120871"/>
            <a:chExt cx="914400" cy="914400"/>
          </a:xfrm>
        </p:grpSpPr>
        <p:sp>
          <p:nvSpPr>
            <p:cNvPr id="28" name="Shape 12">
              <a:extLst>
                <a:ext uri="{FF2B5EF4-FFF2-40B4-BE49-F238E27FC236}">
                  <a16:creationId xmlns:a16="http://schemas.microsoft.com/office/drawing/2014/main" id="{AD4ECEA6-D2A7-4910-B7F1-A6C4BA614AC0}"/>
                </a:ext>
              </a:extLst>
            </p:cNvPr>
            <p:cNvSpPr/>
            <p:nvPr/>
          </p:nvSpPr>
          <p:spPr>
            <a:xfrm>
              <a:off x="9993669" y="4120871"/>
              <a:ext cx="914400" cy="91440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9" name="Image 2" descr="preencoded.png">
              <a:extLst>
                <a:ext uri="{FF2B5EF4-FFF2-40B4-BE49-F238E27FC236}">
                  <a16:creationId xmlns:a16="http://schemas.microsoft.com/office/drawing/2014/main" id="{7A5B23F1-01B6-4C62-A6F1-3C1B7F076F4A}"/>
                </a:ext>
              </a:extLst>
            </p:cNvPr>
            <p:cNvPicPr>
              <a:picLocks noChangeAspect="1"/>
            </p:cNvPicPr>
            <p:nvPr/>
          </p:nvPicPr>
          <p:blipFill>
            <a:blip r:embed="rId6"/>
            <a:stretch>
              <a:fillRect/>
            </a:stretch>
          </p:blipFill>
          <p:spPr>
            <a:xfrm>
              <a:off x="10130829" y="4258031"/>
              <a:ext cx="640080" cy="640080"/>
            </a:xfrm>
            <a:prstGeom prst="rect">
              <a:avLst/>
            </a:prstGeom>
            <a:noFill/>
            <a:ln cap="flat">
              <a:noFill/>
            </a:ln>
          </p:spPr>
        </p:pic>
      </p:grpSp>
      <p:grpSp>
        <p:nvGrpSpPr>
          <p:cNvPr id="30" name="Group 9">
            <a:extLst>
              <a:ext uri="{FF2B5EF4-FFF2-40B4-BE49-F238E27FC236}">
                <a16:creationId xmlns:a16="http://schemas.microsoft.com/office/drawing/2014/main" id="{65CBB8F4-D254-4E5B-B4DB-726B43140333}"/>
              </a:ext>
            </a:extLst>
          </p:cNvPr>
          <p:cNvGrpSpPr/>
          <p:nvPr/>
        </p:nvGrpSpPr>
        <p:grpSpPr>
          <a:xfrm>
            <a:off x="947748" y="4759845"/>
            <a:ext cx="6056354" cy="2341705"/>
            <a:chOff x="947748" y="4759845"/>
            <a:chExt cx="6056354" cy="2341705"/>
          </a:xfrm>
        </p:grpSpPr>
        <p:sp>
          <p:nvSpPr>
            <p:cNvPr id="31" name="Shape 4">
              <a:extLst>
                <a:ext uri="{FF2B5EF4-FFF2-40B4-BE49-F238E27FC236}">
                  <a16:creationId xmlns:a16="http://schemas.microsoft.com/office/drawing/2014/main" id="{4293C5D8-35B7-4870-BC99-A64547BC2604}"/>
                </a:ext>
              </a:extLst>
            </p:cNvPr>
            <p:cNvSpPr/>
            <p:nvPr/>
          </p:nvSpPr>
          <p:spPr>
            <a:xfrm>
              <a:off x="947748" y="4759845"/>
              <a:ext cx="6056354" cy="2341705"/>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32" name="Text 5">
              <a:extLst>
                <a:ext uri="{FF2B5EF4-FFF2-40B4-BE49-F238E27FC236}">
                  <a16:creationId xmlns:a16="http://schemas.microsoft.com/office/drawing/2014/main" id="{F6FDE422-0DA5-4C27-B6DD-C5F36E84B377}"/>
                </a:ext>
              </a:extLst>
            </p:cNvPr>
            <p:cNvSpPr/>
            <p:nvPr/>
          </p:nvSpPr>
          <p:spPr>
            <a:xfrm>
              <a:off x="1267266" y="4943072"/>
              <a:ext cx="4734781" cy="282385"/>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rPr>
                <a:t>Impact</a:t>
              </a:r>
              <a:r>
                <a:rPr lang="en-US" sz="2400" b="1" i="0" u="none" strike="noStrike" kern="1200" cap="none" spc="0" baseline="0">
                  <a:solidFill>
                    <a:srgbClr val="BF9000"/>
                  </a:solidFill>
                  <a:uFillTx/>
                  <a:latin typeface="Calibri"/>
                  <a:ea typeface="Calibri"/>
                  <a:cs typeface="Calibri"/>
                </a:rPr>
                <a:t> on Users</a:t>
              </a:r>
              <a:br>
                <a:rPr lang="en-US" sz="2400" b="0" i="0" u="none" strike="noStrike" kern="1200" cap="none" spc="0" baseline="0">
                  <a:solidFill>
                    <a:srgbClr val="000000"/>
                  </a:solidFill>
                  <a:uFillTx/>
                  <a:latin typeface="Calibri"/>
                </a:rPr>
              </a:br>
              <a:endParaRPr lang="en-US" sz="2200" b="0" i="0" u="none" strike="noStrike" kern="1200" cap="none" spc="0" baseline="0">
                <a:solidFill>
                  <a:srgbClr val="BF9000"/>
                </a:solidFill>
                <a:uFillTx/>
                <a:latin typeface="Calibri"/>
              </a:endParaRPr>
            </a:p>
          </p:txBody>
        </p:sp>
        <p:sp>
          <p:nvSpPr>
            <p:cNvPr id="33" name="Text 6">
              <a:extLst>
                <a:ext uri="{FF2B5EF4-FFF2-40B4-BE49-F238E27FC236}">
                  <a16:creationId xmlns:a16="http://schemas.microsoft.com/office/drawing/2014/main" id="{FE012810-C50C-43B4-BC99-E0495989AAB9}"/>
                </a:ext>
              </a:extLst>
            </p:cNvPr>
            <p:cNvSpPr/>
            <p:nvPr/>
          </p:nvSpPr>
          <p:spPr>
            <a:xfrm>
              <a:off x="1254904" y="5283421"/>
              <a:ext cx="5281528" cy="1726058"/>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53.8% report university courses frequently fail to match job requirements</a:t>
              </a:r>
              <a:endParaRPr lang="en-US" sz="18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50.3% face high uncertainty in predicting future skill demands</a:t>
              </a:r>
              <a:endParaRPr lang="en-US" sz="18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49.1% cite nervousness and lack of confidence as their biggest technical interview challenge</a:t>
              </a:r>
              <a:endParaRPr lang="en-US" sz="18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a typeface="Calibri"/>
                <a:cs typeface="Calibri"/>
              </a:endParaRPr>
            </a:p>
          </p:txBody>
        </p:sp>
      </p:grpSp>
      <p:grpSp>
        <p:nvGrpSpPr>
          <p:cNvPr id="34" name="Group 33">
            <a:extLst>
              <a:ext uri="{FF2B5EF4-FFF2-40B4-BE49-F238E27FC236}">
                <a16:creationId xmlns:a16="http://schemas.microsoft.com/office/drawing/2014/main" id="{0404182A-2A23-4C84-8B74-0F3BAB927D9C}"/>
              </a:ext>
            </a:extLst>
          </p:cNvPr>
          <p:cNvGrpSpPr/>
          <p:nvPr/>
        </p:nvGrpSpPr>
        <p:grpSpPr>
          <a:xfrm>
            <a:off x="3518730" y="4120871"/>
            <a:ext cx="914400" cy="914400"/>
            <a:chOff x="3518730" y="4120871"/>
            <a:chExt cx="914400" cy="914400"/>
          </a:xfrm>
        </p:grpSpPr>
        <p:sp>
          <p:nvSpPr>
            <p:cNvPr id="35" name="Shape 12">
              <a:extLst>
                <a:ext uri="{FF2B5EF4-FFF2-40B4-BE49-F238E27FC236}">
                  <a16:creationId xmlns:a16="http://schemas.microsoft.com/office/drawing/2014/main" id="{821F6B06-D26A-49B5-88E9-6693C0D9A247}"/>
                </a:ext>
              </a:extLst>
            </p:cNvPr>
            <p:cNvSpPr/>
            <p:nvPr/>
          </p:nvSpPr>
          <p:spPr>
            <a:xfrm>
              <a:off x="3518730" y="4120871"/>
              <a:ext cx="914400" cy="91440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36" name="Image 2" descr="preencoded.png">
              <a:extLst>
                <a:ext uri="{FF2B5EF4-FFF2-40B4-BE49-F238E27FC236}">
                  <a16:creationId xmlns:a16="http://schemas.microsoft.com/office/drawing/2014/main" id="{AED894EA-D8FD-4F90-B48F-8EA09DFEDA40}"/>
                </a:ext>
              </a:extLst>
            </p:cNvPr>
            <p:cNvPicPr>
              <a:picLocks noChangeAspect="1"/>
            </p:cNvPicPr>
            <p:nvPr/>
          </p:nvPicPr>
          <p:blipFill>
            <a:blip r:embed="rId6"/>
            <a:stretch>
              <a:fillRect/>
            </a:stretch>
          </p:blipFill>
          <p:spPr>
            <a:xfrm>
              <a:off x="3655890" y="4258031"/>
              <a:ext cx="640080" cy="640080"/>
            </a:xfrm>
            <a:prstGeom prst="rect">
              <a:avLst/>
            </a:prstGeom>
            <a:noFill/>
            <a:ln cap="flat">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34">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ACAE4D5-E87D-4758-B5E9-AB75E0A92774}"/>
              </a:ext>
            </a:extLst>
          </p:cNvPr>
          <p:cNvSpPr/>
          <p:nvPr/>
        </p:nvSpPr>
        <p:spPr>
          <a:xfrm>
            <a:off x="0" y="0"/>
            <a:ext cx="14630400" cy="1005840"/>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nvGrpSpPr>
          <p:cNvPr id="3" name="Group 12">
            <a:extLst>
              <a:ext uri="{FF2B5EF4-FFF2-40B4-BE49-F238E27FC236}">
                <a16:creationId xmlns:a16="http://schemas.microsoft.com/office/drawing/2014/main" id="{849C8EAA-3700-4C40-B070-44D9A69B87CC}"/>
              </a:ext>
            </a:extLst>
          </p:cNvPr>
          <p:cNvGrpSpPr/>
          <p:nvPr/>
        </p:nvGrpSpPr>
        <p:grpSpPr>
          <a:xfrm>
            <a:off x="514862" y="1236369"/>
            <a:ext cx="13519833" cy="821588"/>
            <a:chOff x="514862" y="1236369"/>
            <a:chExt cx="13519833" cy="821588"/>
          </a:xfrm>
        </p:grpSpPr>
        <p:sp>
          <p:nvSpPr>
            <p:cNvPr id="4" name="Shape 1">
              <a:extLst>
                <a:ext uri="{FF2B5EF4-FFF2-40B4-BE49-F238E27FC236}">
                  <a16:creationId xmlns:a16="http://schemas.microsoft.com/office/drawing/2014/main" id="{894AF4EC-7E4A-4F22-9769-0426B7C653C8}"/>
                </a:ext>
              </a:extLst>
            </p:cNvPr>
            <p:cNvSpPr/>
            <p:nvPr/>
          </p:nvSpPr>
          <p:spPr>
            <a:xfrm>
              <a:off x="514862" y="1238170"/>
              <a:ext cx="13519833" cy="819787"/>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5" name="Text 2">
              <a:extLst>
                <a:ext uri="{FF2B5EF4-FFF2-40B4-BE49-F238E27FC236}">
                  <a16:creationId xmlns:a16="http://schemas.microsoft.com/office/drawing/2014/main" id="{679BBECF-0356-4E9B-BE69-374119737AB1}"/>
                </a:ext>
              </a:extLst>
            </p:cNvPr>
            <p:cNvSpPr/>
            <p:nvPr/>
          </p:nvSpPr>
          <p:spPr>
            <a:xfrm>
              <a:off x="699314" y="1236369"/>
              <a:ext cx="12217298" cy="440877"/>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rPr>
                <a:t>Existing</a:t>
              </a:r>
              <a:r>
                <a:rPr lang="en-US" sz="2400" b="1" i="0" u="none" strike="noStrike" kern="1200" cap="none" spc="0" baseline="0">
                  <a:solidFill>
                    <a:srgbClr val="BF9000"/>
                  </a:solidFill>
                  <a:uFillTx/>
                  <a:latin typeface="Calibri"/>
                  <a:ea typeface="Calibri"/>
                  <a:cs typeface="Calibri"/>
                </a:rPr>
                <a:t> Tools</a:t>
              </a:r>
              <a:endParaRPr lang="en-US" sz="2200" b="1" i="0" u="none" strike="noStrike" kern="1200" cap="none" spc="0" baseline="0">
                <a:solidFill>
                  <a:srgbClr val="BF9000"/>
                </a:solidFill>
                <a:uFillTx/>
                <a:latin typeface="Calibri"/>
              </a:endParaRPr>
            </a:p>
          </p:txBody>
        </p:sp>
        <p:sp>
          <p:nvSpPr>
            <p:cNvPr id="6" name="Text 3">
              <a:extLst>
                <a:ext uri="{FF2B5EF4-FFF2-40B4-BE49-F238E27FC236}">
                  <a16:creationId xmlns:a16="http://schemas.microsoft.com/office/drawing/2014/main" id="{83C48C8A-319C-4D80-AD9E-F218B6F0A89B}"/>
                </a:ext>
              </a:extLst>
            </p:cNvPr>
            <p:cNvSpPr/>
            <p:nvPr/>
          </p:nvSpPr>
          <p:spPr>
            <a:xfrm>
              <a:off x="737143" y="1694401"/>
              <a:ext cx="13082741" cy="354924"/>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Local job sites with basic functionality and conventional mock interview systems</a:t>
              </a:r>
              <a:endParaRPr lang="en-US" sz="1800" b="0" i="0" u="none" strike="noStrike" kern="1200" cap="none" spc="0" baseline="0">
                <a:solidFill>
                  <a:srgbClr val="000000"/>
                </a:solidFill>
                <a:uFillTx/>
                <a:latin typeface="Calibri"/>
              </a:endParaRPr>
            </a:p>
          </p:txBody>
        </p:sp>
      </p:grpSp>
      <p:grpSp>
        <p:nvGrpSpPr>
          <p:cNvPr id="7" name="Group 22">
            <a:extLst>
              <a:ext uri="{FF2B5EF4-FFF2-40B4-BE49-F238E27FC236}">
                <a16:creationId xmlns:a16="http://schemas.microsoft.com/office/drawing/2014/main" id="{CFDDCB98-BE8E-4784-9EF7-DD5DA464D5A6}"/>
              </a:ext>
            </a:extLst>
          </p:cNvPr>
          <p:cNvGrpSpPr/>
          <p:nvPr/>
        </p:nvGrpSpPr>
        <p:grpSpPr>
          <a:xfrm>
            <a:off x="0" y="7649733"/>
            <a:ext cx="14633225" cy="579866"/>
            <a:chOff x="0" y="7649733"/>
            <a:chExt cx="14633225" cy="579866"/>
          </a:xfrm>
        </p:grpSpPr>
        <p:sp>
          <p:nvSpPr>
            <p:cNvPr id="8" name="Rectangle 18">
              <a:extLst>
                <a:ext uri="{FF2B5EF4-FFF2-40B4-BE49-F238E27FC236}">
                  <a16:creationId xmlns:a16="http://schemas.microsoft.com/office/drawing/2014/main" id="{061BE18B-7C56-45D4-B6C3-93E3339E5CDC}"/>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9" name="Rectangle 19">
              <a:extLst>
                <a:ext uri="{FF2B5EF4-FFF2-40B4-BE49-F238E27FC236}">
                  <a16:creationId xmlns:a16="http://schemas.microsoft.com/office/drawing/2014/main" id="{76712B62-FD77-47A4-A075-9629B3B5C502}"/>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R26-IT-128</a:t>
              </a:r>
              <a:endParaRPr lang="en-US" sz="1800" b="0" i="0" u="none" strike="noStrike" kern="1200" cap="none" spc="0" baseline="0">
                <a:solidFill>
                  <a:srgbClr val="FFC000"/>
                </a:solidFill>
                <a:uFillTx/>
                <a:latin typeface="Calibri"/>
              </a:endParaRPr>
            </a:p>
          </p:txBody>
        </p:sp>
        <p:pic>
          <p:nvPicPr>
            <p:cNvPr id="10" name="Picture 20">
              <a:extLst>
                <a:ext uri="{FF2B5EF4-FFF2-40B4-BE49-F238E27FC236}">
                  <a16:creationId xmlns:a16="http://schemas.microsoft.com/office/drawing/2014/main" id="{04E096C3-A752-4C4E-9263-CF6D30FD84F2}"/>
                </a:ext>
              </a:extLst>
            </p:cNvPr>
            <p:cNvPicPr>
              <a:picLocks noChangeAspect="1"/>
            </p:cNvPicPr>
            <p:nvPr/>
          </p:nvPicPr>
          <p:blipFill>
            <a:blip r:embed="rId3"/>
            <a:stretch>
              <a:fillRect/>
            </a:stretch>
          </p:blipFill>
          <p:spPr>
            <a:xfrm>
              <a:off x="0" y="7707212"/>
              <a:ext cx="3043708" cy="522387"/>
            </a:xfrm>
            <a:prstGeom prst="rect">
              <a:avLst/>
            </a:prstGeom>
            <a:noFill/>
            <a:ln cap="flat">
              <a:noFill/>
            </a:ln>
          </p:spPr>
        </p:pic>
        <p:sp>
          <p:nvSpPr>
            <p:cNvPr id="11" name="Rectangle 21">
              <a:extLst>
                <a:ext uri="{FF2B5EF4-FFF2-40B4-BE49-F238E27FC236}">
                  <a16:creationId xmlns:a16="http://schemas.microsoft.com/office/drawing/2014/main" id="{59C331DB-01C3-4F40-9D81-54AD1F216870}"/>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12" name="Text 0">
            <a:extLst>
              <a:ext uri="{FF2B5EF4-FFF2-40B4-BE49-F238E27FC236}">
                <a16:creationId xmlns:a16="http://schemas.microsoft.com/office/drawing/2014/main" id="{99E72C62-E72E-4634-A56A-39D0A2D82084}"/>
              </a:ext>
            </a:extLst>
          </p:cNvPr>
          <p:cNvSpPr/>
          <p:nvPr/>
        </p:nvSpPr>
        <p:spPr>
          <a:xfrm>
            <a:off x="1256842" y="86803"/>
            <a:ext cx="11499110" cy="708778"/>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FFFFFF"/>
                </a:solidFill>
                <a:uFillTx/>
                <a:latin typeface="Calibri"/>
                <a:ea typeface="Calibri"/>
                <a:cs typeface="Calibri"/>
              </a:rPr>
              <a:t>Limitations of Current Systems</a:t>
            </a:r>
            <a:endParaRPr lang="en-US" sz="1800" b="0" i="0" u="none" strike="noStrike" kern="1200" cap="none" spc="0" baseline="0">
              <a:solidFill>
                <a:srgbClr val="000000"/>
              </a:solidFill>
              <a:uFillTx/>
              <a:latin typeface="Calibri"/>
            </a:endParaRPr>
          </a:p>
        </p:txBody>
      </p:sp>
      <p:grpSp>
        <p:nvGrpSpPr>
          <p:cNvPr id="13" name="Group 65">
            <a:extLst>
              <a:ext uri="{FF2B5EF4-FFF2-40B4-BE49-F238E27FC236}">
                <a16:creationId xmlns:a16="http://schemas.microsoft.com/office/drawing/2014/main" id="{6F191727-52C9-4A7E-A992-B97BF09CCC3C}"/>
              </a:ext>
            </a:extLst>
          </p:cNvPr>
          <p:cNvGrpSpPr/>
          <p:nvPr/>
        </p:nvGrpSpPr>
        <p:grpSpPr>
          <a:xfrm>
            <a:off x="514862" y="2347081"/>
            <a:ext cx="13519833" cy="4987210"/>
            <a:chOff x="514862" y="2347081"/>
            <a:chExt cx="13519833" cy="4987210"/>
          </a:xfrm>
        </p:grpSpPr>
        <p:sp>
          <p:nvSpPr>
            <p:cNvPr id="14" name="Shape 1">
              <a:extLst>
                <a:ext uri="{FF2B5EF4-FFF2-40B4-BE49-F238E27FC236}">
                  <a16:creationId xmlns:a16="http://schemas.microsoft.com/office/drawing/2014/main" id="{B5322C48-5EEA-4827-93D0-03CED70AE0CF}"/>
                </a:ext>
              </a:extLst>
            </p:cNvPr>
            <p:cNvSpPr/>
            <p:nvPr/>
          </p:nvSpPr>
          <p:spPr>
            <a:xfrm>
              <a:off x="514862" y="2347081"/>
              <a:ext cx="13519833" cy="4987210"/>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5" name="Text 2">
              <a:extLst>
                <a:ext uri="{FF2B5EF4-FFF2-40B4-BE49-F238E27FC236}">
                  <a16:creationId xmlns:a16="http://schemas.microsoft.com/office/drawing/2014/main" id="{08E831A1-04C1-4DB2-8B93-EB664D9EA215}"/>
                </a:ext>
              </a:extLst>
            </p:cNvPr>
            <p:cNvSpPr/>
            <p:nvPr/>
          </p:nvSpPr>
          <p:spPr>
            <a:xfrm>
              <a:off x="699314" y="2620322"/>
              <a:ext cx="12217298" cy="396127"/>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rPr>
                <a:t>Core</a:t>
              </a:r>
              <a:r>
                <a:rPr lang="en-US" sz="2400" b="1" i="0" u="none" strike="noStrike" kern="1200" cap="none" spc="0" baseline="0">
                  <a:solidFill>
                    <a:srgbClr val="BF9000"/>
                  </a:solidFill>
                  <a:uFillTx/>
                  <a:latin typeface="Calibri"/>
                  <a:ea typeface="Calibri"/>
                  <a:cs typeface="Calibri"/>
                </a:rPr>
                <a:t> Limitations</a:t>
              </a:r>
              <a:endParaRPr lang="en-US" sz="2200" b="1" i="0" u="none" strike="noStrike" kern="1200" cap="none" spc="0" baseline="0">
                <a:solidFill>
                  <a:srgbClr val="BF9000"/>
                </a:solidFill>
                <a:uFillTx/>
                <a:latin typeface="Calibri"/>
              </a:endParaRPr>
            </a:p>
          </p:txBody>
        </p:sp>
        <p:sp>
          <p:nvSpPr>
            <p:cNvPr id="16" name="Text 3">
              <a:extLst>
                <a:ext uri="{FF2B5EF4-FFF2-40B4-BE49-F238E27FC236}">
                  <a16:creationId xmlns:a16="http://schemas.microsoft.com/office/drawing/2014/main" id="{13621C39-8DFF-4815-BF92-D260738F15E0}"/>
                </a:ext>
              </a:extLst>
            </p:cNvPr>
            <p:cNvSpPr/>
            <p:nvPr/>
          </p:nvSpPr>
          <p:spPr>
            <a:xfrm>
              <a:off x="712436" y="3713936"/>
              <a:ext cx="13020955" cy="404548"/>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Fail to process non-searchable job flyer images, which 46.9% of students rely on frequently</a:t>
              </a:r>
              <a:endParaRPr lang="en-US" sz="1800" b="0" i="0" u="none" strike="noStrike" kern="1200" cap="none" spc="0" baseline="0">
                <a:solidFill>
                  <a:srgbClr val="000000"/>
                </a:solidFill>
                <a:uFillTx/>
                <a:latin typeface="Calibri"/>
              </a:endParaRPr>
            </a:p>
          </p:txBody>
        </p:sp>
      </p:grpSp>
      <p:sp>
        <p:nvSpPr>
          <p:cNvPr id="17" name="TextBox 69">
            <a:extLst>
              <a:ext uri="{FF2B5EF4-FFF2-40B4-BE49-F238E27FC236}">
                <a16:creationId xmlns:a16="http://schemas.microsoft.com/office/drawing/2014/main" id="{0594159E-33B5-44EB-AAE9-4DBB1EE0A927}"/>
              </a:ext>
            </a:extLst>
          </p:cNvPr>
          <p:cNvSpPr txBox="1"/>
          <p:nvPr/>
        </p:nvSpPr>
        <p:spPr>
          <a:xfrm>
            <a:off x="630195" y="4287795"/>
            <a:ext cx="7673544" cy="73866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BF9000"/>
                </a:solidFill>
                <a:uFillTx/>
                <a:latin typeface="Calibri"/>
              </a:rPr>
              <a:t>Rigid</a:t>
            </a:r>
            <a:r>
              <a:rPr lang="en-US" sz="2400" b="0" i="0" u="none" strike="noStrike" kern="1200" cap="none" spc="0" baseline="0">
                <a:solidFill>
                  <a:srgbClr val="BF9000"/>
                </a:solidFill>
                <a:uFillTx/>
                <a:latin typeface="Calibri"/>
                <a:ea typeface="Calibri"/>
                <a:cs typeface="Calibri"/>
              </a:rPr>
              <a:t> Matching</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8" name="TextBox 70">
            <a:extLst>
              <a:ext uri="{FF2B5EF4-FFF2-40B4-BE49-F238E27FC236}">
                <a16:creationId xmlns:a16="http://schemas.microsoft.com/office/drawing/2014/main" id="{65D694A1-1F2F-4B89-B750-674638869B9F}"/>
              </a:ext>
            </a:extLst>
          </p:cNvPr>
          <p:cNvSpPr txBox="1"/>
          <p:nvPr/>
        </p:nvSpPr>
        <p:spPr>
          <a:xfrm>
            <a:off x="630195" y="3249832"/>
            <a:ext cx="7315200" cy="73866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BF9000"/>
                </a:solidFill>
                <a:uFillTx/>
                <a:latin typeface="Calibri"/>
              </a:rPr>
              <a:t>Data Blind Spots</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9" name="TextBox 71">
            <a:extLst>
              <a:ext uri="{FF2B5EF4-FFF2-40B4-BE49-F238E27FC236}">
                <a16:creationId xmlns:a16="http://schemas.microsoft.com/office/drawing/2014/main" id="{EC0E933B-8075-4D50-8F3E-5D04FDC5155E}"/>
              </a:ext>
            </a:extLst>
          </p:cNvPr>
          <p:cNvSpPr txBox="1"/>
          <p:nvPr/>
        </p:nvSpPr>
        <p:spPr>
          <a:xfrm>
            <a:off x="630195" y="5239265"/>
            <a:ext cx="7315200" cy="73866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BF9000"/>
                </a:solidFill>
                <a:uFillTx/>
                <a:latin typeface="Calibri"/>
                <a:ea typeface="Calibri"/>
                <a:cs typeface="Calibri"/>
              </a:rPr>
              <a:t>Lack of Forecasting</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0" name="TextBox 72">
            <a:extLst>
              <a:ext uri="{FF2B5EF4-FFF2-40B4-BE49-F238E27FC236}">
                <a16:creationId xmlns:a16="http://schemas.microsoft.com/office/drawing/2014/main" id="{6F9EF522-B843-4269-94A7-656DBEAE788B}"/>
              </a:ext>
            </a:extLst>
          </p:cNvPr>
          <p:cNvSpPr txBox="1"/>
          <p:nvPr/>
        </p:nvSpPr>
        <p:spPr>
          <a:xfrm>
            <a:off x="630195" y="6203088"/>
            <a:ext cx="7315200" cy="73866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rgbClr val="BF9000"/>
                </a:solidFill>
                <a:uFillTx/>
                <a:latin typeface="Calibri"/>
                <a:ea typeface="Calibri"/>
                <a:cs typeface="Calibri"/>
              </a:rPr>
              <a:t>No Behavioral Feedback</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1" name="TextBox 73">
            <a:extLst>
              <a:ext uri="{FF2B5EF4-FFF2-40B4-BE49-F238E27FC236}">
                <a16:creationId xmlns:a16="http://schemas.microsoft.com/office/drawing/2014/main" id="{FA6FBE41-FE89-404A-9FCC-66BEDEFCE387}"/>
              </a:ext>
            </a:extLst>
          </p:cNvPr>
          <p:cNvSpPr txBox="1"/>
          <p:nvPr/>
        </p:nvSpPr>
        <p:spPr>
          <a:xfrm>
            <a:off x="630195" y="4658493"/>
            <a:ext cx="7315200"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Calibri"/>
                <a:ea typeface="Calibri"/>
                <a:cs typeface="Calibri"/>
              </a:rPr>
              <a:t>Rely on static keyword matching, ignoring semantic variations in skills</a:t>
            </a:r>
            <a:endParaRPr lang="en-US" sz="1800" b="0" i="0" u="none" strike="noStrike" kern="1200" cap="none" spc="0" baseline="0">
              <a:solidFill>
                <a:srgbClr val="000000"/>
              </a:solidFill>
              <a:uFillTx/>
              <a:latin typeface="Calibri"/>
            </a:endParaRPr>
          </a:p>
        </p:txBody>
      </p:sp>
      <p:sp>
        <p:nvSpPr>
          <p:cNvPr id="22" name="Text 3">
            <a:extLst>
              <a:ext uri="{FF2B5EF4-FFF2-40B4-BE49-F238E27FC236}">
                <a16:creationId xmlns:a16="http://schemas.microsoft.com/office/drawing/2014/main" id="{14DD75BE-A6E5-4358-8F6B-B47B475C13B4}"/>
              </a:ext>
            </a:extLst>
          </p:cNvPr>
          <p:cNvSpPr/>
          <p:nvPr/>
        </p:nvSpPr>
        <p:spPr>
          <a:xfrm>
            <a:off x="704197" y="6572469"/>
            <a:ext cx="13020955" cy="404548"/>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Ignore real-time attention detection, despite 61.3% of students knowing composure affects interview outcomes</a:t>
            </a:r>
            <a:endParaRPr lang="en-US" sz="1800" b="0" i="0" u="none" strike="noStrike" kern="1200" cap="none" spc="0" baseline="0">
              <a:solidFill>
                <a:srgbClr val="000000"/>
              </a:solidFill>
              <a:uFillTx/>
              <a:latin typeface="Calibri"/>
            </a:endParaRPr>
          </a:p>
        </p:txBody>
      </p:sp>
      <p:sp>
        <p:nvSpPr>
          <p:cNvPr id="23" name="Text 3">
            <a:extLst>
              <a:ext uri="{FF2B5EF4-FFF2-40B4-BE49-F238E27FC236}">
                <a16:creationId xmlns:a16="http://schemas.microsoft.com/office/drawing/2014/main" id="{8C4AC5F0-0D63-4863-BD2C-07CB647F24FC}"/>
              </a:ext>
            </a:extLst>
          </p:cNvPr>
          <p:cNvSpPr/>
          <p:nvPr/>
        </p:nvSpPr>
        <p:spPr>
          <a:xfrm>
            <a:off x="704197" y="5608636"/>
            <a:ext cx="13020955" cy="404548"/>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Do not provide short-term forecasting or predictive career modeling</a:t>
            </a:r>
            <a:endParaRPr lang="en-US" sz="1800" b="0" i="0" u="none" strike="noStrike" kern="1200" cap="none" spc="0" baseline="0">
              <a:solidFill>
                <a:srgbClr val="000000"/>
              </a:solidFill>
              <a:uFillTx/>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35">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8253B81-480F-4C19-BA9B-3BB0266F09A6}"/>
              </a:ext>
            </a:extLst>
          </p:cNvPr>
          <p:cNvSpPr/>
          <p:nvPr/>
        </p:nvSpPr>
        <p:spPr>
          <a:xfrm>
            <a:off x="0" y="0"/>
            <a:ext cx="14630400" cy="1005840"/>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nvGrpSpPr>
          <p:cNvPr id="3" name="Group 12">
            <a:extLst>
              <a:ext uri="{FF2B5EF4-FFF2-40B4-BE49-F238E27FC236}">
                <a16:creationId xmlns:a16="http://schemas.microsoft.com/office/drawing/2014/main" id="{2C4C8DA1-707F-43F6-B585-0F9081455174}"/>
              </a:ext>
            </a:extLst>
          </p:cNvPr>
          <p:cNvGrpSpPr/>
          <p:nvPr/>
        </p:nvGrpSpPr>
        <p:grpSpPr>
          <a:xfrm>
            <a:off x="366582" y="1472942"/>
            <a:ext cx="13729898" cy="6021982"/>
            <a:chOff x="366582" y="1472942"/>
            <a:chExt cx="13729898" cy="6021982"/>
          </a:xfrm>
        </p:grpSpPr>
        <p:sp>
          <p:nvSpPr>
            <p:cNvPr id="4" name="Shape 1">
              <a:extLst>
                <a:ext uri="{FF2B5EF4-FFF2-40B4-BE49-F238E27FC236}">
                  <a16:creationId xmlns:a16="http://schemas.microsoft.com/office/drawing/2014/main" id="{31A49631-7F42-4043-9331-C54B14AEC1C4}"/>
                </a:ext>
              </a:extLst>
            </p:cNvPr>
            <p:cNvSpPr/>
            <p:nvPr/>
          </p:nvSpPr>
          <p:spPr>
            <a:xfrm>
              <a:off x="366582" y="1472942"/>
              <a:ext cx="13729898" cy="6021982"/>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5" name="Text 2">
              <a:extLst>
                <a:ext uri="{FF2B5EF4-FFF2-40B4-BE49-F238E27FC236}">
                  <a16:creationId xmlns:a16="http://schemas.microsoft.com/office/drawing/2014/main" id="{8539A815-30B2-401F-8CBC-FC9CDD4D4633}"/>
                </a:ext>
              </a:extLst>
            </p:cNvPr>
            <p:cNvSpPr/>
            <p:nvPr/>
          </p:nvSpPr>
          <p:spPr>
            <a:xfrm>
              <a:off x="545311" y="1919069"/>
              <a:ext cx="4865330" cy="680258"/>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ea typeface="Calibri"/>
                  <a:cs typeface="Calibri"/>
                </a:rPr>
                <a:t>Solution Overview</a:t>
              </a:r>
              <a:endParaRPr lang="en-US" sz="1800" b="1" i="0" u="none" strike="noStrike" kern="1200" cap="none" spc="0" baseline="0">
                <a:solidFill>
                  <a:srgbClr val="BF9000"/>
                </a:solidFill>
                <a:uFillTx/>
                <a:latin typeface="Calibri"/>
              </a:endParaRPr>
            </a:p>
          </p:txBody>
        </p:sp>
        <p:sp>
          <p:nvSpPr>
            <p:cNvPr id="6" name="Text 3">
              <a:extLst>
                <a:ext uri="{FF2B5EF4-FFF2-40B4-BE49-F238E27FC236}">
                  <a16:creationId xmlns:a16="http://schemas.microsoft.com/office/drawing/2014/main" id="{69943820-E87D-4270-836C-827B750548FC}"/>
                </a:ext>
              </a:extLst>
            </p:cNvPr>
            <p:cNvSpPr/>
            <p:nvPr/>
          </p:nvSpPr>
          <p:spPr>
            <a:xfrm>
              <a:off x="552882" y="2452228"/>
              <a:ext cx="12910971" cy="698080"/>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An integrated, AI-driven ecosystem that analyzes job trends, predicts pathways, optimizes resumes, and simulates interviews</a:t>
              </a:r>
              <a:endParaRPr lang="en-US" sz="1800" b="0" i="0" u="none" strike="noStrike" kern="1200" cap="none" spc="0" baseline="0">
                <a:solidFill>
                  <a:srgbClr val="000000"/>
                </a:solidFill>
                <a:uFillTx/>
                <a:latin typeface="Calibri"/>
              </a:endParaRPr>
            </a:p>
          </p:txBody>
        </p:sp>
      </p:grpSp>
      <p:grpSp>
        <p:nvGrpSpPr>
          <p:cNvPr id="7" name="Group 22">
            <a:extLst>
              <a:ext uri="{FF2B5EF4-FFF2-40B4-BE49-F238E27FC236}">
                <a16:creationId xmlns:a16="http://schemas.microsoft.com/office/drawing/2014/main" id="{503726CB-30DC-4BB3-8BAB-64DFDE3D78E6}"/>
              </a:ext>
            </a:extLst>
          </p:cNvPr>
          <p:cNvGrpSpPr/>
          <p:nvPr/>
        </p:nvGrpSpPr>
        <p:grpSpPr>
          <a:xfrm>
            <a:off x="0" y="7649733"/>
            <a:ext cx="14633225" cy="579866"/>
            <a:chOff x="0" y="7649733"/>
            <a:chExt cx="14633225" cy="579866"/>
          </a:xfrm>
        </p:grpSpPr>
        <p:sp>
          <p:nvSpPr>
            <p:cNvPr id="8" name="Rectangle 18">
              <a:extLst>
                <a:ext uri="{FF2B5EF4-FFF2-40B4-BE49-F238E27FC236}">
                  <a16:creationId xmlns:a16="http://schemas.microsoft.com/office/drawing/2014/main" id="{4530E95F-0645-479B-A903-D7147ACB1A7A}"/>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9" name="Rectangle 19">
              <a:extLst>
                <a:ext uri="{FF2B5EF4-FFF2-40B4-BE49-F238E27FC236}">
                  <a16:creationId xmlns:a16="http://schemas.microsoft.com/office/drawing/2014/main" id="{036EAD33-CE51-4EEF-8B8F-DB43652CDD98}"/>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R26-IT-128</a:t>
              </a:r>
              <a:endParaRPr lang="en-US" sz="1800" b="0" i="0" u="none" strike="noStrike" kern="1200" cap="none" spc="0" baseline="0">
                <a:solidFill>
                  <a:srgbClr val="FFC000"/>
                </a:solidFill>
                <a:uFillTx/>
                <a:latin typeface="Calibri"/>
              </a:endParaRPr>
            </a:p>
          </p:txBody>
        </p:sp>
        <p:pic>
          <p:nvPicPr>
            <p:cNvPr id="10" name="Picture 20">
              <a:extLst>
                <a:ext uri="{FF2B5EF4-FFF2-40B4-BE49-F238E27FC236}">
                  <a16:creationId xmlns:a16="http://schemas.microsoft.com/office/drawing/2014/main" id="{7F607B02-94F7-4202-951A-EDF7E795A1C6}"/>
                </a:ext>
              </a:extLst>
            </p:cNvPr>
            <p:cNvPicPr>
              <a:picLocks noChangeAspect="1"/>
            </p:cNvPicPr>
            <p:nvPr/>
          </p:nvPicPr>
          <p:blipFill>
            <a:blip r:embed="rId3"/>
            <a:stretch>
              <a:fillRect/>
            </a:stretch>
          </p:blipFill>
          <p:spPr>
            <a:xfrm>
              <a:off x="0" y="7707212"/>
              <a:ext cx="3043708" cy="522387"/>
            </a:xfrm>
            <a:prstGeom prst="rect">
              <a:avLst/>
            </a:prstGeom>
            <a:noFill/>
            <a:ln cap="flat">
              <a:noFill/>
            </a:ln>
          </p:spPr>
        </p:pic>
        <p:sp>
          <p:nvSpPr>
            <p:cNvPr id="11" name="Rectangle 21">
              <a:extLst>
                <a:ext uri="{FF2B5EF4-FFF2-40B4-BE49-F238E27FC236}">
                  <a16:creationId xmlns:a16="http://schemas.microsoft.com/office/drawing/2014/main" id="{E15AFB85-A9C5-45AE-AF2B-E0BB849EB455}"/>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12" name="Text 0">
            <a:extLst>
              <a:ext uri="{FF2B5EF4-FFF2-40B4-BE49-F238E27FC236}">
                <a16:creationId xmlns:a16="http://schemas.microsoft.com/office/drawing/2014/main" id="{5A03FF58-B4BF-4501-B5D5-C5F407290742}"/>
              </a:ext>
            </a:extLst>
          </p:cNvPr>
          <p:cNvSpPr/>
          <p:nvPr/>
        </p:nvSpPr>
        <p:spPr>
          <a:xfrm>
            <a:off x="1256842" y="86803"/>
            <a:ext cx="11499110" cy="708778"/>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FFFFFF"/>
                </a:solidFill>
                <a:uFillTx/>
                <a:latin typeface="Calibri"/>
                <a:ea typeface="Calibri"/>
                <a:cs typeface="Calibri"/>
              </a:rPr>
              <a:t>SkillVerse: The Unified Ecosystem</a:t>
            </a:r>
            <a:endParaRPr lang="en-US" sz="1800" b="0" i="0" u="none" strike="noStrike" kern="1200" cap="none" spc="0" baseline="0">
              <a:solidFill>
                <a:srgbClr val="FFFFFF"/>
              </a:solidFill>
              <a:uFillTx/>
              <a:latin typeface="Calibri"/>
            </a:endParaRPr>
          </a:p>
        </p:txBody>
      </p:sp>
      <p:sp>
        <p:nvSpPr>
          <p:cNvPr id="13" name="Text 2">
            <a:extLst>
              <a:ext uri="{FF2B5EF4-FFF2-40B4-BE49-F238E27FC236}">
                <a16:creationId xmlns:a16="http://schemas.microsoft.com/office/drawing/2014/main" id="{D399BC6E-F28C-4140-965C-C31456B247BB}"/>
              </a:ext>
            </a:extLst>
          </p:cNvPr>
          <p:cNvSpPr/>
          <p:nvPr/>
        </p:nvSpPr>
        <p:spPr>
          <a:xfrm>
            <a:off x="549435" y="3307256"/>
            <a:ext cx="4865330" cy="398294"/>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ea typeface="Calibri"/>
                <a:cs typeface="Calibri"/>
              </a:rPr>
              <a:t>How it Overcomes Limitations</a:t>
            </a:r>
            <a:endParaRPr lang="en-US" sz="1800" b="1" i="0" u="none" strike="noStrike" kern="1200" cap="none" spc="0" baseline="0">
              <a:solidFill>
                <a:srgbClr val="BF9000"/>
              </a:solidFill>
              <a:uFillTx/>
              <a:latin typeface="Calibri"/>
            </a:endParaRPr>
          </a:p>
        </p:txBody>
      </p:sp>
      <p:sp>
        <p:nvSpPr>
          <p:cNvPr id="14" name="Text 2">
            <a:extLst>
              <a:ext uri="{FF2B5EF4-FFF2-40B4-BE49-F238E27FC236}">
                <a16:creationId xmlns:a16="http://schemas.microsoft.com/office/drawing/2014/main" id="{EE739B4C-C661-49DF-BD97-7CDECE4914AE}"/>
              </a:ext>
            </a:extLst>
          </p:cNvPr>
          <p:cNvSpPr/>
          <p:nvPr/>
        </p:nvSpPr>
        <p:spPr>
          <a:xfrm>
            <a:off x="549435" y="5692112"/>
            <a:ext cx="4865330" cy="398294"/>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ea typeface="Calibri"/>
                <a:cs typeface="Calibri"/>
              </a:rPr>
              <a:t>Validation</a:t>
            </a:r>
            <a:endParaRPr lang="en-US" sz="1800" b="1" i="0" u="none" strike="noStrike" kern="1200" cap="none" spc="0" baseline="0">
              <a:solidFill>
                <a:srgbClr val="BF9000"/>
              </a:solidFill>
              <a:uFillTx/>
              <a:latin typeface="Calibri"/>
            </a:endParaRPr>
          </a:p>
        </p:txBody>
      </p:sp>
      <p:sp>
        <p:nvSpPr>
          <p:cNvPr id="15" name="Text 3">
            <a:extLst>
              <a:ext uri="{FF2B5EF4-FFF2-40B4-BE49-F238E27FC236}">
                <a16:creationId xmlns:a16="http://schemas.microsoft.com/office/drawing/2014/main" id="{3C0535E4-AE94-4022-956E-A11516910D9E}"/>
              </a:ext>
            </a:extLst>
          </p:cNvPr>
          <p:cNvSpPr/>
          <p:nvPr/>
        </p:nvSpPr>
        <p:spPr>
          <a:xfrm>
            <a:off x="544644" y="3951268"/>
            <a:ext cx="12910971" cy="1397276"/>
          </a:xfrm>
          <a:prstGeom prst="rect">
            <a:avLst/>
          </a:prstGeom>
          <a:noFill/>
          <a:ln cap="flat">
            <a:noFill/>
            <a:prstDash val="solid"/>
          </a:ln>
        </p:spPr>
        <p:txBody>
          <a:bodyPr vert="horz" wrap="square" lIns="0" tIns="0" rIns="0" bIns="0" anchor="t" anchorCtr="0" compatLnSpc="1">
            <a:noAutofit/>
          </a:bodyPr>
          <a:lstStyle/>
          <a:p>
            <a:pPr marL="342900" marR="0" lvl="0" indent="-342900" algn="just" defTabSz="914400" rtl="0" fontAlgn="auto" hangingPunct="1">
              <a:lnSpc>
                <a:spcPct val="100000"/>
              </a:lnSpc>
              <a:spcBef>
                <a:spcPts val="0"/>
              </a:spcBef>
              <a:spcAft>
                <a:spcPts val="0"/>
              </a:spcAft>
              <a:buSzPct val="100000"/>
              <a:buFont typeface="Arial"/>
              <a:buChar char="•"/>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Utilizes advanced NLP to handle semantic variations and unstructured image data</a:t>
            </a:r>
            <a:endParaRPr lang="en-US" sz="1800" b="0" i="0" u="none" strike="noStrike" kern="1200" cap="none" spc="0" baseline="0">
              <a:solidFill>
                <a:srgbClr val="000000"/>
              </a:solidFill>
              <a:uFillTx/>
              <a:latin typeface="Calibri"/>
              <a:ea typeface="Calibri"/>
              <a:cs typeface="Calibri"/>
            </a:endParaRPr>
          </a:p>
          <a:p>
            <a:pPr marL="342900" marR="0" lvl="0" indent="-342900" algn="just" defTabSz="914400" rtl="0" fontAlgn="auto" hangingPunct="1">
              <a:lnSpc>
                <a:spcPct val="100000"/>
              </a:lnSpc>
              <a:spcBef>
                <a:spcPts val="0"/>
              </a:spcBef>
              <a:spcAft>
                <a:spcPts val="0"/>
              </a:spcAft>
              <a:buSzPct val="100000"/>
              <a:buFont typeface="Arial"/>
              <a:buChar char="•"/>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Incorporates short-term forecasting and probabilistic sequence modeling</a:t>
            </a:r>
            <a:endParaRPr lang="en-US" sz="1800" b="0" i="0" u="none" strike="noStrike" kern="1200" cap="none" spc="0" baseline="0">
              <a:solidFill>
                <a:srgbClr val="000000"/>
              </a:solidFill>
              <a:uFillTx/>
              <a:latin typeface="Calibri"/>
              <a:ea typeface="Calibri"/>
              <a:cs typeface="Calibri"/>
            </a:endParaRPr>
          </a:p>
          <a:p>
            <a:pPr marL="342900" marR="0" lvl="0" indent="-342900" algn="just" defTabSz="914400" rtl="0" fontAlgn="auto" hangingPunct="1">
              <a:lnSpc>
                <a:spcPct val="100000"/>
              </a:lnSpc>
              <a:spcBef>
                <a:spcPts val="0"/>
              </a:spcBef>
              <a:spcAft>
                <a:spcPts val="0"/>
              </a:spcAft>
              <a:buSzPct val="100000"/>
              <a:buFont typeface="Arial"/>
              <a:buChar char="•"/>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Introduces real-time emotion detection for interview simulations</a:t>
            </a:r>
            <a:endParaRPr lang="en-US" sz="18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000" b="0" i="0" u="none" strike="noStrike" kern="1200" cap="none" spc="0" baseline="0">
              <a:solidFill>
                <a:srgbClr val="000000"/>
              </a:solidFill>
              <a:uFillTx/>
              <a:latin typeface="Calibri"/>
              <a:ea typeface="Calibri"/>
              <a:cs typeface="Calibri"/>
            </a:endParaRPr>
          </a:p>
        </p:txBody>
      </p:sp>
      <p:sp>
        <p:nvSpPr>
          <p:cNvPr id="16" name="Text 3">
            <a:extLst>
              <a:ext uri="{FF2B5EF4-FFF2-40B4-BE49-F238E27FC236}">
                <a16:creationId xmlns:a16="http://schemas.microsoft.com/office/drawing/2014/main" id="{747D858D-E457-4169-A395-447B738FABBC}"/>
              </a:ext>
            </a:extLst>
          </p:cNvPr>
          <p:cNvSpPr/>
          <p:nvPr/>
        </p:nvSpPr>
        <p:spPr>
          <a:xfrm>
            <a:off x="548758" y="6266099"/>
            <a:ext cx="12910971" cy="408727"/>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81.6% of surveyed undergraduates strongly agree this unified platform is more effective than separate tools</a:t>
            </a:r>
            <a:endParaRPr lang="en-US" sz="1800" b="0" i="0" u="none" strike="noStrike" kern="1200" cap="none" spc="0" baseline="0">
              <a:solidFill>
                <a:srgbClr val="000000"/>
              </a:solidFill>
              <a:uFillTx/>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DB0EA7D-81F7-4729-BBA6-4E3D8E61F9A7}"/>
              </a:ext>
            </a:extLst>
          </p:cNvPr>
          <p:cNvSpPr/>
          <p:nvPr/>
        </p:nvSpPr>
        <p:spPr>
          <a:xfrm>
            <a:off x="793790" y="715408"/>
            <a:ext cx="10499954" cy="925381"/>
          </a:xfrm>
          <a:prstGeom prst="rect">
            <a:avLst/>
          </a:prstGeom>
          <a:noFill/>
          <a:ln cap="flat">
            <a:noFill/>
            <a:prstDash val="solid"/>
          </a:ln>
        </p:spPr>
        <p:txBody>
          <a:bodyPr vert="horz" wrap="square" lIns="0" tIns="0" rIns="0" bIns="0" anchor="t" anchorCtr="0" compatLnSpc="1">
            <a:noAutofit/>
          </a:bodyPr>
          <a:lstStyle/>
          <a:p>
            <a:pPr marL="0" marR="0" lvl="0" indent="0" algn="l" defTabSz="914363"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400" b="1" i="0" u="none" strike="noStrike" kern="1200" cap="none" spc="0" baseline="0">
                <a:solidFill>
                  <a:srgbClr val="2F5597"/>
                </a:solidFill>
                <a:uFillTx/>
                <a:latin typeface="Calibri"/>
              </a:rPr>
              <a:t>Semantic Skill Forecasting Engine</a:t>
            </a:r>
          </a:p>
        </p:txBody>
      </p:sp>
      <p:sp>
        <p:nvSpPr>
          <p:cNvPr id="3" name="Text 1">
            <a:extLst>
              <a:ext uri="{FF2B5EF4-FFF2-40B4-BE49-F238E27FC236}">
                <a16:creationId xmlns:a16="http://schemas.microsoft.com/office/drawing/2014/main" id="{455E194E-014D-4551-9DF1-6577BD6B2A02}"/>
              </a:ext>
            </a:extLst>
          </p:cNvPr>
          <p:cNvSpPr/>
          <p:nvPr/>
        </p:nvSpPr>
        <p:spPr>
          <a:xfrm>
            <a:off x="793790" y="1765916"/>
            <a:ext cx="10045196" cy="590025"/>
          </a:xfrm>
          <a:prstGeom prst="rect">
            <a:avLst/>
          </a:prstGeom>
          <a:noFill/>
          <a:ln cap="flat">
            <a:noFill/>
            <a:prstDash val="solid"/>
          </a:ln>
        </p:spPr>
        <p:txBody>
          <a:bodyPr vert="horz" wrap="square" lIns="0" tIns="0" rIns="0" bIns="0" anchor="t" anchorCtr="0" compatLnSpc="1">
            <a:noAutofit/>
          </a:bodyPr>
          <a:lstStyle/>
          <a:p>
            <a:pPr marL="0" marR="0" lvl="0" indent="0" algn="l" defTabSz="914363"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4000" b="1" i="0" u="none" strike="noStrike" kern="1200" cap="none" spc="0" baseline="0">
                <a:solidFill>
                  <a:srgbClr val="2C2926"/>
                </a:solidFill>
                <a:uFillTx/>
                <a:latin typeface="Calibri"/>
                <a:ea typeface="Inter" pitchFamily="34"/>
                <a:cs typeface="Inter" pitchFamily="34"/>
              </a:rPr>
              <a:t>IT22154408 | RATHNAYAKE K D V </a:t>
            </a:r>
            <a:endParaRPr lang="en-US" sz="4000" b="1" i="0" u="none" strike="noStrike" kern="1200" cap="none" spc="0" baseline="0">
              <a:solidFill>
                <a:srgbClr val="000000"/>
              </a:solidFill>
              <a:uFillTx/>
              <a:latin typeface="Calibri"/>
            </a:endParaRPr>
          </a:p>
        </p:txBody>
      </p:sp>
      <p:sp>
        <p:nvSpPr>
          <p:cNvPr id="4" name="Shape 2">
            <a:extLst>
              <a:ext uri="{FF2B5EF4-FFF2-40B4-BE49-F238E27FC236}">
                <a16:creationId xmlns:a16="http://schemas.microsoft.com/office/drawing/2014/main" id="{3E28FA83-B987-4213-A838-55E8C7609B0C}"/>
              </a:ext>
            </a:extLst>
          </p:cNvPr>
          <p:cNvSpPr/>
          <p:nvPr/>
        </p:nvSpPr>
        <p:spPr>
          <a:xfrm>
            <a:off x="765389" y="2306592"/>
            <a:ext cx="10369515" cy="2338212"/>
          </a:xfrm>
          <a:custGeom>
            <a:avLst/>
            <a:gdLst>
              <a:gd name="f0" fmla="val 10800000"/>
              <a:gd name="f1" fmla="val 5400000"/>
              <a:gd name="f2" fmla="val 16200000"/>
              <a:gd name="f3" fmla="val w"/>
              <a:gd name="f4" fmla="val h"/>
              <a:gd name="f5" fmla="val ss"/>
              <a:gd name="f6" fmla="val 0"/>
              <a:gd name="f7" fmla="*/ 5419351 1 1725033"/>
              <a:gd name="f8" fmla="val 45"/>
              <a:gd name="f9" fmla="val 1189"/>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alpha val="95000"/>
            </a:srgbClr>
          </a:solidFill>
          <a:ln w="30476" cap="flat">
            <a:solidFill>
              <a:srgbClr val="F8ECD3"/>
            </a:solidFill>
            <a:prstDash val="solid"/>
            <a:miter/>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5" name="Text 3">
            <a:extLst>
              <a:ext uri="{FF2B5EF4-FFF2-40B4-BE49-F238E27FC236}">
                <a16:creationId xmlns:a16="http://schemas.microsoft.com/office/drawing/2014/main" id="{0A80DA4F-5C77-4253-880F-525F5ABA2F22}"/>
              </a:ext>
            </a:extLst>
          </p:cNvPr>
          <p:cNvSpPr/>
          <p:nvPr/>
        </p:nvSpPr>
        <p:spPr>
          <a:xfrm>
            <a:off x="829635" y="2413979"/>
            <a:ext cx="10212467" cy="1958452"/>
          </a:xfrm>
          <a:prstGeom prst="rect">
            <a:avLst/>
          </a:prstGeom>
          <a:noFill/>
          <a:ln cap="flat">
            <a:noFill/>
            <a:prstDash val="solid"/>
          </a:ln>
        </p:spPr>
        <p:txBody>
          <a:bodyPr vert="horz" wrap="none" lIns="0" tIns="0" rIns="0" bIns="0" anchor="t" anchorCtr="0" compatLnSpc="1">
            <a:noAutofit/>
          </a:bodyPr>
          <a:lstStyle/>
          <a:p>
            <a:pPr marL="0" marR="0" lvl="0" indent="0" algn="l" defTabSz="914363"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rPr>
              <a:t>Contribution</a:t>
            </a:r>
          </a:p>
          <a:p>
            <a:pPr marL="0" marR="0" lvl="0" indent="0" algn="l" defTabSz="914363"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000000"/>
                </a:solidFill>
                <a:uFillTx/>
                <a:latin typeface="Calibri"/>
              </a:rPr>
              <a:t> </a:t>
            </a:r>
          </a:p>
          <a:p>
            <a:pPr marL="0" marR="0" lvl="0" indent="0" algn="l" defTabSz="914363" rtl="0" fontAlgn="auto" hangingPunct="1">
              <a:lnSpc>
                <a:spcPts val="2750"/>
              </a:lnSpc>
              <a:spcBef>
                <a:spcPts val="0"/>
              </a:spcBef>
              <a:spcAft>
                <a:spcPts val="0"/>
              </a:spcAft>
              <a:buNone/>
              <a:tabLst/>
              <a:defRPr sz="1800" b="0" i="0" u="none" strike="noStrike" kern="0" cap="none" spc="0" baseline="0">
                <a:solidFill>
                  <a:srgbClr val="000000"/>
                </a:solidFill>
                <a:uFillTx/>
              </a:defRPr>
            </a:pPr>
            <a:endParaRPr lang="en-US" sz="2400" b="1" i="0" u="none" strike="noStrike" kern="1200" cap="none" spc="0" baseline="0">
              <a:solidFill>
                <a:srgbClr val="000000"/>
              </a:solidFill>
              <a:uFillTx/>
              <a:latin typeface="Calibri"/>
            </a:endParaRPr>
          </a:p>
          <a:p>
            <a:pPr marL="0" marR="0" lvl="0" indent="0" algn="l" defTabSz="914363" rtl="0" fontAlgn="auto" hangingPunct="1">
              <a:lnSpc>
                <a:spcPts val="2750"/>
              </a:lnSpc>
              <a:spcBef>
                <a:spcPts val="0"/>
              </a:spcBef>
              <a:spcAft>
                <a:spcPts val="0"/>
              </a:spcAft>
              <a:buNone/>
              <a:tabLst/>
              <a:defRPr sz="1800" b="0" i="0" u="none" strike="noStrike" kern="0" cap="none" spc="0" baseline="0">
                <a:solidFill>
                  <a:srgbClr val="000000"/>
                </a:solidFill>
                <a:uFillTx/>
              </a:defRPr>
            </a:pPr>
            <a:endParaRPr lang="en-US" sz="2200" b="1" i="0" u="none" strike="noStrike" kern="1200" cap="none" spc="0" baseline="0">
              <a:solidFill>
                <a:srgbClr val="000000"/>
              </a:solidFill>
              <a:uFillTx/>
              <a:latin typeface="Calibri"/>
            </a:endParaRPr>
          </a:p>
        </p:txBody>
      </p:sp>
      <p:sp>
        <p:nvSpPr>
          <p:cNvPr id="6" name="Text 4">
            <a:extLst>
              <a:ext uri="{FF2B5EF4-FFF2-40B4-BE49-F238E27FC236}">
                <a16:creationId xmlns:a16="http://schemas.microsoft.com/office/drawing/2014/main" id="{69C85AB0-8175-427A-9978-8D5CE71ADCAB}"/>
              </a:ext>
            </a:extLst>
          </p:cNvPr>
          <p:cNvSpPr/>
          <p:nvPr/>
        </p:nvSpPr>
        <p:spPr>
          <a:xfrm>
            <a:off x="1051084" y="3441527"/>
            <a:ext cx="9955173" cy="725805"/>
          </a:xfrm>
          <a:prstGeom prst="rect">
            <a:avLst/>
          </a:prstGeom>
          <a:noFill/>
          <a:ln cap="flat">
            <a:noFill/>
            <a:prstDash val="solid"/>
          </a:ln>
        </p:spPr>
        <p:txBody>
          <a:bodyPr vert="horz" wrap="square" lIns="0" tIns="0" rIns="0" bIns="0" anchor="t" anchorCtr="0" compatLnSpc="1">
            <a:noAutofit/>
          </a:bodyPr>
          <a:lstStyle/>
          <a:p>
            <a:pPr marL="0" marR="0" lvl="0" indent="0" algn="just" defTabSz="914363" rtl="0" fontAlgn="auto" hangingPunct="1">
              <a:lnSpc>
                <a:spcPct val="15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7" name="Shape 2">
            <a:extLst>
              <a:ext uri="{FF2B5EF4-FFF2-40B4-BE49-F238E27FC236}">
                <a16:creationId xmlns:a16="http://schemas.microsoft.com/office/drawing/2014/main" id="{1CAA8E72-53B0-45EA-9098-FD4803CBB36D}"/>
              </a:ext>
            </a:extLst>
          </p:cNvPr>
          <p:cNvSpPr/>
          <p:nvPr/>
        </p:nvSpPr>
        <p:spPr>
          <a:xfrm>
            <a:off x="672586" y="5264465"/>
            <a:ext cx="10369506" cy="2048694"/>
          </a:xfrm>
          <a:custGeom>
            <a:avLst/>
            <a:gdLst>
              <a:gd name="f0" fmla="val 10800000"/>
              <a:gd name="f1" fmla="val 5400000"/>
              <a:gd name="f2" fmla="val 16200000"/>
              <a:gd name="f3" fmla="val w"/>
              <a:gd name="f4" fmla="val h"/>
              <a:gd name="f5" fmla="val ss"/>
              <a:gd name="f6" fmla="val 0"/>
              <a:gd name="f7" fmla="*/ 5419351 1 1725033"/>
              <a:gd name="f8" fmla="val 45"/>
              <a:gd name="f9" fmla="val 1189"/>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alpha val="95000"/>
            </a:srgbClr>
          </a:solidFill>
          <a:ln w="30476" cap="flat">
            <a:solidFill>
              <a:srgbClr val="F8ECD3"/>
            </a:solidFill>
            <a:prstDash val="solid"/>
            <a:miter/>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8" name="Text 3">
            <a:extLst>
              <a:ext uri="{FF2B5EF4-FFF2-40B4-BE49-F238E27FC236}">
                <a16:creationId xmlns:a16="http://schemas.microsoft.com/office/drawing/2014/main" id="{CB51CA73-3E67-4C4A-97A2-629B080FC4E3}"/>
              </a:ext>
            </a:extLst>
          </p:cNvPr>
          <p:cNvSpPr/>
          <p:nvPr/>
        </p:nvSpPr>
        <p:spPr>
          <a:xfrm>
            <a:off x="1051084" y="5451405"/>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363"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Bricolage Grotesque Semi Bold" pitchFamily="34"/>
              </a:rPr>
              <a:t>Novelty</a:t>
            </a:r>
            <a:endParaRPr lang="en-US" sz="2200" b="1" i="0" u="none" strike="noStrike" kern="1200" cap="none" spc="0" baseline="0">
              <a:solidFill>
                <a:srgbClr val="BF9000"/>
              </a:solidFill>
              <a:uFillTx/>
              <a:latin typeface="Calibri"/>
            </a:endParaRPr>
          </a:p>
        </p:txBody>
      </p:sp>
      <p:sp>
        <p:nvSpPr>
          <p:cNvPr id="9" name="Text 4">
            <a:extLst>
              <a:ext uri="{FF2B5EF4-FFF2-40B4-BE49-F238E27FC236}">
                <a16:creationId xmlns:a16="http://schemas.microsoft.com/office/drawing/2014/main" id="{01309558-26E3-4DC1-84FD-85B8EA5495AA}"/>
              </a:ext>
            </a:extLst>
          </p:cNvPr>
          <p:cNvSpPr/>
          <p:nvPr/>
        </p:nvSpPr>
        <p:spPr>
          <a:xfrm>
            <a:off x="1051084" y="5780160"/>
            <a:ext cx="9955173" cy="725805"/>
          </a:xfrm>
          <a:prstGeom prst="rect">
            <a:avLst/>
          </a:prstGeom>
          <a:noFill/>
          <a:ln cap="flat">
            <a:noFill/>
            <a:prstDash val="solid"/>
          </a:ln>
        </p:spPr>
        <p:txBody>
          <a:bodyPr vert="horz" wrap="square" lIns="0" tIns="0" rIns="0" bIns="0" anchor="t" anchorCtr="0" compatLnSpc="1">
            <a:noAutofit/>
          </a:bodyPr>
          <a:lstStyle/>
          <a:p>
            <a:pPr marL="0" marR="0" lvl="0" indent="0" algn="just" defTabSz="914363" rtl="0" fontAlgn="auto" hangingPunct="1">
              <a:lnSpc>
                <a:spcPct val="15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nvGrpSpPr>
          <p:cNvPr id="10" name="Group 9">
            <a:extLst>
              <a:ext uri="{FF2B5EF4-FFF2-40B4-BE49-F238E27FC236}">
                <a16:creationId xmlns:a16="http://schemas.microsoft.com/office/drawing/2014/main" id="{FC043791-AEC8-4678-87A8-C2DC3779FF3C}"/>
              </a:ext>
            </a:extLst>
          </p:cNvPr>
          <p:cNvGrpSpPr/>
          <p:nvPr/>
        </p:nvGrpSpPr>
        <p:grpSpPr>
          <a:xfrm>
            <a:off x="0" y="7649742"/>
            <a:ext cx="14647023" cy="674872"/>
            <a:chOff x="0" y="7649742"/>
            <a:chExt cx="14647023" cy="674872"/>
          </a:xfrm>
        </p:grpSpPr>
        <p:sp>
          <p:nvSpPr>
            <p:cNvPr id="11" name="Rectangle 10">
              <a:extLst>
                <a:ext uri="{FF2B5EF4-FFF2-40B4-BE49-F238E27FC236}">
                  <a16:creationId xmlns:a16="http://schemas.microsoft.com/office/drawing/2014/main" id="{B2D9514F-CF2C-4A65-8168-24A8F93B5C45}"/>
                </a:ext>
              </a:extLst>
            </p:cNvPr>
            <p:cNvSpPr/>
            <p:nvPr/>
          </p:nvSpPr>
          <p:spPr>
            <a:xfrm>
              <a:off x="12511671" y="7649742"/>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12" name="Rectangle 11">
              <a:extLst>
                <a:ext uri="{FF2B5EF4-FFF2-40B4-BE49-F238E27FC236}">
                  <a16:creationId xmlns:a16="http://schemas.microsoft.com/office/drawing/2014/main" id="{289D747C-B643-486B-A53C-A73EA76FEE70}"/>
                </a:ext>
              </a:extLst>
            </p:cNvPr>
            <p:cNvSpPr/>
            <p:nvPr/>
          </p:nvSpPr>
          <p:spPr>
            <a:xfrm>
              <a:off x="13798" y="7707212"/>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2C2926"/>
                  </a:solidFill>
                  <a:uFillTx/>
                  <a:latin typeface="Times New Roman" pitchFamily="18"/>
                  <a:ea typeface="Inter" pitchFamily="34"/>
                  <a:cs typeface="Times New Roman" pitchFamily="18"/>
                </a:rPr>
                <a:t>IT22154408 | RATHNAYAKE K D V | R26-IT-128 ​</a:t>
              </a:r>
            </a:p>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13" name="Picture 12">
              <a:extLst>
                <a:ext uri="{FF2B5EF4-FFF2-40B4-BE49-F238E27FC236}">
                  <a16:creationId xmlns:a16="http://schemas.microsoft.com/office/drawing/2014/main" id="{A0CC6324-066D-4DB2-A060-7187E9C171EA}"/>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14" name="Rectangle 13">
              <a:extLst>
                <a:ext uri="{FF2B5EF4-FFF2-40B4-BE49-F238E27FC236}">
                  <a16:creationId xmlns:a16="http://schemas.microsoft.com/office/drawing/2014/main" id="{C5DA1A79-A2D8-4713-9822-EF0D5676E181}"/>
                </a:ext>
              </a:extLst>
            </p:cNvPr>
            <p:cNvSpPr/>
            <p:nvPr/>
          </p:nvSpPr>
          <p:spPr>
            <a:xfrm>
              <a:off x="12912754" y="7802227"/>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pic>
        <p:nvPicPr>
          <p:cNvPr id="15" name="Picture 14">
            <a:extLst>
              <a:ext uri="{FF2B5EF4-FFF2-40B4-BE49-F238E27FC236}">
                <a16:creationId xmlns:a16="http://schemas.microsoft.com/office/drawing/2014/main" id="{D472A51F-61AB-4B97-A174-2E4D70A5C9F5}"/>
              </a:ext>
            </a:extLst>
          </p:cNvPr>
          <p:cNvPicPr>
            <a:picLocks noChangeAspect="1"/>
          </p:cNvPicPr>
          <p:nvPr/>
        </p:nvPicPr>
        <p:blipFill>
          <a:blip r:embed="rId3"/>
          <a:srcRect/>
          <a:stretch>
            <a:fillRect/>
          </a:stretch>
        </p:blipFill>
        <p:spPr>
          <a:xfrm>
            <a:off x="11464482" y="87709"/>
            <a:ext cx="3041486" cy="3041486"/>
          </a:xfrm>
          <a:prstGeom prst="rect">
            <a:avLst/>
          </a:prstGeom>
          <a:noFill/>
          <a:ln w="19046" cap="flat">
            <a:solidFill>
              <a:srgbClr val="000000"/>
            </a:solidFill>
            <a:prstDash val="solid"/>
            <a:miter/>
          </a:ln>
        </p:spPr>
      </p:pic>
      <p:sp>
        <p:nvSpPr>
          <p:cNvPr id="16" name="Shape 11">
            <a:extLst>
              <a:ext uri="{FF2B5EF4-FFF2-40B4-BE49-F238E27FC236}">
                <a16:creationId xmlns:a16="http://schemas.microsoft.com/office/drawing/2014/main" id="{9AB38749-62F3-4FEC-9604-98911C6E64C8}"/>
              </a:ext>
            </a:extLst>
          </p:cNvPr>
          <p:cNvSpPr/>
          <p:nvPr/>
        </p:nvSpPr>
        <p:spPr>
          <a:xfrm>
            <a:off x="751911" y="4902775"/>
            <a:ext cx="10369506" cy="103711"/>
          </a:xfrm>
          <a:prstGeom prst="rect">
            <a:avLst/>
          </a:prstGeom>
          <a:solidFill>
            <a:srgbClr val="E05A3A"/>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nvGrpSpPr>
          <p:cNvPr id="17" name="Group 19">
            <a:extLst>
              <a:ext uri="{FF2B5EF4-FFF2-40B4-BE49-F238E27FC236}">
                <a16:creationId xmlns:a16="http://schemas.microsoft.com/office/drawing/2014/main" id="{1393E20E-94CF-496C-BD1D-C7EF13D4714E}"/>
              </a:ext>
            </a:extLst>
          </p:cNvPr>
          <p:cNvGrpSpPr/>
          <p:nvPr/>
        </p:nvGrpSpPr>
        <p:grpSpPr>
          <a:xfrm>
            <a:off x="12614019" y="3525258"/>
            <a:ext cx="822960" cy="182880"/>
            <a:chOff x="12614019" y="3525258"/>
            <a:chExt cx="822960" cy="182880"/>
          </a:xfrm>
        </p:grpSpPr>
        <p:sp>
          <p:nvSpPr>
            <p:cNvPr id="18" name="Shape 5">
              <a:extLst>
                <a:ext uri="{FF2B5EF4-FFF2-40B4-BE49-F238E27FC236}">
                  <a16:creationId xmlns:a16="http://schemas.microsoft.com/office/drawing/2014/main" id="{35AF5D6B-2002-4AD5-B9FE-66DBA6BFAA8E}"/>
                </a:ext>
              </a:extLst>
            </p:cNvPr>
            <p:cNvSpPr/>
            <p:nvPr/>
          </p:nvSpPr>
          <p:spPr>
            <a:xfrm>
              <a:off x="12614019" y="3525258"/>
              <a:ext cx="182880" cy="1828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05A3A"/>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9" name="Shape 6">
              <a:extLst>
                <a:ext uri="{FF2B5EF4-FFF2-40B4-BE49-F238E27FC236}">
                  <a16:creationId xmlns:a16="http://schemas.microsoft.com/office/drawing/2014/main" id="{0A5AEB4D-F90C-4674-B887-C2B44B51ECDB}"/>
                </a:ext>
              </a:extLst>
            </p:cNvPr>
            <p:cNvSpPr/>
            <p:nvPr/>
          </p:nvSpPr>
          <p:spPr>
            <a:xfrm>
              <a:off x="12934059" y="3525258"/>
              <a:ext cx="182880" cy="1828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05A3A">
                <a:alpha val="50000"/>
              </a:srgbClr>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0" name="Shape 7">
              <a:extLst>
                <a:ext uri="{FF2B5EF4-FFF2-40B4-BE49-F238E27FC236}">
                  <a16:creationId xmlns:a16="http://schemas.microsoft.com/office/drawing/2014/main" id="{4F606C18-2AE4-4978-BF16-81CF158002B4}"/>
                </a:ext>
              </a:extLst>
            </p:cNvPr>
            <p:cNvSpPr/>
            <p:nvPr/>
          </p:nvSpPr>
          <p:spPr>
            <a:xfrm>
              <a:off x="13254099" y="3525258"/>
              <a:ext cx="182880" cy="1828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05A3A">
                <a:alpha val="25000"/>
              </a:srgbClr>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sp>
        <p:nvSpPr>
          <p:cNvPr id="21" name="Text 1">
            <a:extLst>
              <a:ext uri="{FF2B5EF4-FFF2-40B4-BE49-F238E27FC236}">
                <a16:creationId xmlns:a16="http://schemas.microsoft.com/office/drawing/2014/main" id="{F61C361A-7661-4E7E-9B85-CC98244EAC18}"/>
              </a:ext>
            </a:extLst>
          </p:cNvPr>
          <p:cNvSpPr/>
          <p:nvPr/>
        </p:nvSpPr>
        <p:spPr>
          <a:xfrm>
            <a:off x="896011" y="2822478"/>
            <a:ext cx="10285290" cy="590025"/>
          </a:xfrm>
          <a:prstGeom prst="rect">
            <a:avLst/>
          </a:prstGeom>
          <a:noFill/>
          <a:ln cap="flat">
            <a:noFill/>
            <a:prstDash val="solid"/>
          </a:ln>
        </p:spPr>
        <p:txBody>
          <a:bodyPr vert="horz" wrap="square" lIns="0" tIns="0" rIns="0" bIns="0" anchor="t" anchorCtr="0" compatLnSpc="1">
            <a:noAutofit/>
          </a:bodyPr>
          <a:lstStyle/>
          <a:p>
            <a:pPr marL="0" marR="0" lvl="0" indent="0" algn="l" defTabSz="109728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160" b="1" i="0" u="none" strike="noStrike" kern="1200" cap="none" spc="0" baseline="0">
                <a:solidFill>
                  <a:srgbClr val="000000"/>
                </a:solidFill>
                <a:uFillTx/>
                <a:latin typeface="Calibri"/>
              </a:rPr>
              <a:t>This component helps IT undergraduates know exactly which technologies they should learn before they graduate. It reads job advertisements and predicts future skill demands. This supports the main goal of the RecruitAI system by giving students up-to-date market information, reducing the time they spend retraining in corporate "bootcamps" after graduation.</a:t>
            </a:r>
          </a:p>
        </p:txBody>
      </p:sp>
      <p:sp>
        <p:nvSpPr>
          <p:cNvPr id="22" name="Text 1">
            <a:extLst>
              <a:ext uri="{FF2B5EF4-FFF2-40B4-BE49-F238E27FC236}">
                <a16:creationId xmlns:a16="http://schemas.microsoft.com/office/drawing/2014/main" id="{D16780A4-59FC-4815-A3BC-EF814601367B}"/>
              </a:ext>
            </a:extLst>
          </p:cNvPr>
          <p:cNvSpPr/>
          <p:nvPr/>
        </p:nvSpPr>
        <p:spPr>
          <a:xfrm>
            <a:off x="1051084" y="5956429"/>
            <a:ext cx="10378092" cy="590025"/>
          </a:xfrm>
          <a:prstGeom prst="rect">
            <a:avLst/>
          </a:prstGeom>
          <a:noFill/>
          <a:ln cap="flat">
            <a:noFill/>
            <a:prstDash val="solid"/>
          </a:ln>
        </p:spPr>
        <p:txBody>
          <a:bodyPr vert="horz" wrap="square" lIns="0" tIns="0" rIns="0" bIns="0" anchor="t" anchorCtr="0" compatLnSpc="1">
            <a:noAutofit/>
          </a:bodyPr>
          <a:lstStyle/>
          <a:p>
            <a:pPr marL="0" marR="0" lvl="0" indent="0" algn="l" defTabSz="914363"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2160" b="1" i="0" u="none" strike="noStrike" kern="1200" cap="none" spc="0" baseline="0">
                <a:solidFill>
                  <a:srgbClr val="000000"/>
                </a:solidFill>
                <a:uFillTx/>
                <a:latin typeface="Calibri"/>
              </a:rPr>
              <a:t>Semantic over Syntactic Extraction</a:t>
            </a:r>
          </a:p>
          <a:p>
            <a:pPr marL="0" marR="0" lvl="0" indent="0" algn="l" defTabSz="914363"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2160" b="1" i="0" u="none" strike="noStrike" kern="1200" cap="none" spc="0" baseline="0">
                <a:solidFill>
                  <a:srgbClr val="000000"/>
                </a:solidFill>
                <a:uFillTx/>
                <a:latin typeface="Calibri"/>
              </a:rPr>
              <a:t>Global-Local Lead-Lag Analysis</a:t>
            </a:r>
          </a:p>
          <a:p>
            <a:pPr marL="0" marR="0" lvl="0" indent="0" algn="l" defTabSz="914363"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2160" b="1" i="0" u="none" strike="noStrike" kern="1200" cap="none" spc="0" baseline="0">
                <a:solidFill>
                  <a:srgbClr val="000000"/>
                </a:solidFill>
                <a:uFillTx/>
                <a:latin typeface="Calibri"/>
              </a:rPr>
              <a:t>Proactive Tactical Forecasting</a:t>
            </a:r>
          </a:p>
          <a:p>
            <a:pPr marL="0" marR="0" lvl="0" indent="0" algn="l" defTabSz="914363" rtl="0" fontAlgn="auto" hangingPunct="1">
              <a:lnSpc>
                <a:spcPts val="2850"/>
              </a:lnSpc>
              <a:spcBef>
                <a:spcPts val="0"/>
              </a:spcBef>
              <a:spcAft>
                <a:spcPts val="0"/>
              </a:spcAft>
              <a:buNone/>
              <a:tabLst/>
              <a:defRPr sz="1800" b="0" i="0" u="none" strike="noStrike" kern="0" cap="none" spc="0" baseline="0">
                <a:solidFill>
                  <a:srgbClr val="000000"/>
                </a:solidFill>
                <a:uFillTx/>
              </a:defRPr>
            </a:pPr>
            <a:endParaRPr lang="en-US" sz="2160" b="1" i="0" u="none" strike="noStrike" kern="1200" cap="none" spc="0" baseline="0">
              <a:solidFill>
                <a:srgbClr val="000000"/>
              </a:solidFill>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37">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8797C23-1688-465E-A7CB-8A14F8BAA87D}"/>
              </a:ext>
            </a:extLst>
          </p:cNvPr>
          <p:cNvSpPr/>
          <p:nvPr/>
        </p:nvSpPr>
        <p:spPr>
          <a:xfrm>
            <a:off x="0" y="0"/>
            <a:ext cx="14630400" cy="1005840"/>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3" name="Shape 1">
            <a:extLst>
              <a:ext uri="{FF2B5EF4-FFF2-40B4-BE49-F238E27FC236}">
                <a16:creationId xmlns:a16="http://schemas.microsoft.com/office/drawing/2014/main" id="{39DB314E-DE97-4EC9-B1FA-861615FBB375}"/>
              </a:ext>
            </a:extLst>
          </p:cNvPr>
          <p:cNvSpPr/>
          <p:nvPr/>
        </p:nvSpPr>
        <p:spPr>
          <a:xfrm>
            <a:off x="939536" y="1319908"/>
            <a:ext cx="12747696" cy="1606171"/>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4" name="Text 2">
            <a:extLst>
              <a:ext uri="{FF2B5EF4-FFF2-40B4-BE49-F238E27FC236}">
                <a16:creationId xmlns:a16="http://schemas.microsoft.com/office/drawing/2014/main" id="{CFFDC34C-29FA-4B1A-A10E-9C0544338DE0}"/>
              </a:ext>
            </a:extLst>
          </p:cNvPr>
          <p:cNvSpPr/>
          <p:nvPr/>
        </p:nvSpPr>
        <p:spPr>
          <a:xfrm>
            <a:off x="1113867" y="1550749"/>
            <a:ext cx="1559381" cy="315714"/>
          </a:xfrm>
          <a:prstGeom prst="rect">
            <a:avLst/>
          </a:prstGeom>
          <a:noFill/>
          <a:ln cap="flat">
            <a:noFill/>
            <a:prstDash val="solid"/>
          </a:ln>
        </p:spPr>
        <p:txBody>
          <a:bodyPr vert="horz" wrap="none" lIns="0" tIns="0" rIns="0" bIns="0" anchor="t" anchorCtr="0" compatLnSpc="1">
            <a:noAutofit/>
          </a:bodyPr>
          <a:lstStyle/>
          <a:p>
            <a:pPr marL="0" marR="0" lvl="0" indent="0" algn="l" defTabSz="914363"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rPr>
              <a:t>Problem Definition</a:t>
            </a:r>
            <a:endParaRPr lang="en-US" sz="2200" b="1" i="0" u="none" strike="noStrike" kern="1200" cap="none" spc="0" baseline="0">
              <a:solidFill>
                <a:srgbClr val="BF9000"/>
              </a:solidFill>
              <a:uFillTx/>
              <a:latin typeface="Calibri"/>
            </a:endParaRPr>
          </a:p>
        </p:txBody>
      </p:sp>
      <p:sp>
        <p:nvSpPr>
          <p:cNvPr id="5" name="Text 3">
            <a:extLst>
              <a:ext uri="{FF2B5EF4-FFF2-40B4-BE49-F238E27FC236}">
                <a16:creationId xmlns:a16="http://schemas.microsoft.com/office/drawing/2014/main" id="{8109EB21-4C0C-40B6-B17A-BA322A14B94F}"/>
              </a:ext>
            </a:extLst>
          </p:cNvPr>
          <p:cNvSpPr/>
          <p:nvPr/>
        </p:nvSpPr>
        <p:spPr>
          <a:xfrm>
            <a:off x="1093658" y="1980069"/>
            <a:ext cx="12439461" cy="833649"/>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920" b="0" i="0" u="none" strike="noStrike" kern="1200" cap="none" spc="0" baseline="0">
                <a:solidFill>
                  <a:srgbClr val="000000"/>
                </a:solidFill>
                <a:uFillTx/>
                <a:latin typeface="Calibri"/>
              </a:rPr>
              <a:t>The IT industry changes very fast. University students often do not know exactly what specific skills companies want today. Because of this, major IT companies in Sri Lanka have to spend 3 to 6 months retraining fresh graduates before assigning them to projects. Therefore, an intelligent tool is needed to predict short-term skill demands so students can prepare early.</a:t>
            </a:r>
          </a:p>
        </p:txBody>
      </p:sp>
      <p:grpSp>
        <p:nvGrpSpPr>
          <p:cNvPr id="6" name="Group 22">
            <a:extLst>
              <a:ext uri="{FF2B5EF4-FFF2-40B4-BE49-F238E27FC236}">
                <a16:creationId xmlns:a16="http://schemas.microsoft.com/office/drawing/2014/main" id="{A2AA700E-181E-4F5F-9C0D-C677F0A88A5B}"/>
              </a:ext>
            </a:extLst>
          </p:cNvPr>
          <p:cNvGrpSpPr/>
          <p:nvPr/>
        </p:nvGrpSpPr>
        <p:grpSpPr>
          <a:xfrm>
            <a:off x="0" y="7649742"/>
            <a:ext cx="14633225" cy="579866"/>
            <a:chOff x="0" y="7649742"/>
            <a:chExt cx="14633225" cy="579866"/>
          </a:xfrm>
        </p:grpSpPr>
        <p:sp>
          <p:nvSpPr>
            <p:cNvPr id="7" name="Rectangle 18">
              <a:extLst>
                <a:ext uri="{FF2B5EF4-FFF2-40B4-BE49-F238E27FC236}">
                  <a16:creationId xmlns:a16="http://schemas.microsoft.com/office/drawing/2014/main" id="{228DB846-6DBB-49D0-8734-1F3AAC3F36B9}"/>
                </a:ext>
              </a:extLst>
            </p:cNvPr>
            <p:cNvSpPr/>
            <p:nvPr/>
          </p:nvSpPr>
          <p:spPr>
            <a:xfrm>
              <a:off x="12511671" y="7649742"/>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8" name="Rectangle 19">
              <a:extLst>
                <a:ext uri="{FF2B5EF4-FFF2-40B4-BE49-F238E27FC236}">
                  <a16:creationId xmlns:a16="http://schemas.microsoft.com/office/drawing/2014/main" id="{EA99E5CE-7C9B-4673-86A7-AAC46F881BC0}"/>
                </a:ext>
              </a:extLst>
            </p:cNvPr>
            <p:cNvSpPr/>
            <p:nvPr/>
          </p:nvSpPr>
          <p:spPr>
            <a:xfrm>
              <a:off x="3943148" y="7649742"/>
              <a:ext cx="6126480"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IT22154408 | RATHNAYAKE K D V | R26-IT-128 ​</a:t>
              </a:r>
              <a:endParaRPr lang="en-US" sz="1800" b="0" i="0" u="none" strike="noStrike" kern="1200" cap="none" spc="0" baseline="0">
                <a:solidFill>
                  <a:srgbClr val="FFC000"/>
                </a:solidFill>
                <a:uFillTx/>
                <a:latin typeface="Calibri"/>
              </a:endParaRPr>
            </a:p>
          </p:txBody>
        </p:sp>
        <p:pic>
          <p:nvPicPr>
            <p:cNvPr id="9" name="Picture 20">
              <a:extLst>
                <a:ext uri="{FF2B5EF4-FFF2-40B4-BE49-F238E27FC236}">
                  <a16:creationId xmlns:a16="http://schemas.microsoft.com/office/drawing/2014/main" id="{B4B63428-43C5-4092-92B1-DAFCE05332D1}"/>
                </a:ext>
              </a:extLst>
            </p:cNvPr>
            <p:cNvPicPr>
              <a:picLocks noChangeAspect="1"/>
            </p:cNvPicPr>
            <p:nvPr/>
          </p:nvPicPr>
          <p:blipFill>
            <a:blip r:embed="rId3"/>
            <a:stretch>
              <a:fillRect/>
            </a:stretch>
          </p:blipFill>
          <p:spPr>
            <a:xfrm>
              <a:off x="0" y="7707212"/>
              <a:ext cx="3043708" cy="522387"/>
            </a:xfrm>
            <a:prstGeom prst="rect">
              <a:avLst/>
            </a:prstGeom>
            <a:noFill/>
            <a:ln cap="flat">
              <a:noFill/>
            </a:ln>
          </p:spPr>
        </p:pic>
        <p:sp>
          <p:nvSpPr>
            <p:cNvPr id="10" name="Rectangle 21">
              <a:extLst>
                <a:ext uri="{FF2B5EF4-FFF2-40B4-BE49-F238E27FC236}">
                  <a16:creationId xmlns:a16="http://schemas.microsoft.com/office/drawing/2014/main" id="{20EC8D57-105B-4FE8-BFB2-0ACDA61E8826}"/>
                </a:ext>
              </a:extLst>
            </p:cNvPr>
            <p:cNvSpPr/>
            <p:nvPr/>
          </p:nvSpPr>
          <p:spPr>
            <a:xfrm>
              <a:off x="12912754" y="769486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11" name="Text 0">
            <a:extLst>
              <a:ext uri="{FF2B5EF4-FFF2-40B4-BE49-F238E27FC236}">
                <a16:creationId xmlns:a16="http://schemas.microsoft.com/office/drawing/2014/main" id="{2706024C-D4D0-4CFF-9B37-EB53F2B7CABD}"/>
              </a:ext>
            </a:extLst>
          </p:cNvPr>
          <p:cNvSpPr/>
          <p:nvPr/>
        </p:nvSpPr>
        <p:spPr>
          <a:xfrm>
            <a:off x="1256842" y="86813"/>
            <a:ext cx="11499110" cy="708778"/>
          </a:xfrm>
          <a:prstGeom prst="rect">
            <a:avLst/>
          </a:prstGeom>
          <a:noFill/>
          <a:ln cap="flat">
            <a:noFill/>
            <a:prstDash val="solid"/>
          </a:ln>
        </p:spPr>
        <p:txBody>
          <a:bodyPr vert="horz" wrap="none" lIns="0" tIns="0" rIns="0" bIns="0" anchor="t" anchorCtr="0" compatLnSpc="1">
            <a:noAutofit/>
          </a:bodyPr>
          <a:lstStyle/>
          <a:p>
            <a:pPr marL="0" marR="0" lvl="0" indent="0" algn="l" defTabSz="914363"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FFFFFF"/>
                </a:solidFill>
                <a:uFillTx/>
                <a:latin typeface="Times New Roman" pitchFamily="18"/>
                <a:ea typeface="Bricolage Grotesque Semi Bold" pitchFamily="34"/>
                <a:cs typeface="Times New Roman" pitchFamily="18"/>
              </a:rPr>
              <a:t>Semantic Skill Forecasting Engine</a:t>
            </a:r>
            <a:endParaRPr lang="en-US" sz="4450" b="0" i="0" u="none" strike="noStrike" kern="1200" cap="none" spc="0" baseline="0">
              <a:solidFill>
                <a:srgbClr val="FFFFFF"/>
              </a:solidFill>
              <a:uFillTx/>
              <a:latin typeface="Calibri"/>
            </a:endParaRPr>
          </a:p>
        </p:txBody>
      </p:sp>
      <p:sp>
        <p:nvSpPr>
          <p:cNvPr id="12" name="Shape 1">
            <a:extLst>
              <a:ext uri="{FF2B5EF4-FFF2-40B4-BE49-F238E27FC236}">
                <a16:creationId xmlns:a16="http://schemas.microsoft.com/office/drawing/2014/main" id="{3BDAA6AB-4C44-4DA3-A996-8777B689A6F0}"/>
              </a:ext>
            </a:extLst>
          </p:cNvPr>
          <p:cNvSpPr/>
          <p:nvPr/>
        </p:nvSpPr>
        <p:spPr>
          <a:xfrm>
            <a:off x="939427" y="3474838"/>
            <a:ext cx="12747696" cy="1119298"/>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rPr>
              <a:t>Main Objective</a:t>
            </a:r>
          </a:p>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920" b="0" i="0" u="none" strike="noStrike" kern="1200" cap="none" spc="0" baseline="0">
                <a:solidFill>
                  <a:srgbClr val="000000"/>
                </a:solidFill>
                <a:uFillTx/>
                <a:latin typeface="Calibri"/>
              </a:rPr>
              <a:t>To develop an AI-based Semantic Skill Forecasting Engine that predicts short-term IT skill demands to help undergraduates prepare for the job market.</a:t>
            </a:r>
            <a:endParaRPr lang="en-US" sz="1920" b="1" i="0" u="none" strike="noStrike" kern="1200" cap="none" spc="0" baseline="0">
              <a:solidFill>
                <a:srgbClr val="000000"/>
              </a:solidFill>
              <a:uFillTx/>
              <a:latin typeface="Calibri"/>
            </a:endParaRPr>
          </a:p>
        </p:txBody>
      </p:sp>
      <p:sp>
        <p:nvSpPr>
          <p:cNvPr id="13" name="Shape 1">
            <a:extLst>
              <a:ext uri="{FF2B5EF4-FFF2-40B4-BE49-F238E27FC236}">
                <a16:creationId xmlns:a16="http://schemas.microsoft.com/office/drawing/2014/main" id="{8F427BD5-E25A-4E18-BABA-16F8F0DC6EE9}"/>
              </a:ext>
            </a:extLst>
          </p:cNvPr>
          <p:cNvSpPr/>
          <p:nvPr/>
        </p:nvSpPr>
        <p:spPr>
          <a:xfrm>
            <a:off x="939427" y="5067842"/>
            <a:ext cx="12747696" cy="1827675"/>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BF9000"/>
                </a:solidFill>
                <a:uFillTx/>
                <a:latin typeface="Calibri"/>
              </a:rPr>
              <a:t>Sub Objectives</a:t>
            </a:r>
          </a:p>
          <a:p>
            <a:pPr marL="411480" marR="0" lvl="0" indent="-411480" algn="l" defTabSz="914363"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920" b="0" i="0" u="none" strike="noStrike" kern="1200" cap="none" spc="0" baseline="0">
                <a:solidFill>
                  <a:srgbClr val="000000"/>
                </a:solidFill>
                <a:uFillTx/>
                <a:latin typeface="Calibri"/>
              </a:rPr>
              <a:t>Develop a noise-reduced OCR data ingestion pipeline.</a:t>
            </a:r>
          </a:p>
          <a:p>
            <a:pPr marL="411480" marR="0" lvl="0" indent="-411480" algn="l" defTabSz="914363"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920" b="0" i="0" u="none" strike="noStrike" kern="1200" cap="none" spc="0" baseline="0">
                <a:solidFill>
                  <a:srgbClr val="000000"/>
                </a:solidFill>
                <a:uFillTx/>
                <a:latin typeface="Calibri"/>
              </a:rPr>
              <a:t>Cluster unstructured IT skills semantically using BERTopic.</a:t>
            </a:r>
          </a:p>
          <a:p>
            <a:pPr marL="411480" marR="0" lvl="0" indent="-411480" algn="l" defTabSz="914363"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920" b="0" i="0" u="none" strike="noStrike" kern="1200" cap="none" spc="0" baseline="0">
                <a:solidFill>
                  <a:srgbClr val="000000"/>
                </a:solidFill>
                <a:uFillTx/>
                <a:latin typeface="Calibri"/>
              </a:rPr>
              <a:t>Formulate and calculate global-to-local market lag times.</a:t>
            </a:r>
          </a:p>
          <a:p>
            <a:pPr marL="411480" marR="0" lvl="0" indent="-411480" algn="l" defTabSz="914363"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r>
              <a:rPr lang="en-US" sz="1920" b="0" i="0" u="none" strike="noStrike" kern="1200" cap="none" spc="0" baseline="0">
                <a:solidFill>
                  <a:srgbClr val="000000"/>
                </a:solidFill>
                <a:uFillTx/>
                <a:latin typeface="Calibri"/>
              </a:rPr>
              <a:t>Forecast 3-month skill demand velocity to proactively minimize graduate bench time.</a:t>
            </a:r>
          </a:p>
          <a:p>
            <a:pPr marL="411480" marR="0" lvl="0" indent="-411480" algn="l" defTabSz="914363" rtl="0" fontAlgn="auto" hangingPunct="1">
              <a:lnSpc>
                <a:spcPct val="100000"/>
              </a:lnSpc>
              <a:spcBef>
                <a:spcPts val="0"/>
              </a:spcBef>
              <a:spcAft>
                <a:spcPts val="0"/>
              </a:spcAft>
              <a:buSzPct val="100000"/>
              <a:buFont typeface="Calibri Light"/>
              <a:buAutoNum type="arabicPeriod"/>
              <a:tabLst/>
              <a:defRPr sz="1800" b="0" i="0" u="none" strike="noStrike" kern="0" cap="none" spc="0" baseline="0">
                <a:solidFill>
                  <a:srgbClr val="000000"/>
                </a:solidFill>
                <a:uFillTx/>
              </a:defRPr>
            </a:pPr>
            <a:endParaRPr lang="en-US" sz="1920" b="0" i="0" u="none" strike="noStrike" kern="1200" cap="none" spc="0" baseline="0">
              <a:solidFill>
                <a:srgbClr val="BF9000"/>
              </a:solidFill>
              <a:uFillTx/>
              <a:latin typeface="Calibri"/>
            </a:endParaRPr>
          </a:p>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21">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50CD63F-3D2F-4DE9-8726-44FDDEB39C25}"/>
              </a:ext>
            </a:extLst>
          </p:cNvPr>
          <p:cNvSpPr/>
          <p:nvPr/>
        </p:nvSpPr>
        <p:spPr>
          <a:xfrm>
            <a:off x="-15873" y="-43936"/>
            <a:ext cx="14630400" cy="958336"/>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3" name="Text 0">
            <a:extLst>
              <a:ext uri="{FF2B5EF4-FFF2-40B4-BE49-F238E27FC236}">
                <a16:creationId xmlns:a16="http://schemas.microsoft.com/office/drawing/2014/main" id="{275B4362-5236-4CFC-BA51-49E88B074CDC}"/>
              </a:ext>
            </a:extLst>
          </p:cNvPr>
          <p:cNvSpPr/>
          <p:nvPr/>
        </p:nvSpPr>
        <p:spPr>
          <a:xfrm>
            <a:off x="3713634" y="174778"/>
            <a:ext cx="6590446" cy="602452"/>
          </a:xfrm>
          <a:prstGeom prst="rect">
            <a:avLst/>
          </a:prstGeom>
          <a:noFill/>
          <a:ln cap="flat">
            <a:noFill/>
            <a:prstDash val="solid"/>
          </a:ln>
        </p:spPr>
        <p:txBody>
          <a:bodyPr vert="horz" wrap="none" lIns="0" tIns="0" rIns="0" bIns="0" anchor="t" anchorCtr="0" compatLnSpc="1">
            <a:noAutofit/>
          </a:bodyPr>
          <a:lstStyle/>
          <a:p>
            <a:pPr marL="0" marR="0" lvl="0" indent="0" algn="l" defTabSz="914363"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320" b="0" i="0" u="none" strike="noStrike" kern="1200" cap="none" spc="0" baseline="0">
                <a:solidFill>
                  <a:srgbClr val="FFFFFF"/>
                </a:solidFill>
                <a:uFillTx/>
                <a:latin typeface="Times New Roman" pitchFamily="18"/>
                <a:ea typeface="Bricolage Grotesque Semi Bold" pitchFamily="34"/>
                <a:cs typeface="Times New Roman" pitchFamily="18"/>
              </a:rPr>
              <a:t>Semantic Skill Forecasting Engine</a:t>
            </a:r>
            <a:endParaRPr lang="en-US" sz="4320" b="0" i="0" u="none" strike="noStrike" kern="1200" cap="none" spc="0" baseline="0">
              <a:solidFill>
                <a:srgbClr val="FFFFFF"/>
              </a:solidFill>
              <a:uFillTx/>
              <a:latin typeface="Calibri"/>
            </a:endParaRPr>
          </a:p>
        </p:txBody>
      </p:sp>
      <p:grpSp>
        <p:nvGrpSpPr>
          <p:cNvPr id="4" name="Group 11">
            <a:extLst>
              <a:ext uri="{FF2B5EF4-FFF2-40B4-BE49-F238E27FC236}">
                <a16:creationId xmlns:a16="http://schemas.microsoft.com/office/drawing/2014/main" id="{46A13D27-4409-4CCF-A5BF-FABF523BE726}"/>
              </a:ext>
            </a:extLst>
          </p:cNvPr>
          <p:cNvGrpSpPr/>
          <p:nvPr/>
        </p:nvGrpSpPr>
        <p:grpSpPr>
          <a:xfrm>
            <a:off x="0" y="7649742"/>
            <a:ext cx="14633225" cy="674872"/>
            <a:chOff x="0" y="7649742"/>
            <a:chExt cx="14633225" cy="674872"/>
          </a:xfrm>
        </p:grpSpPr>
        <p:sp>
          <p:nvSpPr>
            <p:cNvPr id="5" name="Rectangle 12">
              <a:extLst>
                <a:ext uri="{FF2B5EF4-FFF2-40B4-BE49-F238E27FC236}">
                  <a16:creationId xmlns:a16="http://schemas.microsoft.com/office/drawing/2014/main" id="{27FE9A01-7FFB-42D8-96F5-2D479FE69E60}"/>
                </a:ext>
              </a:extLst>
            </p:cNvPr>
            <p:cNvSpPr/>
            <p:nvPr/>
          </p:nvSpPr>
          <p:spPr>
            <a:xfrm>
              <a:off x="12511671" y="7649742"/>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6" name="Rectangle 13">
              <a:extLst>
                <a:ext uri="{FF2B5EF4-FFF2-40B4-BE49-F238E27FC236}">
                  <a16:creationId xmlns:a16="http://schemas.microsoft.com/office/drawing/2014/main" id="{1529EA99-C8D1-461D-BD87-75411EF163DA}"/>
                </a:ext>
              </a:extLst>
            </p:cNvPr>
            <p:cNvSpPr/>
            <p:nvPr/>
          </p:nvSpPr>
          <p:spPr>
            <a:xfrm>
              <a:off x="0" y="7754724"/>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IT22154408 | RATHNAYAKE K D V | R26-IT-128 ​</a:t>
              </a:r>
              <a:endParaRPr lang="en-US" sz="1800" b="0" i="0" u="none" strike="noStrike" kern="1200" cap="none" spc="0" baseline="0">
                <a:solidFill>
                  <a:srgbClr val="FFC000"/>
                </a:solidFill>
                <a:uFillTx/>
                <a:latin typeface="Calibri"/>
              </a:endParaRPr>
            </a:p>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7" name="Picture 14">
              <a:extLst>
                <a:ext uri="{FF2B5EF4-FFF2-40B4-BE49-F238E27FC236}">
                  <a16:creationId xmlns:a16="http://schemas.microsoft.com/office/drawing/2014/main" id="{609367F1-9233-406C-830F-1D4746EB4CDD}"/>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8" name="Rectangle 15">
              <a:extLst>
                <a:ext uri="{FF2B5EF4-FFF2-40B4-BE49-F238E27FC236}">
                  <a16:creationId xmlns:a16="http://schemas.microsoft.com/office/drawing/2014/main" id="{B7415439-4C0F-4C57-A9B4-363A5FA0FAF6}"/>
                </a:ext>
              </a:extLst>
            </p:cNvPr>
            <p:cNvSpPr/>
            <p:nvPr/>
          </p:nvSpPr>
          <p:spPr>
            <a:xfrm>
              <a:off x="12912754" y="7802227"/>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grpSp>
        <p:nvGrpSpPr>
          <p:cNvPr id="9" name="Group 19">
            <a:extLst>
              <a:ext uri="{FF2B5EF4-FFF2-40B4-BE49-F238E27FC236}">
                <a16:creationId xmlns:a16="http://schemas.microsoft.com/office/drawing/2014/main" id="{E3F27097-FE6C-4020-A711-C27D5189C8DA}"/>
              </a:ext>
            </a:extLst>
          </p:cNvPr>
          <p:cNvGrpSpPr/>
          <p:nvPr/>
        </p:nvGrpSpPr>
        <p:grpSpPr>
          <a:xfrm>
            <a:off x="182880" y="1005840"/>
            <a:ext cx="13942423" cy="6099815"/>
            <a:chOff x="182880" y="1005840"/>
            <a:chExt cx="13942423" cy="6099815"/>
          </a:xfrm>
        </p:grpSpPr>
        <p:sp>
          <p:nvSpPr>
            <p:cNvPr id="10" name="Shape 4">
              <a:extLst>
                <a:ext uri="{FF2B5EF4-FFF2-40B4-BE49-F238E27FC236}">
                  <a16:creationId xmlns:a16="http://schemas.microsoft.com/office/drawing/2014/main" id="{4F4B4AD6-D6E9-4B1B-9D1C-4648E1ABC7E1}"/>
                </a:ext>
              </a:extLst>
            </p:cNvPr>
            <p:cNvSpPr/>
            <p:nvPr/>
          </p:nvSpPr>
          <p:spPr>
            <a:xfrm>
              <a:off x="182880" y="1005840"/>
              <a:ext cx="6825977" cy="2904673"/>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1" name="Shape 5">
              <a:extLst>
                <a:ext uri="{FF2B5EF4-FFF2-40B4-BE49-F238E27FC236}">
                  <a16:creationId xmlns:a16="http://schemas.microsoft.com/office/drawing/2014/main" id="{72F71371-B445-4908-8F91-5507B96F6DA9}"/>
                </a:ext>
              </a:extLst>
            </p:cNvPr>
            <p:cNvSpPr/>
            <p:nvPr/>
          </p:nvSpPr>
          <p:spPr>
            <a:xfrm>
              <a:off x="182880" y="1005840"/>
              <a:ext cx="726170" cy="2904673"/>
            </a:xfrm>
            <a:prstGeom prst="rect">
              <a:avLst/>
            </a:pr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2" name="Image 0" descr="preencoded.png">
              <a:extLst>
                <a:ext uri="{FF2B5EF4-FFF2-40B4-BE49-F238E27FC236}">
                  <a16:creationId xmlns:a16="http://schemas.microsoft.com/office/drawing/2014/main" id="{A8DB6005-2FEE-4320-959B-22D92931100F}"/>
                </a:ext>
              </a:extLst>
            </p:cNvPr>
            <p:cNvPicPr>
              <a:picLocks noChangeAspect="1"/>
            </p:cNvPicPr>
            <p:nvPr/>
          </p:nvPicPr>
          <p:blipFill>
            <a:blip r:embed="rId3"/>
            <a:stretch>
              <a:fillRect/>
            </a:stretch>
          </p:blipFill>
          <p:spPr>
            <a:xfrm>
              <a:off x="328114" y="2095091"/>
              <a:ext cx="435702" cy="435702"/>
            </a:xfrm>
            <a:prstGeom prst="rect">
              <a:avLst/>
            </a:prstGeom>
            <a:noFill/>
            <a:ln cap="flat">
              <a:noFill/>
            </a:ln>
          </p:spPr>
        </p:pic>
        <p:sp>
          <p:nvSpPr>
            <p:cNvPr id="13" name="Text 6">
              <a:extLst>
                <a:ext uri="{FF2B5EF4-FFF2-40B4-BE49-F238E27FC236}">
                  <a16:creationId xmlns:a16="http://schemas.microsoft.com/office/drawing/2014/main" id="{8D569AF1-3900-4CCB-BAB3-1C5C3E864F8F}"/>
                </a:ext>
              </a:extLst>
            </p:cNvPr>
            <p:cNvSpPr/>
            <p:nvPr/>
          </p:nvSpPr>
          <p:spPr>
            <a:xfrm>
              <a:off x="1126897" y="1151074"/>
              <a:ext cx="5664104" cy="551886"/>
            </a:xfrm>
            <a:prstGeom prst="rect">
              <a:avLst/>
            </a:prstGeom>
            <a:noFill/>
            <a:ln cap="flat">
              <a:noFill/>
              <a:prstDash val="solid"/>
            </a:ln>
          </p:spPr>
          <p:txBody>
            <a:bodyPr vert="horz" wrap="square" lIns="0" tIns="0" rIns="0" bIns="0" anchor="ctr"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pitchFamily="34"/>
                  <a:ea typeface="Calibri" pitchFamily="34"/>
                  <a:cs typeface="Calibri" pitchFamily="34"/>
                </a:rPr>
                <a:t>Technologies</a:t>
              </a:r>
              <a:endParaRPr lang="en-US" sz="2800" b="0" i="0" u="none" strike="noStrike" kern="1200" cap="none" spc="0" baseline="0">
                <a:solidFill>
                  <a:srgbClr val="000000"/>
                </a:solidFill>
                <a:uFillTx/>
                <a:latin typeface="Calibri"/>
              </a:endParaRPr>
            </a:p>
          </p:txBody>
        </p:sp>
        <p:sp>
          <p:nvSpPr>
            <p:cNvPr id="14" name="Text 7">
              <a:extLst>
                <a:ext uri="{FF2B5EF4-FFF2-40B4-BE49-F238E27FC236}">
                  <a16:creationId xmlns:a16="http://schemas.microsoft.com/office/drawing/2014/main" id="{11C4A675-4375-49CE-A092-EB21B9C74C01}"/>
                </a:ext>
              </a:extLst>
            </p:cNvPr>
            <p:cNvSpPr/>
            <p:nvPr/>
          </p:nvSpPr>
          <p:spPr>
            <a:xfrm>
              <a:off x="1126897" y="1732010"/>
              <a:ext cx="5664104" cy="2033268"/>
            </a:xfrm>
            <a:prstGeom prst="rect">
              <a:avLst/>
            </a:prstGeom>
            <a:noFill/>
            <a:ln cap="flat">
              <a:noFill/>
              <a:prstDash val="solid"/>
            </a:ln>
          </p:spPr>
          <p:txBody>
            <a:bodyPr vert="horz" wrap="square" lIns="0" tIns="0" rIns="0" bIns="0" anchor="ctr" anchorCtr="0" compatLnSpc="1">
              <a:noAutofit/>
            </a:bodyPr>
            <a:lstStyle/>
            <a:p>
              <a:pPr marL="0" marR="0" lvl="0" indent="0" algn="just"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pitchFamily="34"/>
                  <a:ea typeface="Calibri" pitchFamily="34"/>
                  <a:cs typeface="Calibri" pitchFamily="34"/>
                </a:rPr>
                <a:t>Python will be used as the main programming language. Image processing tools (like OpenCV and OCR) are used to read text from job advertisement images. Advanced Natural Language Processing (NLP) models are used to understand the text, and Time-Series algorithms are used to predict future trends.</a:t>
              </a:r>
              <a:endParaRPr lang="en-US" sz="2000" b="0" i="0" u="none" strike="noStrike" kern="1200" cap="none" spc="0" baseline="0">
                <a:solidFill>
                  <a:srgbClr val="000000"/>
                </a:solidFill>
                <a:uFillTx/>
                <a:latin typeface="Calibri"/>
              </a:endParaRPr>
            </a:p>
          </p:txBody>
        </p:sp>
        <p:sp>
          <p:nvSpPr>
            <p:cNvPr id="15" name="Shape 8">
              <a:extLst>
                <a:ext uri="{FF2B5EF4-FFF2-40B4-BE49-F238E27FC236}">
                  <a16:creationId xmlns:a16="http://schemas.microsoft.com/office/drawing/2014/main" id="{2EF85698-109A-4327-88D7-5759BEF8368F}"/>
                </a:ext>
              </a:extLst>
            </p:cNvPr>
            <p:cNvSpPr/>
            <p:nvPr/>
          </p:nvSpPr>
          <p:spPr>
            <a:xfrm>
              <a:off x="7299326" y="1005840"/>
              <a:ext cx="6825977" cy="2904673"/>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6" name="Shape 9">
              <a:extLst>
                <a:ext uri="{FF2B5EF4-FFF2-40B4-BE49-F238E27FC236}">
                  <a16:creationId xmlns:a16="http://schemas.microsoft.com/office/drawing/2014/main" id="{2D12779D-D93C-44F5-A494-49821ED32CF5}"/>
                </a:ext>
              </a:extLst>
            </p:cNvPr>
            <p:cNvSpPr/>
            <p:nvPr/>
          </p:nvSpPr>
          <p:spPr>
            <a:xfrm>
              <a:off x="7299326" y="1005840"/>
              <a:ext cx="726170" cy="2904673"/>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7" name="Image 1" descr="preencoded.png">
              <a:extLst>
                <a:ext uri="{FF2B5EF4-FFF2-40B4-BE49-F238E27FC236}">
                  <a16:creationId xmlns:a16="http://schemas.microsoft.com/office/drawing/2014/main" id="{35ADE0B1-7BEB-4EBE-90AE-F336CC05B054}"/>
                </a:ext>
              </a:extLst>
            </p:cNvPr>
            <p:cNvPicPr>
              <a:picLocks noChangeAspect="1"/>
            </p:cNvPicPr>
            <p:nvPr/>
          </p:nvPicPr>
          <p:blipFill>
            <a:blip r:embed="rId4"/>
            <a:stretch>
              <a:fillRect/>
            </a:stretch>
          </p:blipFill>
          <p:spPr>
            <a:xfrm>
              <a:off x="7444560" y="2095091"/>
              <a:ext cx="435702" cy="435702"/>
            </a:xfrm>
            <a:prstGeom prst="rect">
              <a:avLst/>
            </a:prstGeom>
            <a:noFill/>
            <a:ln cap="flat">
              <a:noFill/>
            </a:ln>
          </p:spPr>
        </p:pic>
        <p:sp>
          <p:nvSpPr>
            <p:cNvPr id="18" name="Text 10">
              <a:extLst>
                <a:ext uri="{FF2B5EF4-FFF2-40B4-BE49-F238E27FC236}">
                  <a16:creationId xmlns:a16="http://schemas.microsoft.com/office/drawing/2014/main" id="{477B0533-8466-4612-A289-D7CB1A46C7F9}"/>
                </a:ext>
              </a:extLst>
            </p:cNvPr>
            <p:cNvSpPr/>
            <p:nvPr/>
          </p:nvSpPr>
          <p:spPr>
            <a:xfrm>
              <a:off x="8243343" y="1151074"/>
              <a:ext cx="5664104" cy="551886"/>
            </a:xfrm>
            <a:prstGeom prst="rect">
              <a:avLst/>
            </a:prstGeom>
            <a:noFill/>
            <a:ln cap="flat">
              <a:noFill/>
              <a:prstDash val="solid"/>
            </a:ln>
          </p:spPr>
          <p:txBody>
            <a:bodyPr vert="horz" wrap="square" lIns="0" tIns="0" rIns="0" bIns="0" anchor="ctr"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pitchFamily="34"/>
                  <a:ea typeface="Calibri" pitchFamily="34"/>
                  <a:cs typeface="Calibri" pitchFamily="34"/>
                </a:rPr>
                <a:t>Methodology</a:t>
              </a:r>
              <a:endParaRPr lang="en-US" sz="2800" b="0" i="0" u="none" strike="noStrike" kern="1200" cap="none" spc="0" baseline="0">
                <a:solidFill>
                  <a:srgbClr val="000000"/>
                </a:solidFill>
                <a:uFillTx/>
                <a:latin typeface="Calibri"/>
              </a:endParaRPr>
            </a:p>
          </p:txBody>
        </p:sp>
        <p:sp>
          <p:nvSpPr>
            <p:cNvPr id="19" name="Text 11">
              <a:extLst>
                <a:ext uri="{FF2B5EF4-FFF2-40B4-BE49-F238E27FC236}">
                  <a16:creationId xmlns:a16="http://schemas.microsoft.com/office/drawing/2014/main" id="{AF8885C7-A080-4E88-A6CC-BFECC76FDFD6}"/>
                </a:ext>
              </a:extLst>
            </p:cNvPr>
            <p:cNvSpPr/>
            <p:nvPr/>
          </p:nvSpPr>
          <p:spPr>
            <a:xfrm>
              <a:off x="8243343" y="1732010"/>
              <a:ext cx="5664104" cy="2033268"/>
            </a:xfrm>
            <a:prstGeom prst="rect">
              <a:avLst/>
            </a:prstGeom>
            <a:noFill/>
            <a:ln cap="flat">
              <a:noFill/>
              <a:prstDash val="solid"/>
            </a:ln>
          </p:spPr>
          <p:txBody>
            <a:bodyPr vert="horz" wrap="square" lIns="0" tIns="0" rIns="0" bIns="0" anchor="ctr" anchorCtr="0" compatLnSpc="1">
              <a:noAutofit/>
            </a:bodyPr>
            <a:lstStyle/>
            <a:p>
              <a:pPr marL="0" marR="0" lvl="0" indent="0" algn="just"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pitchFamily="34"/>
                  <a:ea typeface="Calibri" pitchFamily="34"/>
                  <a:cs typeface="Calibri" pitchFamily="34"/>
                </a:rPr>
                <a:t>A Design Science Research approach is used to create a predictive data tool. Knowledge from Data Science and Software Engineering is applied. The system will be designed, built, and mathematically tested to ensure the predictions are reliable.</a:t>
              </a:r>
              <a:endParaRPr lang="en-US" sz="2000" b="0" i="0" u="none" strike="noStrike" kern="1200" cap="none" spc="0" baseline="0">
                <a:solidFill>
                  <a:srgbClr val="000000"/>
                </a:solidFill>
                <a:uFillTx/>
                <a:latin typeface="Calibri"/>
              </a:endParaRPr>
            </a:p>
          </p:txBody>
        </p:sp>
        <p:sp>
          <p:nvSpPr>
            <p:cNvPr id="20" name="Shape 12">
              <a:extLst>
                <a:ext uri="{FF2B5EF4-FFF2-40B4-BE49-F238E27FC236}">
                  <a16:creationId xmlns:a16="http://schemas.microsoft.com/office/drawing/2014/main" id="{F3C88B49-E97A-4045-AA29-F1B8127A0187}"/>
                </a:ext>
              </a:extLst>
            </p:cNvPr>
            <p:cNvSpPr/>
            <p:nvPr/>
          </p:nvSpPr>
          <p:spPr>
            <a:xfrm>
              <a:off x="182880" y="4200982"/>
              <a:ext cx="6825977" cy="2904673"/>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1" name="Shape 13">
              <a:extLst>
                <a:ext uri="{FF2B5EF4-FFF2-40B4-BE49-F238E27FC236}">
                  <a16:creationId xmlns:a16="http://schemas.microsoft.com/office/drawing/2014/main" id="{E766B10B-D6F8-4FB8-86E0-D9F8145EC539}"/>
                </a:ext>
              </a:extLst>
            </p:cNvPr>
            <p:cNvSpPr/>
            <p:nvPr/>
          </p:nvSpPr>
          <p:spPr>
            <a:xfrm>
              <a:off x="182880" y="4200982"/>
              <a:ext cx="726170" cy="2904673"/>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2" name="Image 2" descr="preencoded.png">
              <a:extLst>
                <a:ext uri="{FF2B5EF4-FFF2-40B4-BE49-F238E27FC236}">
                  <a16:creationId xmlns:a16="http://schemas.microsoft.com/office/drawing/2014/main" id="{9F0B56ED-F357-47CC-A192-647B96DE6104}"/>
                </a:ext>
              </a:extLst>
            </p:cNvPr>
            <p:cNvPicPr>
              <a:picLocks noChangeAspect="1"/>
            </p:cNvPicPr>
            <p:nvPr/>
          </p:nvPicPr>
          <p:blipFill>
            <a:blip r:embed="rId5"/>
            <a:stretch>
              <a:fillRect/>
            </a:stretch>
          </p:blipFill>
          <p:spPr>
            <a:xfrm>
              <a:off x="328114" y="5290233"/>
              <a:ext cx="435702" cy="435702"/>
            </a:xfrm>
            <a:prstGeom prst="rect">
              <a:avLst/>
            </a:prstGeom>
            <a:noFill/>
            <a:ln cap="flat">
              <a:noFill/>
            </a:ln>
          </p:spPr>
        </p:pic>
        <p:sp>
          <p:nvSpPr>
            <p:cNvPr id="23" name="Text 14">
              <a:extLst>
                <a:ext uri="{FF2B5EF4-FFF2-40B4-BE49-F238E27FC236}">
                  <a16:creationId xmlns:a16="http://schemas.microsoft.com/office/drawing/2014/main" id="{23C81296-3E96-4585-AB07-697F2238D622}"/>
                </a:ext>
              </a:extLst>
            </p:cNvPr>
            <p:cNvSpPr/>
            <p:nvPr/>
          </p:nvSpPr>
          <p:spPr>
            <a:xfrm>
              <a:off x="1126897" y="4346216"/>
              <a:ext cx="5664104" cy="551886"/>
            </a:xfrm>
            <a:prstGeom prst="rect">
              <a:avLst/>
            </a:prstGeom>
            <a:noFill/>
            <a:ln cap="flat">
              <a:noFill/>
              <a:prstDash val="solid"/>
            </a:ln>
          </p:spPr>
          <p:txBody>
            <a:bodyPr vert="horz" wrap="square" lIns="0" tIns="0" rIns="0" bIns="0" anchor="ctr"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pitchFamily="34"/>
                  <a:ea typeface="Calibri" pitchFamily="34"/>
                  <a:cs typeface="Calibri" pitchFamily="34"/>
                </a:rPr>
                <a:t>Validation &amp; Evaluation</a:t>
              </a:r>
              <a:endParaRPr lang="en-US" sz="2800" b="0" i="0" u="none" strike="noStrike" kern="1200" cap="none" spc="0" baseline="0">
                <a:solidFill>
                  <a:srgbClr val="000000"/>
                </a:solidFill>
                <a:uFillTx/>
                <a:latin typeface="Calibri"/>
              </a:endParaRPr>
            </a:p>
          </p:txBody>
        </p:sp>
        <p:sp>
          <p:nvSpPr>
            <p:cNvPr id="24" name="Text 15">
              <a:extLst>
                <a:ext uri="{FF2B5EF4-FFF2-40B4-BE49-F238E27FC236}">
                  <a16:creationId xmlns:a16="http://schemas.microsoft.com/office/drawing/2014/main" id="{22586A60-FE54-4ED8-ADC0-130E8EFC45C0}"/>
                </a:ext>
              </a:extLst>
            </p:cNvPr>
            <p:cNvSpPr/>
            <p:nvPr/>
          </p:nvSpPr>
          <p:spPr>
            <a:xfrm>
              <a:off x="1126897" y="4927143"/>
              <a:ext cx="5664104" cy="2033268"/>
            </a:xfrm>
            <a:prstGeom prst="rect">
              <a:avLst/>
            </a:prstGeom>
            <a:noFill/>
            <a:ln cap="flat">
              <a:noFill/>
              <a:prstDash val="solid"/>
            </a:ln>
          </p:spPr>
          <p:txBody>
            <a:bodyPr vert="horz" wrap="square" lIns="0" tIns="0" rIns="0" bIns="0" anchor="ctr" anchorCtr="0" compatLnSpc="1">
              <a:noAutofit/>
            </a:bodyPr>
            <a:lstStyle/>
            <a:p>
              <a:pPr marL="0" marR="0" lvl="0" indent="0" algn="just"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pitchFamily="34"/>
                  <a:ea typeface="Calibri" pitchFamily="34"/>
                  <a:cs typeface="Calibri" pitchFamily="34"/>
                </a:rPr>
                <a:t>The system is evaluated by testing how accurately it extracts text from images. The skill predictions will be tested against real past data (</a:t>
              </a:r>
              <a:r>
                <a:rPr lang="en-US" sz="2000" b="1" i="0" u="none" strike="noStrike" kern="1200" cap="none" spc="0" baseline="0">
                  <a:solidFill>
                    <a:srgbClr val="4A5568"/>
                  </a:solidFill>
                  <a:uFillTx/>
                  <a:latin typeface="Calibri" pitchFamily="34"/>
                  <a:ea typeface="Calibri" pitchFamily="34"/>
                  <a:cs typeface="Calibri" pitchFamily="34"/>
                </a:rPr>
                <a:t>Historical backtesting</a:t>
              </a:r>
              <a:r>
                <a:rPr lang="en-US" sz="2000" b="0" i="0" u="none" strike="noStrike" kern="1200" cap="none" spc="0" baseline="0">
                  <a:solidFill>
                    <a:srgbClr val="4A5568"/>
                  </a:solidFill>
                  <a:uFillTx/>
                  <a:latin typeface="Calibri" pitchFamily="34"/>
                  <a:ea typeface="Calibri" pitchFamily="34"/>
                  <a:cs typeface="Calibri" pitchFamily="34"/>
                </a:rPr>
                <a:t>) to see if the system's guesses match what actually happened in the job market.</a:t>
              </a:r>
              <a:endParaRPr lang="en-US" sz="2000" b="0" i="0" u="none" strike="noStrike" kern="1200" cap="none" spc="0" baseline="0">
                <a:solidFill>
                  <a:srgbClr val="000000"/>
                </a:solidFill>
                <a:uFillTx/>
                <a:latin typeface="Calibri"/>
              </a:endParaRPr>
            </a:p>
          </p:txBody>
        </p:sp>
        <p:sp>
          <p:nvSpPr>
            <p:cNvPr id="25" name="Shape 16">
              <a:extLst>
                <a:ext uri="{FF2B5EF4-FFF2-40B4-BE49-F238E27FC236}">
                  <a16:creationId xmlns:a16="http://schemas.microsoft.com/office/drawing/2014/main" id="{D260BA38-3217-4C9F-8339-AC5A4EC26598}"/>
                </a:ext>
              </a:extLst>
            </p:cNvPr>
            <p:cNvSpPr/>
            <p:nvPr/>
          </p:nvSpPr>
          <p:spPr>
            <a:xfrm>
              <a:off x="7299326" y="4200982"/>
              <a:ext cx="6825977" cy="2904673"/>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6" name="Shape 17">
              <a:extLst>
                <a:ext uri="{FF2B5EF4-FFF2-40B4-BE49-F238E27FC236}">
                  <a16:creationId xmlns:a16="http://schemas.microsoft.com/office/drawing/2014/main" id="{166C9F87-6264-4259-BE5B-92D0A7EDCCE6}"/>
                </a:ext>
              </a:extLst>
            </p:cNvPr>
            <p:cNvSpPr/>
            <p:nvPr/>
          </p:nvSpPr>
          <p:spPr>
            <a:xfrm>
              <a:off x="7299326" y="4200982"/>
              <a:ext cx="726170" cy="2904673"/>
            </a:xfrm>
            <a:prstGeom prst="rect">
              <a:avLst/>
            </a:prstGeom>
            <a:solidFill>
              <a:srgbClr val="7C3AED"/>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7" name="Image 3" descr="preencoded.png">
              <a:extLst>
                <a:ext uri="{FF2B5EF4-FFF2-40B4-BE49-F238E27FC236}">
                  <a16:creationId xmlns:a16="http://schemas.microsoft.com/office/drawing/2014/main" id="{1403BA86-CD82-4DFC-B76A-085096364BC0}"/>
                </a:ext>
              </a:extLst>
            </p:cNvPr>
            <p:cNvPicPr>
              <a:picLocks noChangeAspect="1"/>
            </p:cNvPicPr>
            <p:nvPr/>
          </p:nvPicPr>
          <p:blipFill>
            <a:blip r:embed="rId6"/>
            <a:stretch>
              <a:fillRect/>
            </a:stretch>
          </p:blipFill>
          <p:spPr>
            <a:xfrm>
              <a:off x="7444560" y="5290233"/>
              <a:ext cx="435702" cy="435702"/>
            </a:xfrm>
            <a:prstGeom prst="rect">
              <a:avLst/>
            </a:prstGeom>
            <a:noFill/>
            <a:ln cap="flat">
              <a:noFill/>
            </a:ln>
          </p:spPr>
        </p:pic>
        <p:sp>
          <p:nvSpPr>
            <p:cNvPr id="28" name="Text 18">
              <a:extLst>
                <a:ext uri="{FF2B5EF4-FFF2-40B4-BE49-F238E27FC236}">
                  <a16:creationId xmlns:a16="http://schemas.microsoft.com/office/drawing/2014/main" id="{E96097B0-B3AD-4822-B8F5-0D57F6595CFD}"/>
                </a:ext>
              </a:extLst>
            </p:cNvPr>
            <p:cNvSpPr/>
            <p:nvPr/>
          </p:nvSpPr>
          <p:spPr>
            <a:xfrm>
              <a:off x="8243343" y="4346216"/>
              <a:ext cx="5664104" cy="551886"/>
            </a:xfrm>
            <a:prstGeom prst="rect">
              <a:avLst/>
            </a:prstGeom>
            <a:noFill/>
            <a:ln cap="flat">
              <a:noFill/>
              <a:prstDash val="solid"/>
            </a:ln>
          </p:spPr>
          <p:txBody>
            <a:bodyPr vert="horz" wrap="square" lIns="0" tIns="0" rIns="0" bIns="0" anchor="ctr"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pitchFamily="34"/>
                  <a:ea typeface="Calibri" pitchFamily="34"/>
                  <a:cs typeface="Calibri" pitchFamily="34"/>
                </a:rPr>
                <a:t>Data &amp; Ethics</a:t>
              </a:r>
              <a:endParaRPr lang="en-US" sz="2800" b="0" i="0" u="none" strike="noStrike" kern="1200" cap="none" spc="0" baseline="0">
                <a:solidFill>
                  <a:srgbClr val="000000"/>
                </a:solidFill>
                <a:uFillTx/>
                <a:latin typeface="Calibri"/>
              </a:endParaRPr>
            </a:p>
          </p:txBody>
        </p:sp>
        <p:sp>
          <p:nvSpPr>
            <p:cNvPr id="29" name="Text 19">
              <a:extLst>
                <a:ext uri="{FF2B5EF4-FFF2-40B4-BE49-F238E27FC236}">
                  <a16:creationId xmlns:a16="http://schemas.microsoft.com/office/drawing/2014/main" id="{DDE6AA1A-5FED-4A00-82B9-B345714D68B2}"/>
                </a:ext>
              </a:extLst>
            </p:cNvPr>
            <p:cNvSpPr/>
            <p:nvPr/>
          </p:nvSpPr>
          <p:spPr>
            <a:xfrm>
              <a:off x="8243343" y="4927143"/>
              <a:ext cx="5664104" cy="2033268"/>
            </a:xfrm>
            <a:prstGeom prst="rect">
              <a:avLst/>
            </a:prstGeom>
            <a:noFill/>
            <a:ln cap="flat">
              <a:noFill/>
              <a:prstDash val="solid"/>
            </a:ln>
          </p:spPr>
          <p:txBody>
            <a:bodyPr vert="horz" wrap="square" lIns="0" tIns="0" rIns="0" bIns="0" anchor="ctr" anchorCtr="0" compatLnSpc="1">
              <a:noAutofit/>
            </a:bodyPr>
            <a:lstStyle/>
            <a:p>
              <a:pPr marL="0" marR="0" lvl="0" indent="0" algn="just"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pitchFamily="34"/>
                  <a:ea typeface="Calibri" pitchFamily="34"/>
                  <a:cs typeface="Calibri" pitchFamily="34"/>
                </a:rPr>
                <a:t>The system only collects data from public job advertisement websites. It only extracts job requirements and titles. No personal details of applicants or recruiters will be collected. Ethical guidelines and website rules (like rate-limiting) are strictly followed during data collection.</a:t>
              </a:r>
              <a:endParaRPr lang="en-US" sz="2000" b="0" i="0" u="none" strike="noStrike" kern="1200" cap="none" spc="0" baseline="0">
                <a:solidFill>
                  <a:srgbClr val="000000"/>
                </a:solidFill>
                <a:uFillTx/>
                <a:latin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22">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31FAE96-7D6D-4B42-B984-03336C11A5E6}"/>
              </a:ext>
            </a:extLst>
          </p:cNvPr>
          <p:cNvSpPr/>
          <p:nvPr/>
        </p:nvSpPr>
        <p:spPr>
          <a:xfrm>
            <a:off x="3200400" y="287569"/>
            <a:ext cx="5261320" cy="675110"/>
          </a:xfrm>
          <a:prstGeom prst="rect">
            <a:avLst/>
          </a:prstGeom>
          <a:noFill/>
          <a:ln cap="flat">
            <a:noFill/>
            <a:prstDash val="solid"/>
          </a:ln>
        </p:spPr>
        <p:txBody>
          <a:bodyPr vert="horz" wrap="none" lIns="0" tIns="0" rIns="0" bIns="0" anchor="t" anchorCtr="0" compatLnSpc="1">
            <a:noAutofit/>
          </a:bodyPr>
          <a:lstStyle/>
          <a:p>
            <a:pPr marL="0" marR="0" lvl="0" indent="0" algn="l" defTabSz="914363"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320" b="1" i="0" u="none" strike="noStrike" kern="1200" cap="none" spc="0" baseline="0">
                <a:solidFill>
                  <a:srgbClr val="000000"/>
                </a:solidFill>
                <a:uFillTx/>
                <a:latin typeface="Times New Roman" pitchFamily="18"/>
                <a:ea typeface="Bricolage Grotesque Semi Bold" pitchFamily="34"/>
                <a:cs typeface="Times New Roman" pitchFamily="18"/>
              </a:rPr>
              <a:t>Semantic Skill Forecasting Engine</a:t>
            </a:r>
            <a:endParaRPr lang="en-US" sz="4320" b="1" i="0" u="none" strike="noStrike" kern="1200" cap="none" spc="0" baseline="0">
              <a:solidFill>
                <a:srgbClr val="000000"/>
              </a:solidFill>
              <a:uFillTx/>
              <a:latin typeface="Calibri"/>
            </a:endParaRPr>
          </a:p>
        </p:txBody>
      </p:sp>
      <p:grpSp>
        <p:nvGrpSpPr>
          <p:cNvPr id="3" name="Group 9">
            <a:extLst>
              <a:ext uri="{FF2B5EF4-FFF2-40B4-BE49-F238E27FC236}">
                <a16:creationId xmlns:a16="http://schemas.microsoft.com/office/drawing/2014/main" id="{E0471758-03C5-4C7C-8072-AFD587876C36}"/>
              </a:ext>
            </a:extLst>
          </p:cNvPr>
          <p:cNvGrpSpPr/>
          <p:nvPr/>
        </p:nvGrpSpPr>
        <p:grpSpPr>
          <a:xfrm>
            <a:off x="0" y="7649742"/>
            <a:ext cx="14633225" cy="674872"/>
            <a:chOff x="0" y="7649742"/>
            <a:chExt cx="14633225" cy="674872"/>
          </a:xfrm>
        </p:grpSpPr>
        <p:sp>
          <p:nvSpPr>
            <p:cNvPr id="4" name="Rectangle 10">
              <a:extLst>
                <a:ext uri="{FF2B5EF4-FFF2-40B4-BE49-F238E27FC236}">
                  <a16:creationId xmlns:a16="http://schemas.microsoft.com/office/drawing/2014/main" id="{4F79ED3F-3763-44DF-8EFE-35FBEC71FD8B}"/>
                </a:ext>
              </a:extLst>
            </p:cNvPr>
            <p:cNvSpPr/>
            <p:nvPr/>
          </p:nvSpPr>
          <p:spPr>
            <a:xfrm>
              <a:off x="12511671" y="7649742"/>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11">
              <a:extLst>
                <a:ext uri="{FF2B5EF4-FFF2-40B4-BE49-F238E27FC236}">
                  <a16:creationId xmlns:a16="http://schemas.microsoft.com/office/drawing/2014/main" id="{529C88E2-3556-4940-B3B6-FCEE85ABD66F}"/>
                </a:ext>
              </a:extLst>
            </p:cNvPr>
            <p:cNvSpPr/>
            <p:nvPr/>
          </p:nvSpPr>
          <p:spPr>
            <a:xfrm>
              <a:off x="0" y="7707212"/>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IT22154408 | RATHNAYAKE K D V | R26-IT-128 ​</a:t>
              </a:r>
              <a:endParaRPr lang="en-US" sz="1800" b="0" i="0" u="none" strike="noStrike" kern="1200" cap="none" spc="0" baseline="0">
                <a:solidFill>
                  <a:srgbClr val="FFC000"/>
                </a:solidFill>
                <a:uFillTx/>
                <a:latin typeface="Calibri"/>
              </a:endParaRPr>
            </a:p>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6" name="Picture 12">
              <a:extLst>
                <a:ext uri="{FF2B5EF4-FFF2-40B4-BE49-F238E27FC236}">
                  <a16:creationId xmlns:a16="http://schemas.microsoft.com/office/drawing/2014/main" id="{B8F931B6-85C1-405A-B541-6293761164C4}"/>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13">
              <a:extLst>
                <a:ext uri="{FF2B5EF4-FFF2-40B4-BE49-F238E27FC236}">
                  <a16:creationId xmlns:a16="http://schemas.microsoft.com/office/drawing/2014/main" id="{67BF9C28-7EB8-41C8-A37A-2B830FF7A3DA}"/>
                </a:ext>
              </a:extLst>
            </p:cNvPr>
            <p:cNvSpPr/>
            <p:nvPr/>
          </p:nvSpPr>
          <p:spPr>
            <a:xfrm>
              <a:off x="12912754" y="7802227"/>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pic>
        <p:nvPicPr>
          <p:cNvPr id="8" name="Picture 3">
            <a:extLst>
              <a:ext uri="{FF2B5EF4-FFF2-40B4-BE49-F238E27FC236}">
                <a16:creationId xmlns:a16="http://schemas.microsoft.com/office/drawing/2014/main" id="{DD3CC45B-C859-4CC5-94A7-7A4E7BEE6857}"/>
              </a:ext>
            </a:extLst>
          </p:cNvPr>
          <p:cNvPicPr>
            <a:picLocks noChangeAspect="1"/>
          </p:cNvPicPr>
          <p:nvPr/>
        </p:nvPicPr>
        <p:blipFill>
          <a:blip r:embed="rId3"/>
          <a:srcRect t="14460" b="2675"/>
          <a:stretch>
            <a:fillRect/>
          </a:stretch>
        </p:blipFill>
        <p:spPr>
          <a:xfrm>
            <a:off x="855366" y="1856094"/>
            <a:ext cx="12882003" cy="5486400"/>
          </a:xfrm>
          <a:prstGeom prst="rect">
            <a:avLst/>
          </a:prstGeom>
          <a:noFill/>
          <a:ln cap="flat">
            <a:noFill/>
          </a:ln>
        </p:spPr>
      </p:pic>
      <p:sp>
        <p:nvSpPr>
          <p:cNvPr id="9" name="Text 0">
            <a:extLst>
              <a:ext uri="{FF2B5EF4-FFF2-40B4-BE49-F238E27FC236}">
                <a16:creationId xmlns:a16="http://schemas.microsoft.com/office/drawing/2014/main" id="{D9095403-7530-46A0-A815-DA109AD132F6}"/>
              </a:ext>
            </a:extLst>
          </p:cNvPr>
          <p:cNvSpPr/>
          <p:nvPr/>
        </p:nvSpPr>
        <p:spPr>
          <a:xfrm>
            <a:off x="1188720" y="1180984"/>
            <a:ext cx="4846320" cy="675110"/>
          </a:xfrm>
          <a:prstGeom prst="rect">
            <a:avLst/>
          </a:prstGeom>
          <a:noFill/>
          <a:ln cap="flat">
            <a:noFill/>
            <a:prstDash val="solid"/>
          </a:ln>
        </p:spPr>
        <p:txBody>
          <a:bodyPr vert="horz" wrap="none" lIns="0" tIns="0" rIns="0" bIns="0" anchor="t" anchorCtr="0" compatLnSpc="1">
            <a:noAutofit/>
          </a:bodyPr>
          <a:lstStyle/>
          <a:p>
            <a:pPr marL="0" marR="0" lvl="0" indent="0" algn="l" defTabSz="914363"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2880" b="1" i="0" u="none" strike="noStrike" kern="1200" cap="none" spc="0" baseline="0">
                <a:solidFill>
                  <a:srgbClr val="203864"/>
                </a:solidFill>
                <a:uFillTx/>
                <a:latin typeface="Times New Roman" pitchFamily="18"/>
                <a:ea typeface="Bricolage Grotesque Semi Bold" pitchFamily="34"/>
                <a:cs typeface="Times New Roman" pitchFamily="18"/>
              </a:rPr>
              <a:t>System Overview of the Component</a:t>
            </a:r>
            <a:endParaRPr lang="en-US" sz="2880" b="1" i="0" u="none" strike="noStrike" kern="1200" cap="none" spc="0" baseline="0">
              <a:solidFill>
                <a:srgbClr val="203864"/>
              </a:solidFill>
              <a:uFillTx/>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43">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8663F94-C4D8-44A5-850B-B841DC9B15D3}"/>
              </a:ext>
            </a:extLst>
          </p:cNvPr>
          <p:cNvSpPr/>
          <p:nvPr/>
        </p:nvSpPr>
        <p:spPr>
          <a:xfrm>
            <a:off x="3010982" y="267361"/>
            <a:ext cx="5261320" cy="675110"/>
          </a:xfrm>
          <a:prstGeom prst="rect">
            <a:avLst/>
          </a:prstGeom>
          <a:noFill/>
          <a:ln cap="flat">
            <a:noFill/>
            <a:prstDash val="solid"/>
          </a:ln>
        </p:spPr>
        <p:txBody>
          <a:bodyPr vert="horz" wrap="none" lIns="0" tIns="0" rIns="0" bIns="0" anchor="t" anchorCtr="0" compatLnSpc="1">
            <a:noAutofit/>
          </a:bodyPr>
          <a:lstStyle/>
          <a:p>
            <a:pPr marL="0" marR="0" lvl="0" indent="0" algn="l" defTabSz="914363"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320" b="1" i="0" u="none" strike="noStrike" kern="1200" cap="none" spc="0" baseline="0">
                <a:solidFill>
                  <a:srgbClr val="000000"/>
                </a:solidFill>
                <a:uFillTx/>
                <a:latin typeface="Times New Roman" pitchFamily="18"/>
                <a:ea typeface="Bricolage Grotesque Semi Bold" pitchFamily="34"/>
                <a:cs typeface="Times New Roman" pitchFamily="18"/>
              </a:rPr>
              <a:t>Semantic Skill Forecasting Engine</a:t>
            </a:r>
            <a:endParaRPr lang="en-US" sz="4320" b="1" i="0" u="none" strike="noStrike" kern="1200" cap="none" spc="0" baseline="0">
              <a:solidFill>
                <a:srgbClr val="000000"/>
              </a:solidFill>
              <a:uFillTx/>
              <a:latin typeface="Calibri"/>
            </a:endParaRPr>
          </a:p>
        </p:txBody>
      </p:sp>
      <p:grpSp>
        <p:nvGrpSpPr>
          <p:cNvPr id="3" name="Group 9">
            <a:extLst>
              <a:ext uri="{FF2B5EF4-FFF2-40B4-BE49-F238E27FC236}">
                <a16:creationId xmlns:a16="http://schemas.microsoft.com/office/drawing/2014/main" id="{AC63573F-22E6-4A34-9607-822300A532C7}"/>
              </a:ext>
            </a:extLst>
          </p:cNvPr>
          <p:cNvGrpSpPr/>
          <p:nvPr/>
        </p:nvGrpSpPr>
        <p:grpSpPr>
          <a:xfrm>
            <a:off x="0" y="7649742"/>
            <a:ext cx="14633225" cy="674872"/>
            <a:chOff x="0" y="7649742"/>
            <a:chExt cx="14633225" cy="674872"/>
          </a:xfrm>
        </p:grpSpPr>
        <p:sp>
          <p:nvSpPr>
            <p:cNvPr id="4" name="Rectangle 10">
              <a:extLst>
                <a:ext uri="{FF2B5EF4-FFF2-40B4-BE49-F238E27FC236}">
                  <a16:creationId xmlns:a16="http://schemas.microsoft.com/office/drawing/2014/main" id="{5BEC25FB-C16F-4BE2-A2B3-887046163C89}"/>
                </a:ext>
              </a:extLst>
            </p:cNvPr>
            <p:cNvSpPr/>
            <p:nvPr/>
          </p:nvSpPr>
          <p:spPr>
            <a:xfrm>
              <a:off x="12511671" y="7649742"/>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11">
              <a:extLst>
                <a:ext uri="{FF2B5EF4-FFF2-40B4-BE49-F238E27FC236}">
                  <a16:creationId xmlns:a16="http://schemas.microsoft.com/office/drawing/2014/main" id="{C197FC7D-8F03-4E42-9D87-5793AD93258F}"/>
                </a:ext>
              </a:extLst>
            </p:cNvPr>
            <p:cNvSpPr/>
            <p:nvPr/>
          </p:nvSpPr>
          <p:spPr>
            <a:xfrm>
              <a:off x="0" y="7707212"/>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IT22154408 | RATHNAYAKE K D V | R26-IT-128 ​</a:t>
              </a:r>
              <a:endParaRPr lang="en-US" sz="1800" b="0" i="0" u="none" strike="noStrike" kern="1200" cap="none" spc="0" baseline="0">
                <a:solidFill>
                  <a:srgbClr val="FFC000"/>
                </a:solidFill>
                <a:uFillTx/>
                <a:latin typeface="Calibri"/>
              </a:endParaRPr>
            </a:p>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6" name="Picture 12">
              <a:extLst>
                <a:ext uri="{FF2B5EF4-FFF2-40B4-BE49-F238E27FC236}">
                  <a16:creationId xmlns:a16="http://schemas.microsoft.com/office/drawing/2014/main" id="{E7EC7D25-12A6-4E4D-A4AD-AD1B9656A0F1}"/>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13">
              <a:extLst>
                <a:ext uri="{FF2B5EF4-FFF2-40B4-BE49-F238E27FC236}">
                  <a16:creationId xmlns:a16="http://schemas.microsoft.com/office/drawing/2014/main" id="{F4CCC665-D40C-4994-97E5-2B80A99A7BED}"/>
                </a:ext>
              </a:extLst>
            </p:cNvPr>
            <p:cNvSpPr/>
            <p:nvPr/>
          </p:nvSpPr>
          <p:spPr>
            <a:xfrm>
              <a:off x="12912754" y="7802227"/>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grpSp>
        <p:nvGrpSpPr>
          <p:cNvPr id="8" name="Group 29">
            <a:extLst>
              <a:ext uri="{FF2B5EF4-FFF2-40B4-BE49-F238E27FC236}">
                <a16:creationId xmlns:a16="http://schemas.microsoft.com/office/drawing/2014/main" id="{FFB43084-3060-4BF5-BEDC-FBEFE6EDF7CA}"/>
              </a:ext>
            </a:extLst>
          </p:cNvPr>
          <p:cNvGrpSpPr/>
          <p:nvPr/>
        </p:nvGrpSpPr>
        <p:grpSpPr>
          <a:xfrm>
            <a:off x="731520" y="1566486"/>
            <a:ext cx="13167360" cy="5096636"/>
            <a:chOff x="731520" y="1566486"/>
            <a:chExt cx="13167360" cy="5096636"/>
          </a:xfrm>
        </p:grpSpPr>
        <p:sp>
          <p:nvSpPr>
            <p:cNvPr id="9" name="Shape 5">
              <a:extLst>
                <a:ext uri="{FF2B5EF4-FFF2-40B4-BE49-F238E27FC236}">
                  <a16:creationId xmlns:a16="http://schemas.microsoft.com/office/drawing/2014/main" id="{B4482BD6-AF58-4EEC-B102-F136C3A0CCBA}"/>
                </a:ext>
              </a:extLst>
            </p:cNvPr>
            <p:cNvSpPr/>
            <p:nvPr/>
          </p:nvSpPr>
          <p:spPr>
            <a:xfrm>
              <a:off x="731520" y="1566486"/>
              <a:ext cx="13167360" cy="1642609"/>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0" name="Shape 6">
              <a:extLst>
                <a:ext uri="{FF2B5EF4-FFF2-40B4-BE49-F238E27FC236}">
                  <a16:creationId xmlns:a16="http://schemas.microsoft.com/office/drawing/2014/main" id="{1D3337DC-3E70-408A-B5B7-AAE6D0F8D1A9}"/>
                </a:ext>
              </a:extLst>
            </p:cNvPr>
            <p:cNvSpPr/>
            <p:nvPr/>
          </p:nvSpPr>
          <p:spPr>
            <a:xfrm>
              <a:off x="731520" y="1566486"/>
              <a:ext cx="1316736" cy="1631929"/>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1" name="Text 7">
              <a:extLst>
                <a:ext uri="{FF2B5EF4-FFF2-40B4-BE49-F238E27FC236}">
                  <a16:creationId xmlns:a16="http://schemas.microsoft.com/office/drawing/2014/main" id="{F0AA0A88-E0B9-48C4-ACF3-2E236CB38F1A}"/>
                </a:ext>
              </a:extLst>
            </p:cNvPr>
            <p:cNvSpPr/>
            <p:nvPr/>
          </p:nvSpPr>
          <p:spPr>
            <a:xfrm>
              <a:off x="810524" y="2068619"/>
              <a:ext cx="1158727" cy="627662"/>
            </a:xfrm>
            <a:prstGeom prst="rect">
              <a:avLst/>
            </a:prstGeom>
            <a:noFill/>
            <a:ln cap="flat">
              <a:noFill/>
              <a:prstDash val="solid"/>
            </a:ln>
          </p:spPr>
          <p:txBody>
            <a:bodyPr vert="horz" wrap="square" lIns="0" tIns="0" rIns="0" bIns="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01</a:t>
              </a:r>
              <a:endParaRPr lang="en-US" sz="1400" b="0" i="0" u="none" strike="noStrike" kern="1200" cap="none" spc="0" baseline="0">
                <a:solidFill>
                  <a:srgbClr val="000000"/>
                </a:solidFill>
                <a:uFillTx/>
                <a:latin typeface="Calibri"/>
              </a:endParaRPr>
            </a:p>
          </p:txBody>
        </p:sp>
        <p:sp>
          <p:nvSpPr>
            <p:cNvPr id="12" name="Text 8">
              <a:extLst>
                <a:ext uri="{FF2B5EF4-FFF2-40B4-BE49-F238E27FC236}">
                  <a16:creationId xmlns:a16="http://schemas.microsoft.com/office/drawing/2014/main" id="{51D70572-AA87-41A2-9057-1DA2485E862E}"/>
                </a:ext>
              </a:extLst>
            </p:cNvPr>
            <p:cNvSpPr/>
            <p:nvPr/>
          </p:nvSpPr>
          <p:spPr>
            <a:xfrm>
              <a:off x="2311603" y="1603208"/>
              <a:ext cx="11323929" cy="439369"/>
            </a:xfrm>
            <a:prstGeom prst="rect">
              <a:avLst/>
            </a:prstGeom>
            <a:noFill/>
            <a:ln cap="flat">
              <a:noFill/>
              <a:prstDash val="solid"/>
            </a:ln>
          </p:spPr>
          <p:txBody>
            <a:bodyPr vert="horz" wrap="square" lIns="0" tIns="0" rIns="0" bIns="0" anchor="ctr"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System Overview</a:t>
              </a:r>
              <a:endParaRPr lang="en-US" sz="2000" b="0" i="0" u="none" strike="noStrike" kern="1200" cap="none" spc="0" baseline="0">
                <a:solidFill>
                  <a:srgbClr val="000000"/>
                </a:solidFill>
                <a:uFillTx/>
                <a:latin typeface="Calibri"/>
              </a:endParaRPr>
            </a:p>
          </p:txBody>
        </p:sp>
        <p:sp>
          <p:nvSpPr>
            <p:cNvPr id="13" name="Text 9">
              <a:extLst>
                <a:ext uri="{FF2B5EF4-FFF2-40B4-BE49-F238E27FC236}">
                  <a16:creationId xmlns:a16="http://schemas.microsoft.com/office/drawing/2014/main" id="{0F1B1241-F262-4BF5-BCD8-082321449073}"/>
                </a:ext>
              </a:extLst>
            </p:cNvPr>
            <p:cNvSpPr/>
            <p:nvPr/>
          </p:nvSpPr>
          <p:spPr>
            <a:xfrm>
              <a:off x="2311603" y="2065675"/>
              <a:ext cx="11323929" cy="94149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920" b="0" i="0" u="none" strike="noStrike" kern="1200" cap="none" spc="0" baseline="0">
                  <a:solidFill>
                    <a:srgbClr val="000000"/>
                  </a:solidFill>
                  <a:uFillTx/>
                  <a:latin typeface="Calibri"/>
                </a:rPr>
                <a:t>First, the system automatically collects job advertisements from local and global portals. Next, it cleans the text and uses AI to group similar skills. Then, it calculates future trends. Finally, it creates a structured list of predicted skills that will be highly demanded in the next 3 months.</a:t>
              </a:r>
            </a:p>
          </p:txBody>
        </p:sp>
        <p:sp>
          <p:nvSpPr>
            <p:cNvPr id="14" name="Shape 10">
              <a:extLst>
                <a:ext uri="{FF2B5EF4-FFF2-40B4-BE49-F238E27FC236}">
                  <a16:creationId xmlns:a16="http://schemas.microsoft.com/office/drawing/2014/main" id="{63C59FCE-5F0E-4914-91D1-7D8A23A7B493}"/>
                </a:ext>
              </a:extLst>
            </p:cNvPr>
            <p:cNvSpPr/>
            <p:nvPr/>
          </p:nvSpPr>
          <p:spPr>
            <a:xfrm>
              <a:off x="731520" y="3293421"/>
              <a:ext cx="13167360" cy="1631929"/>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5" name="Shape 11">
              <a:extLst>
                <a:ext uri="{FF2B5EF4-FFF2-40B4-BE49-F238E27FC236}">
                  <a16:creationId xmlns:a16="http://schemas.microsoft.com/office/drawing/2014/main" id="{49A4872E-2CB7-4131-8482-F9EF1B09C38F}"/>
                </a:ext>
              </a:extLst>
            </p:cNvPr>
            <p:cNvSpPr/>
            <p:nvPr/>
          </p:nvSpPr>
          <p:spPr>
            <a:xfrm>
              <a:off x="731520" y="3298835"/>
              <a:ext cx="1316736" cy="1631929"/>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6" name="Text 12">
              <a:extLst>
                <a:ext uri="{FF2B5EF4-FFF2-40B4-BE49-F238E27FC236}">
                  <a16:creationId xmlns:a16="http://schemas.microsoft.com/office/drawing/2014/main" id="{1D3FA512-E45C-43EF-9DD3-38DDE35D5AFE}"/>
                </a:ext>
              </a:extLst>
            </p:cNvPr>
            <p:cNvSpPr/>
            <p:nvPr/>
          </p:nvSpPr>
          <p:spPr>
            <a:xfrm>
              <a:off x="810524" y="3800968"/>
              <a:ext cx="1158727" cy="627662"/>
            </a:xfrm>
            <a:prstGeom prst="rect">
              <a:avLst/>
            </a:prstGeom>
            <a:noFill/>
            <a:ln cap="flat">
              <a:noFill/>
              <a:prstDash val="solid"/>
            </a:ln>
          </p:spPr>
          <p:txBody>
            <a:bodyPr vert="horz" wrap="square" lIns="0" tIns="0" rIns="0" bIns="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02</a:t>
              </a:r>
              <a:endParaRPr lang="en-US" sz="1400" b="0" i="0" u="none" strike="noStrike" kern="1200" cap="none" spc="0" baseline="0">
                <a:solidFill>
                  <a:srgbClr val="000000"/>
                </a:solidFill>
                <a:uFillTx/>
                <a:latin typeface="Calibri"/>
              </a:endParaRPr>
            </a:p>
          </p:txBody>
        </p:sp>
        <p:sp>
          <p:nvSpPr>
            <p:cNvPr id="17" name="Text 13">
              <a:extLst>
                <a:ext uri="{FF2B5EF4-FFF2-40B4-BE49-F238E27FC236}">
                  <a16:creationId xmlns:a16="http://schemas.microsoft.com/office/drawing/2014/main" id="{297E9E85-D9BC-4D3C-BFF2-FCBE859CF7E4}"/>
                </a:ext>
              </a:extLst>
            </p:cNvPr>
            <p:cNvSpPr/>
            <p:nvPr/>
          </p:nvSpPr>
          <p:spPr>
            <a:xfrm>
              <a:off x="2311603" y="3424373"/>
              <a:ext cx="11323929" cy="439369"/>
            </a:xfrm>
            <a:prstGeom prst="rect">
              <a:avLst/>
            </a:prstGeom>
            <a:noFill/>
            <a:ln cap="flat">
              <a:noFill/>
              <a:prstDash val="solid"/>
            </a:ln>
          </p:spPr>
          <p:txBody>
            <a:bodyPr vert="horz" wrap="square" lIns="0" tIns="0" rIns="0" bIns="0" anchor="ctr"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Dependencies</a:t>
              </a:r>
              <a:endParaRPr lang="en-US" sz="2000" b="0" i="0" u="none" strike="noStrike" kern="1200" cap="none" spc="0" baseline="0">
                <a:solidFill>
                  <a:srgbClr val="000000"/>
                </a:solidFill>
                <a:uFillTx/>
                <a:latin typeface="Calibri"/>
              </a:endParaRPr>
            </a:p>
          </p:txBody>
        </p:sp>
        <p:sp>
          <p:nvSpPr>
            <p:cNvPr id="18" name="Text 14">
              <a:extLst>
                <a:ext uri="{FF2B5EF4-FFF2-40B4-BE49-F238E27FC236}">
                  <a16:creationId xmlns:a16="http://schemas.microsoft.com/office/drawing/2014/main" id="{D732C222-D6F2-47E7-8B13-2DF0E68AEAFE}"/>
                </a:ext>
              </a:extLst>
            </p:cNvPr>
            <p:cNvSpPr/>
            <p:nvPr/>
          </p:nvSpPr>
          <p:spPr>
            <a:xfrm>
              <a:off x="2311603" y="3800968"/>
              <a:ext cx="11323929" cy="104192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920" b="0" i="0" u="none" strike="noStrike" kern="1200" cap="none" spc="0" baseline="0">
                  <a:solidFill>
                    <a:srgbClr val="000000"/>
                  </a:solidFill>
                  <a:uFillTx/>
                  <a:latin typeface="Calibri"/>
                </a:rPr>
                <a:t>This component acts as the main data provider for the other modules in the RecruitAI system. It sends the predicted skill lists to the Career Pathway module and the CV Optimizer module. This ensures the whole application uses future market trends instead of outdated historical data.</a:t>
              </a:r>
            </a:p>
          </p:txBody>
        </p:sp>
        <p:sp>
          <p:nvSpPr>
            <p:cNvPr id="19" name="Shape 15">
              <a:extLst>
                <a:ext uri="{FF2B5EF4-FFF2-40B4-BE49-F238E27FC236}">
                  <a16:creationId xmlns:a16="http://schemas.microsoft.com/office/drawing/2014/main" id="{08180112-E940-43D2-928E-B3236CDC7CEE}"/>
                </a:ext>
              </a:extLst>
            </p:cNvPr>
            <p:cNvSpPr/>
            <p:nvPr/>
          </p:nvSpPr>
          <p:spPr>
            <a:xfrm>
              <a:off x="731520" y="5031193"/>
              <a:ext cx="13167360" cy="1631929"/>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0" name="Shape 16">
              <a:extLst>
                <a:ext uri="{FF2B5EF4-FFF2-40B4-BE49-F238E27FC236}">
                  <a16:creationId xmlns:a16="http://schemas.microsoft.com/office/drawing/2014/main" id="{C9F2626E-9A30-462B-B59A-9C815C65F36E}"/>
                </a:ext>
              </a:extLst>
            </p:cNvPr>
            <p:cNvSpPr/>
            <p:nvPr/>
          </p:nvSpPr>
          <p:spPr>
            <a:xfrm>
              <a:off x="731520" y="5031193"/>
              <a:ext cx="1316736" cy="1631929"/>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1" name="Text 17">
              <a:extLst>
                <a:ext uri="{FF2B5EF4-FFF2-40B4-BE49-F238E27FC236}">
                  <a16:creationId xmlns:a16="http://schemas.microsoft.com/office/drawing/2014/main" id="{28315EBB-62BF-4F6D-BA8D-90FA03D0574E}"/>
                </a:ext>
              </a:extLst>
            </p:cNvPr>
            <p:cNvSpPr/>
            <p:nvPr/>
          </p:nvSpPr>
          <p:spPr>
            <a:xfrm>
              <a:off x="810524" y="5533317"/>
              <a:ext cx="1158727" cy="627662"/>
            </a:xfrm>
            <a:prstGeom prst="rect">
              <a:avLst/>
            </a:prstGeom>
            <a:noFill/>
            <a:ln cap="flat">
              <a:noFill/>
              <a:prstDash val="solid"/>
            </a:ln>
          </p:spPr>
          <p:txBody>
            <a:bodyPr vert="horz" wrap="square" lIns="0" tIns="0" rIns="0" bIns="0" anchor="ctr" anchorCtr="1" compatLnSpc="1">
              <a:noAutofit/>
            </a:bodyPr>
            <a:lstStyle/>
            <a:p>
              <a:pPr marL="0" marR="0" lvl="0" indent="0" algn="ctr"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03</a:t>
              </a:r>
              <a:endParaRPr lang="en-US" sz="1400" b="0" i="0" u="none" strike="noStrike" kern="1200" cap="none" spc="0" baseline="0">
                <a:solidFill>
                  <a:srgbClr val="000000"/>
                </a:solidFill>
                <a:uFillTx/>
                <a:latin typeface="Calibri"/>
              </a:endParaRPr>
            </a:p>
          </p:txBody>
        </p:sp>
        <p:sp>
          <p:nvSpPr>
            <p:cNvPr id="22" name="Text 18">
              <a:extLst>
                <a:ext uri="{FF2B5EF4-FFF2-40B4-BE49-F238E27FC236}">
                  <a16:creationId xmlns:a16="http://schemas.microsoft.com/office/drawing/2014/main" id="{5D5A2211-AEF6-4CBE-BFA1-9497F45307D5}"/>
                </a:ext>
              </a:extLst>
            </p:cNvPr>
            <p:cNvSpPr/>
            <p:nvPr/>
          </p:nvSpPr>
          <p:spPr>
            <a:xfrm>
              <a:off x="2311603" y="5156722"/>
              <a:ext cx="11323929" cy="439369"/>
            </a:xfrm>
            <a:prstGeom prst="rect">
              <a:avLst/>
            </a:prstGeom>
            <a:noFill/>
            <a:ln cap="flat">
              <a:noFill/>
              <a:prstDash val="solid"/>
            </a:ln>
          </p:spPr>
          <p:txBody>
            <a:bodyPr vert="horz" wrap="square" lIns="0" tIns="0" rIns="0" bIns="0" anchor="ctr" anchorCtr="0" compatLnSpc="1">
              <a:noAutofit/>
            </a:bodyPr>
            <a:lstStyle/>
            <a:p>
              <a:pPr marL="0" marR="0" lvl="0" indent="0" algn="l"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Implementation Details</a:t>
              </a:r>
              <a:endParaRPr lang="en-US" sz="2000" b="0" i="0" u="none" strike="noStrike" kern="1200" cap="none" spc="0" baseline="0">
                <a:solidFill>
                  <a:srgbClr val="000000"/>
                </a:solidFill>
                <a:uFillTx/>
                <a:latin typeface="Calibri"/>
              </a:endParaRPr>
            </a:p>
          </p:txBody>
        </p:sp>
        <p:sp>
          <p:nvSpPr>
            <p:cNvPr id="23" name="Text 19">
              <a:extLst>
                <a:ext uri="{FF2B5EF4-FFF2-40B4-BE49-F238E27FC236}">
                  <a16:creationId xmlns:a16="http://schemas.microsoft.com/office/drawing/2014/main" id="{C0090993-E0E5-4150-A377-32A9ECABF2DE}"/>
                </a:ext>
              </a:extLst>
            </p:cNvPr>
            <p:cNvSpPr/>
            <p:nvPr/>
          </p:nvSpPr>
          <p:spPr>
            <a:xfrm>
              <a:off x="2311603" y="5633746"/>
              <a:ext cx="11323929" cy="941493"/>
            </a:xfrm>
            <a:prstGeom prst="rect">
              <a:avLst/>
            </a:prstGeom>
            <a:noFill/>
            <a:ln cap="flat">
              <a:noFill/>
              <a:prstDash val="solid"/>
            </a:ln>
          </p:spPr>
          <p:txBody>
            <a:bodyPr vert="horz" wrap="square" lIns="0" tIns="0" rIns="0" bIns="0" anchor="ctr" anchorCtr="0" compatLnSpc="1">
              <a:noAutofit/>
            </a:bodyPr>
            <a:lstStyle/>
            <a:p>
              <a:pPr marL="0" marR="0" lvl="0" indent="0" algn="just" defTabSz="914363"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920" b="0" i="0" u="none" strike="noStrike" kern="1200" cap="none" spc="0" baseline="0">
                  <a:solidFill>
                    <a:srgbClr val="4A5568"/>
                  </a:solidFill>
                  <a:uFillTx/>
                  <a:latin typeface="Calibri" pitchFamily="34"/>
                  <a:ea typeface="Calibri" pitchFamily="34"/>
                  <a:cs typeface="Calibri" pitchFamily="34"/>
                </a:rPr>
                <a:t>Implemented using Python. It uses cloud-based scheduled tasks to collect new job data automatically. The extracted data is stored in a structured database, and the final predictions are sent to the other group members' modules using standard API connections.</a:t>
              </a:r>
              <a:endParaRPr lang="en-US" sz="1920" b="0" i="0" u="none" strike="noStrike" kern="1200" cap="none" spc="0" baseline="0">
                <a:solidFill>
                  <a:srgbClr val="000000"/>
                </a:solidFill>
                <a:uFillTx/>
                <a:latin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19">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B40F174-2036-4EEE-AC24-A29310D2EEAE}"/>
              </a:ext>
            </a:extLst>
          </p:cNvPr>
          <p:cNvSpPr/>
          <p:nvPr/>
        </p:nvSpPr>
        <p:spPr>
          <a:xfrm>
            <a:off x="793790" y="780925"/>
            <a:ext cx="10499954" cy="925381"/>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000" b="0" i="0" u="none" strike="noStrike" kern="1200" cap="none" spc="0" baseline="0">
                <a:solidFill>
                  <a:srgbClr val="50164A"/>
                </a:solidFill>
                <a:uFillTx/>
                <a:latin typeface="Aptos"/>
              </a:rPr>
              <a:t>Hybrid Proficiency Validation Framework</a:t>
            </a:r>
            <a:endParaRPr lang="en-US" sz="4000" b="1" i="0" u="none" strike="noStrike" kern="1200" cap="none" spc="0" baseline="0">
              <a:solidFill>
                <a:srgbClr val="50164A"/>
              </a:solidFill>
              <a:uFillTx/>
              <a:latin typeface="Aptos"/>
            </a:endParaRPr>
          </a:p>
        </p:txBody>
      </p:sp>
      <p:sp>
        <p:nvSpPr>
          <p:cNvPr id="3" name="Text 1">
            <a:extLst>
              <a:ext uri="{FF2B5EF4-FFF2-40B4-BE49-F238E27FC236}">
                <a16:creationId xmlns:a16="http://schemas.microsoft.com/office/drawing/2014/main" id="{1C57EA81-9F06-45AC-93AC-BB3BF8922CE2}"/>
              </a:ext>
            </a:extLst>
          </p:cNvPr>
          <p:cNvSpPr/>
          <p:nvPr/>
        </p:nvSpPr>
        <p:spPr>
          <a:xfrm>
            <a:off x="793790" y="2279535"/>
            <a:ext cx="10045196" cy="590025"/>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4000" b="1" i="0" u="none" strike="noStrike" kern="1200" cap="none" spc="0" baseline="0">
                <a:solidFill>
                  <a:srgbClr val="2C2926"/>
                </a:solidFill>
                <a:uFillTx/>
                <a:latin typeface="Aptos"/>
                <a:ea typeface="Inter" pitchFamily="34"/>
                <a:cs typeface="Inter" pitchFamily="34"/>
              </a:rPr>
              <a:t>IT22091802 | PRASADI R.D.S</a:t>
            </a:r>
            <a:endParaRPr lang="en-US" sz="4000" b="1" i="0" u="none" strike="noStrike" kern="1200" cap="none" spc="0" baseline="0">
              <a:solidFill>
                <a:srgbClr val="000000"/>
              </a:solidFill>
              <a:uFillTx/>
              <a:latin typeface="Aptos"/>
            </a:endParaRPr>
          </a:p>
        </p:txBody>
      </p:sp>
      <p:sp>
        <p:nvSpPr>
          <p:cNvPr id="4" name="Shape 2">
            <a:extLst>
              <a:ext uri="{FF2B5EF4-FFF2-40B4-BE49-F238E27FC236}">
                <a16:creationId xmlns:a16="http://schemas.microsoft.com/office/drawing/2014/main" id="{57370D5D-15C3-49F1-851B-BE2F104BCC0C}"/>
              </a:ext>
            </a:extLst>
          </p:cNvPr>
          <p:cNvSpPr/>
          <p:nvPr/>
        </p:nvSpPr>
        <p:spPr>
          <a:xfrm>
            <a:off x="697422" y="3194438"/>
            <a:ext cx="10692682" cy="2137967"/>
          </a:xfrm>
          <a:custGeom>
            <a:avLst/>
            <a:gdLst>
              <a:gd name="f0" fmla="val 10800000"/>
              <a:gd name="f1" fmla="val 5400000"/>
              <a:gd name="f2" fmla="val 16200000"/>
              <a:gd name="f3" fmla="val w"/>
              <a:gd name="f4" fmla="val h"/>
              <a:gd name="f5" fmla="val ss"/>
              <a:gd name="f6" fmla="val 0"/>
              <a:gd name="f7" fmla="*/ 5419351 1 1725033"/>
              <a:gd name="f8" fmla="val 45"/>
              <a:gd name="f9" fmla="val 1189"/>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alpha val="95000"/>
            </a:srgbClr>
          </a:solidFill>
          <a:ln w="3047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This Component establishes a proficiency-based verification system that bridges the gap between academic projects and industry standards. It ensures students are matched to roles based on actual technical competency and project complexity rather than simple keyword presence. This reduces recruitment overhead for firms and prevents high-potential candidates from being hidden by depth-blind filters.</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br>
              <a:rPr lang="en-US" sz="1800" b="0" i="0" u="none" strike="noStrike" kern="1200" cap="none" spc="0" baseline="0">
                <a:solidFill>
                  <a:srgbClr val="000000"/>
                </a:solidFill>
                <a:uFillTx/>
                <a:latin typeface="Aptos"/>
              </a:rPr>
            </a:br>
            <a:endParaRPr lang="en-US" sz="1800" b="0" i="0" u="none" strike="noStrike" kern="1200" cap="none" spc="0" baseline="0">
              <a:solidFill>
                <a:srgbClr val="000000"/>
              </a:solidFill>
              <a:uFillTx/>
              <a:latin typeface="Aptos Display"/>
            </a:endParaRPr>
          </a:p>
        </p:txBody>
      </p:sp>
      <p:sp>
        <p:nvSpPr>
          <p:cNvPr id="5" name="Text 3">
            <a:extLst>
              <a:ext uri="{FF2B5EF4-FFF2-40B4-BE49-F238E27FC236}">
                <a16:creationId xmlns:a16="http://schemas.microsoft.com/office/drawing/2014/main" id="{3920788F-0F82-4158-91BD-63337DCFB88F}"/>
              </a:ext>
            </a:extLst>
          </p:cNvPr>
          <p:cNvSpPr/>
          <p:nvPr/>
        </p:nvSpPr>
        <p:spPr>
          <a:xfrm>
            <a:off x="913924" y="3346511"/>
            <a:ext cx="1682386" cy="409111"/>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0B76A0"/>
                </a:solidFill>
                <a:uFillTx/>
                <a:latin typeface="Aptos"/>
              </a:rPr>
              <a:t>Contribution</a:t>
            </a:r>
            <a:r>
              <a:rPr lang="en-US" sz="2400" b="1" i="0" u="none" strike="noStrike" kern="1200" cap="none" spc="0" baseline="0">
                <a:solidFill>
                  <a:srgbClr val="000000"/>
                </a:solidFill>
                <a:uFillTx/>
                <a:latin typeface="Aptos"/>
              </a:rPr>
              <a:t> </a:t>
            </a:r>
            <a:endParaRPr lang="en-US" sz="2200" b="1" i="0" u="none" strike="noStrike" kern="1200" cap="none" spc="0" baseline="0">
              <a:solidFill>
                <a:srgbClr val="000000"/>
              </a:solidFill>
              <a:uFillTx/>
              <a:latin typeface="Aptos Display"/>
            </a:endParaRPr>
          </a:p>
        </p:txBody>
      </p:sp>
      <p:sp>
        <p:nvSpPr>
          <p:cNvPr id="6" name="Text 4">
            <a:extLst>
              <a:ext uri="{FF2B5EF4-FFF2-40B4-BE49-F238E27FC236}">
                <a16:creationId xmlns:a16="http://schemas.microsoft.com/office/drawing/2014/main" id="{5A09F756-71E8-4355-A12C-CA0C7C6AF443}"/>
              </a:ext>
            </a:extLst>
          </p:cNvPr>
          <p:cNvSpPr/>
          <p:nvPr/>
        </p:nvSpPr>
        <p:spPr>
          <a:xfrm>
            <a:off x="1051084" y="3441527"/>
            <a:ext cx="9955173" cy="1541852"/>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ptos"/>
              </a:rPr>
              <a:t> </a:t>
            </a:r>
            <a:endParaRPr lang="en-US" sz="1800" b="0" i="0" u="none" strike="noStrike" kern="1200" cap="none" spc="0" baseline="0">
              <a:solidFill>
                <a:srgbClr val="000000"/>
              </a:solidFill>
              <a:uFillTx/>
              <a:latin typeface="Aptos Display"/>
            </a:endParaRPr>
          </a:p>
        </p:txBody>
      </p:sp>
      <p:sp>
        <p:nvSpPr>
          <p:cNvPr id="7" name="Shape 2">
            <a:extLst>
              <a:ext uri="{FF2B5EF4-FFF2-40B4-BE49-F238E27FC236}">
                <a16:creationId xmlns:a16="http://schemas.microsoft.com/office/drawing/2014/main" id="{FBDCB10B-5D9F-4572-A500-7731DCB07BAC}"/>
              </a:ext>
            </a:extLst>
          </p:cNvPr>
          <p:cNvSpPr/>
          <p:nvPr/>
        </p:nvSpPr>
        <p:spPr>
          <a:xfrm>
            <a:off x="657261" y="5528663"/>
            <a:ext cx="10642555" cy="1786051"/>
          </a:xfrm>
          <a:custGeom>
            <a:avLst/>
            <a:gdLst>
              <a:gd name="f0" fmla="val 10800000"/>
              <a:gd name="f1" fmla="val 5400000"/>
              <a:gd name="f2" fmla="val 16200000"/>
              <a:gd name="f3" fmla="val w"/>
              <a:gd name="f4" fmla="val h"/>
              <a:gd name="f5" fmla="val ss"/>
              <a:gd name="f6" fmla="val 0"/>
              <a:gd name="f7" fmla="*/ 5419351 1 1725033"/>
              <a:gd name="f8" fmla="val 45"/>
              <a:gd name="f9" fmla="val 1189"/>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alpha val="95000"/>
            </a:srgbClr>
          </a:solidFill>
          <a:ln w="3047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Display"/>
            </a:endParaRPr>
          </a:p>
        </p:txBody>
      </p:sp>
      <p:sp>
        <p:nvSpPr>
          <p:cNvPr id="8" name="Text 3">
            <a:extLst>
              <a:ext uri="{FF2B5EF4-FFF2-40B4-BE49-F238E27FC236}">
                <a16:creationId xmlns:a16="http://schemas.microsoft.com/office/drawing/2014/main" id="{71A2B53E-2CF2-46CC-86A0-8A62DD88BB27}"/>
              </a:ext>
            </a:extLst>
          </p:cNvPr>
          <p:cNvSpPr/>
          <p:nvPr/>
        </p:nvSpPr>
        <p:spPr>
          <a:xfrm>
            <a:off x="838806" y="5565897"/>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0B76A0"/>
                </a:solidFill>
                <a:uFillTx/>
                <a:latin typeface="Aptos"/>
                <a:ea typeface="Bricolage Grotesque Semi Bold" pitchFamily="34"/>
                <a:cs typeface="Bricolage Grotesque Semi Bold" pitchFamily="34"/>
              </a:rPr>
              <a:t>Novelty</a:t>
            </a:r>
            <a:endParaRPr lang="en-US" sz="2200" b="1" i="0" u="none" strike="noStrike" kern="1200" cap="none" spc="0" baseline="0">
              <a:solidFill>
                <a:srgbClr val="0B76A0"/>
              </a:solidFill>
              <a:uFillTx/>
              <a:latin typeface="Aptos"/>
            </a:endParaRPr>
          </a:p>
        </p:txBody>
      </p:sp>
      <p:sp>
        <p:nvSpPr>
          <p:cNvPr id="9" name="Text 4">
            <a:extLst>
              <a:ext uri="{FF2B5EF4-FFF2-40B4-BE49-F238E27FC236}">
                <a16:creationId xmlns:a16="http://schemas.microsoft.com/office/drawing/2014/main" id="{B952FA14-EB90-48A6-85F7-B28DBF224BFA}"/>
              </a:ext>
            </a:extLst>
          </p:cNvPr>
          <p:cNvSpPr/>
          <p:nvPr/>
        </p:nvSpPr>
        <p:spPr>
          <a:xfrm>
            <a:off x="838806" y="5920227"/>
            <a:ext cx="9955173" cy="1305214"/>
          </a:xfrm>
          <a:prstGeom prst="rect">
            <a:avLst/>
          </a:prstGeom>
          <a:noFill/>
          <a:ln cap="flat">
            <a:noFill/>
            <a:prstDash val="solid"/>
          </a:ln>
        </p:spPr>
        <p:txBody>
          <a:bodyPr vert="horz" wrap="square" lIns="0" tIns="0" rIns="0" bIns="0" anchor="t" anchorCtr="0" compatLnSpc="1">
            <a:noAutofit/>
          </a:bodyPr>
          <a:lstStyle/>
          <a:p>
            <a:pPr marL="285750" marR="0" lvl="0" indent="-285750" algn="just" defTabSz="914400" rtl="0" fontAlgn="auto" hangingPunct="1">
              <a:lnSpc>
                <a:spcPts val="2850"/>
              </a:lnSpc>
              <a:spcBef>
                <a:spcPts val="0"/>
              </a:spcBef>
              <a:spcAft>
                <a:spcPts val="0"/>
              </a:spcAft>
              <a:buSzPct val="100000"/>
              <a:buFont typeface="Wingdings" pitchFamily="2"/>
              <a:buChar char="q"/>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ptos"/>
              </a:rPr>
              <a:t>Semantic Depth Analysis</a:t>
            </a:r>
          </a:p>
          <a:p>
            <a:pPr marL="285750" marR="0" lvl="0" indent="-285750" algn="just" defTabSz="914400" rtl="0" fontAlgn="auto" hangingPunct="1">
              <a:lnSpc>
                <a:spcPts val="2850"/>
              </a:lnSpc>
              <a:spcBef>
                <a:spcPts val="0"/>
              </a:spcBef>
              <a:spcAft>
                <a:spcPts val="0"/>
              </a:spcAft>
              <a:buSzPct val="100000"/>
              <a:buFont typeface="Wingdings" pitchFamily="2"/>
              <a:buChar char="q"/>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ptos"/>
              </a:rPr>
              <a:t>Hybrid Validation Model</a:t>
            </a:r>
          </a:p>
          <a:p>
            <a:pPr marL="285750" marR="0" lvl="0" indent="-285750" algn="just" defTabSz="914400" rtl="0" fontAlgn="auto" hangingPunct="1">
              <a:lnSpc>
                <a:spcPts val="2850"/>
              </a:lnSpc>
              <a:spcBef>
                <a:spcPts val="0"/>
              </a:spcBef>
              <a:spcAft>
                <a:spcPts val="0"/>
              </a:spcAft>
              <a:buSzPct val="100000"/>
              <a:buFont typeface="Wingdings" pitchFamily="2"/>
              <a:buChar char="q"/>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ptos"/>
              </a:rPr>
              <a:t>Explainable Matching and Interpretable Competency Insights</a:t>
            </a:r>
            <a:endParaRPr lang="en-US" sz="1750" b="0" i="0" u="none" strike="noStrike" kern="1200" cap="none" spc="0" baseline="0">
              <a:solidFill>
                <a:srgbClr val="000000"/>
              </a:solidFill>
              <a:uFillTx/>
              <a:latin typeface="Aptos Display"/>
            </a:endParaRPr>
          </a:p>
        </p:txBody>
      </p:sp>
      <p:grpSp>
        <p:nvGrpSpPr>
          <p:cNvPr id="10" name="Group 9">
            <a:extLst>
              <a:ext uri="{FF2B5EF4-FFF2-40B4-BE49-F238E27FC236}">
                <a16:creationId xmlns:a16="http://schemas.microsoft.com/office/drawing/2014/main" id="{A03DFF86-F1C6-477C-A00D-F5BAE5A5F6F0}"/>
              </a:ext>
            </a:extLst>
          </p:cNvPr>
          <p:cNvGrpSpPr/>
          <p:nvPr/>
        </p:nvGrpSpPr>
        <p:grpSpPr>
          <a:xfrm>
            <a:off x="0" y="7649733"/>
            <a:ext cx="14633225" cy="769887"/>
            <a:chOff x="0" y="7649733"/>
            <a:chExt cx="14633225" cy="769887"/>
          </a:xfrm>
        </p:grpSpPr>
        <p:sp>
          <p:nvSpPr>
            <p:cNvPr id="11" name="Rectangle 10">
              <a:extLst>
                <a:ext uri="{FF2B5EF4-FFF2-40B4-BE49-F238E27FC236}">
                  <a16:creationId xmlns:a16="http://schemas.microsoft.com/office/drawing/2014/main" id="{65156CCA-6176-4959-9444-5D0852E9290B}"/>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F9ED5"/>
                </a:solidFill>
                <a:uFillTx/>
                <a:latin typeface="Aptos"/>
              </a:endParaRPr>
            </a:p>
          </p:txBody>
        </p:sp>
        <p:sp>
          <p:nvSpPr>
            <p:cNvPr id="12" name="Rectangle 11">
              <a:extLst>
                <a:ext uri="{FF2B5EF4-FFF2-40B4-BE49-F238E27FC236}">
                  <a16:creationId xmlns:a16="http://schemas.microsoft.com/office/drawing/2014/main" id="{0C11BC09-2DA6-42EA-BE71-8BD3FFE9D814}"/>
                </a:ext>
              </a:extLst>
            </p:cNvPr>
            <p:cNvSpPr/>
            <p:nvPr/>
          </p:nvSpPr>
          <p:spPr>
            <a:xfrm>
              <a:off x="0" y="789723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IT22091802 | </a:t>
              </a:r>
              <a:r>
                <a:rPr lang="en-US" sz="1800" b="1" i="0" u="none" strike="noStrike" kern="1200" cap="none" spc="0" baseline="0">
                  <a:solidFill>
                    <a:srgbClr val="2C2926"/>
                  </a:solidFill>
                  <a:uFillTx/>
                  <a:latin typeface="Aptos"/>
                  <a:ea typeface="Inter" pitchFamily="34"/>
                  <a:cs typeface="Inter" pitchFamily="34"/>
                </a:rPr>
                <a:t>PRASADI R.D.S</a:t>
              </a:r>
              <a:r>
                <a:rPr lang="en-US" sz="1800" b="1" i="0" u="none" strike="noStrike" kern="1200" cap="none" spc="0" baseline="0">
                  <a:solidFill>
                    <a:srgbClr val="000000"/>
                  </a:solidFill>
                  <a:uFillTx/>
                  <a:latin typeface="Aptos"/>
                </a:rPr>
                <a:t> | R26-IT-128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Aptos"/>
              </a:endParaRPr>
            </a:p>
          </p:txBody>
        </p:sp>
        <p:pic>
          <p:nvPicPr>
            <p:cNvPr id="13" name="Picture 12">
              <a:extLst>
                <a:ext uri="{FF2B5EF4-FFF2-40B4-BE49-F238E27FC236}">
                  <a16:creationId xmlns:a16="http://schemas.microsoft.com/office/drawing/2014/main" id="{50BC03CD-74C3-4906-AFA4-77C9B42DCCDE}"/>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14" name="Rectangle 13">
              <a:extLst>
                <a:ext uri="{FF2B5EF4-FFF2-40B4-BE49-F238E27FC236}">
                  <a16:creationId xmlns:a16="http://schemas.microsoft.com/office/drawing/2014/main" id="{A0254D4A-D4A2-415F-BECE-BEB2D75CBD56}"/>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16/3/2026</a:t>
              </a:r>
              <a:endParaRPr lang="en-US" sz="1200" b="1" i="0" u="none" strike="noStrike" kern="1200" cap="none" spc="0" baseline="0">
                <a:solidFill>
                  <a:srgbClr val="000000"/>
                </a:solidFill>
                <a:uFillTx/>
                <a:latin typeface="Aptos"/>
              </a:endParaRPr>
            </a:p>
          </p:txBody>
        </p:sp>
      </p:grpSp>
      <p:sp>
        <p:nvSpPr>
          <p:cNvPr id="15" name="Shape 11">
            <a:extLst>
              <a:ext uri="{FF2B5EF4-FFF2-40B4-BE49-F238E27FC236}">
                <a16:creationId xmlns:a16="http://schemas.microsoft.com/office/drawing/2014/main" id="{13721E29-8357-4DE4-ADF3-0D719AB7532F}"/>
              </a:ext>
            </a:extLst>
          </p:cNvPr>
          <p:cNvSpPr/>
          <p:nvPr/>
        </p:nvSpPr>
        <p:spPr>
          <a:xfrm>
            <a:off x="793790" y="5173400"/>
            <a:ext cx="10369506" cy="117701"/>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grpSp>
        <p:nvGrpSpPr>
          <p:cNvPr id="16" name="Group 20">
            <a:extLst>
              <a:ext uri="{FF2B5EF4-FFF2-40B4-BE49-F238E27FC236}">
                <a16:creationId xmlns:a16="http://schemas.microsoft.com/office/drawing/2014/main" id="{6FFB7074-033E-4A42-9AE6-0876A39C7CEA}"/>
              </a:ext>
            </a:extLst>
          </p:cNvPr>
          <p:cNvGrpSpPr/>
          <p:nvPr/>
        </p:nvGrpSpPr>
        <p:grpSpPr>
          <a:xfrm>
            <a:off x="12501274" y="3269208"/>
            <a:ext cx="822960" cy="182880"/>
            <a:chOff x="12501274" y="3269208"/>
            <a:chExt cx="822960" cy="182880"/>
          </a:xfrm>
        </p:grpSpPr>
        <p:sp>
          <p:nvSpPr>
            <p:cNvPr id="17" name="Shape 5">
              <a:extLst>
                <a:ext uri="{FF2B5EF4-FFF2-40B4-BE49-F238E27FC236}">
                  <a16:creationId xmlns:a16="http://schemas.microsoft.com/office/drawing/2014/main" id="{8F30D87A-FECF-4537-840B-EFA2E5FB3F97}"/>
                </a:ext>
              </a:extLst>
            </p:cNvPr>
            <p:cNvSpPr/>
            <p:nvPr/>
          </p:nvSpPr>
          <p:spPr>
            <a:xfrm>
              <a:off x="12501274" y="3269208"/>
              <a:ext cx="182880" cy="1828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18" name="Shape 6">
              <a:extLst>
                <a:ext uri="{FF2B5EF4-FFF2-40B4-BE49-F238E27FC236}">
                  <a16:creationId xmlns:a16="http://schemas.microsoft.com/office/drawing/2014/main" id="{7A0DF359-8533-4B0E-8300-C2BA75FE85D3}"/>
                </a:ext>
              </a:extLst>
            </p:cNvPr>
            <p:cNvSpPr/>
            <p:nvPr/>
          </p:nvSpPr>
          <p:spPr>
            <a:xfrm>
              <a:off x="12821314" y="3269208"/>
              <a:ext cx="182880" cy="1828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0891B2">
                <a:alpha val="50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19" name="Shape 7">
              <a:extLst>
                <a:ext uri="{FF2B5EF4-FFF2-40B4-BE49-F238E27FC236}">
                  <a16:creationId xmlns:a16="http://schemas.microsoft.com/office/drawing/2014/main" id="{0D5AE13B-1FC5-4F09-8371-779ED674D228}"/>
                </a:ext>
              </a:extLst>
            </p:cNvPr>
            <p:cNvSpPr/>
            <p:nvPr/>
          </p:nvSpPr>
          <p:spPr>
            <a:xfrm>
              <a:off x="13141354" y="3269208"/>
              <a:ext cx="182880" cy="1828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0891B2">
                <a:alpha val="2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grpSp>
      <p:sp>
        <p:nvSpPr>
          <p:cNvPr id="20" name="Shape 11">
            <a:extLst>
              <a:ext uri="{FF2B5EF4-FFF2-40B4-BE49-F238E27FC236}">
                <a16:creationId xmlns:a16="http://schemas.microsoft.com/office/drawing/2014/main" id="{8D52BB98-501A-4E58-B1B0-3A0662E9EC6E}"/>
              </a:ext>
            </a:extLst>
          </p:cNvPr>
          <p:cNvSpPr/>
          <p:nvPr/>
        </p:nvSpPr>
        <p:spPr>
          <a:xfrm>
            <a:off x="838806" y="7119372"/>
            <a:ext cx="10369506" cy="117701"/>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21" name="Picture 14">
            <a:extLst>
              <a:ext uri="{FF2B5EF4-FFF2-40B4-BE49-F238E27FC236}">
                <a16:creationId xmlns:a16="http://schemas.microsoft.com/office/drawing/2014/main" id="{FF2F7642-66D9-497B-AF68-D775E8983A78}"/>
              </a:ext>
            </a:extLst>
          </p:cNvPr>
          <p:cNvPicPr>
            <a:picLocks noChangeAspect="1"/>
          </p:cNvPicPr>
          <p:nvPr/>
        </p:nvPicPr>
        <p:blipFill>
          <a:blip r:embed="rId3"/>
          <a:srcRect b="12930"/>
          <a:stretch>
            <a:fillRect/>
          </a:stretch>
        </p:blipFill>
        <p:spPr>
          <a:xfrm>
            <a:off x="11613136" y="670392"/>
            <a:ext cx="2599227" cy="2408785"/>
          </a:xfrm>
          <a:prstGeom prst="rect">
            <a:avLst/>
          </a:prstGeom>
          <a:noFill/>
          <a:ln w="9528" cap="flat">
            <a:solidFill>
              <a:srgbClr val="000000"/>
            </a:solidFill>
            <a:prstDash val="solid"/>
            <a:miter/>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20">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8B4CD00-4A88-495A-A61F-B9680483EDBA}"/>
              </a:ext>
            </a:extLst>
          </p:cNvPr>
          <p:cNvSpPr/>
          <p:nvPr/>
        </p:nvSpPr>
        <p:spPr>
          <a:xfrm>
            <a:off x="1644612" y="198132"/>
            <a:ext cx="9293019" cy="708778"/>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400" b="0" i="0" u="none" strike="noStrike" kern="1200" cap="none" spc="0" baseline="0">
                <a:solidFill>
                  <a:srgbClr val="50164A"/>
                </a:solidFill>
                <a:uFillTx/>
                <a:latin typeface="Aptos"/>
              </a:rPr>
              <a:t>Hybrid Proficiency Validation Framework</a:t>
            </a:r>
            <a:endParaRPr lang="en-US" sz="4400" b="1" i="0" u="none" strike="noStrike" kern="1200" cap="none" spc="0" baseline="0">
              <a:solidFill>
                <a:srgbClr val="50164A"/>
              </a:solidFill>
              <a:uFillTx/>
              <a:latin typeface="Aptos"/>
            </a:endParaRPr>
          </a:p>
        </p:txBody>
      </p:sp>
      <p:sp>
        <p:nvSpPr>
          <p:cNvPr id="3" name="Text 5">
            <a:extLst>
              <a:ext uri="{FF2B5EF4-FFF2-40B4-BE49-F238E27FC236}">
                <a16:creationId xmlns:a16="http://schemas.microsoft.com/office/drawing/2014/main" id="{7E399843-A210-4C5F-AFDD-080BC77A5683}"/>
              </a:ext>
            </a:extLst>
          </p:cNvPr>
          <p:cNvSpPr/>
          <p:nvPr/>
        </p:nvSpPr>
        <p:spPr>
          <a:xfrm>
            <a:off x="6280190" y="4847627"/>
            <a:ext cx="226816" cy="283491"/>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endParaRPr lang="en-US" sz="1750" b="0" i="0" u="none" strike="noStrike" kern="1200" cap="none" spc="0" baseline="0">
              <a:solidFill>
                <a:srgbClr val="000000"/>
              </a:solidFill>
              <a:uFillTx/>
              <a:latin typeface="Aptos"/>
            </a:endParaRPr>
          </a:p>
        </p:txBody>
      </p:sp>
      <p:sp>
        <p:nvSpPr>
          <p:cNvPr id="4" name="Text 4">
            <a:extLst>
              <a:ext uri="{FF2B5EF4-FFF2-40B4-BE49-F238E27FC236}">
                <a16:creationId xmlns:a16="http://schemas.microsoft.com/office/drawing/2014/main" id="{145CE83D-CA41-40E4-89D3-C934CB16F847}"/>
              </a:ext>
            </a:extLst>
          </p:cNvPr>
          <p:cNvSpPr/>
          <p:nvPr/>
        </p:nvSpPr>
        <p:spPr>
          <a:xfrm>
            <a:off x="1412245" y="2755233"/>
            <a:ext cx="8896883" cy="1791995"/>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br>
              <a:rPr lang="en-US" sz="2200" b="0" i="0" u="none" strike="noStrike" kern="1200" cap="none" spc="0" baseline="0">
                <a:solidFill>
                  <a:srgbClr val="0B76A0"/>
                </a:solidFill>
                <a:uFillTx/>
                <a:latin typeface="Bricolage Grotesque Semi Bold" pitchFamily="34"/>
                <a:ea typeface="Bricolage Grotesque Semi Bold" pitchFamily="34"/>
                <a:cs typeface="Bricolage Grotesque Semi Bold" pitchFamily="34"/>
              </a:rPr>
            </a:br>
            <a:r>
              <a:rPr lang="en-US" sz="2200" b="1" i="0" u="none" strike="noStrike" kern="1200" cap="none" spc="0" baseline="0">
                <a:solidFill>
                  <a:srgbClr val="0B76A0"/>
                </a:solidFill>
                <a:uFillTx/>
                <a:latin typeface="Bricolage Grotesque Semi Bold" pitchFamily="34"/>
                <a:ea typeface="Bricolage Grotesque Semi Bold" pitchFamily="34"/>
                <a:cs typeface="Bricolage Grotesque Semi Bold" pitchFamily="34"/>
              </a:rPr>
              <a:t>Main Objective</a:t>
            </a:r>
            <a:br>
              <a:rPr lang="en-US" sz="2200" b="0" i="0" u="none" strike="noStrike" kern="1200" cap="none" spc="0" baseline="0">
                <a:solidFill>
                  <a:srgbClr val="2C2926"/>
                </a:solidFill>
                <a:uFillTx/>
                <a:latin typeface="Bricolage Grotesque Semi Bold" pitchFamily="34"/>
                <a:ea typeface="Bricolage Grotesque Semi Bold" pitchFamily="34"/>
                <a:cs typeface="Bricolage Grotesque Semi Bold" pitchFamily="34"/>
              </a:rPr>
            </a:br>
            <a:r>
              <a:rPr lang="en-US" sz="1600" b="0" i="0" u="none" strike="noStrike" kern="1200" cap="none" spc="0" baseline="0">
                <a:solidFill>
                  <a:srgbClr val="000000"/>
                </a:solidFill>
                <a:uFillTx/>
                <a:latin typeface="Aptos"/>
              </a:rPr>
              <a:t> </a:t>
            </a:r>
            <a:r>
              <a:rPr lang="en-US" sz="1600" b="1" i="0" u="none" strike="noStrike" kern="1200" cap="none" spc="0" baseline="0">
                <a:solidFill>
                  <a:srgbClr val="000000"/>
                </a:solidFill>
                <a:uFillTx/>
                <a:latin typeface="Aptos"/>
              </a:rPr>
              <a:t>To develop a semantic proficiency inference and weighted matching framework that estimates technical skill levels from CVproject descriptions and GitHub analysis to improve recruitment accuracy and CV-job matching.</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0B76A0"/>
                </a:solidFill>
                <a:uFillTx/>
                <a:latin typeface="Aptos"/>
              </a:rPr>
              <a:t>Sub Objectives</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200" b="0" i="0" u="none" strike="noStrike" kern="1200" cap="none" spc="0" baseline="0">
              <a:solidFill>
                <a:srgbClr val="2C2926"/>
              </a:solidFill>
              <a:uFillTx/>
              <a:latin typeface="Bricolage Grotesque Semi Bold" pitchFamily="34"/>
              <a:ea typeface="Bricolage Grotesque Semi Bold" pitchFamily="34"/>
              <a:cs typeface="Bricolage Grotesque Semi Bold" pitchFamily="34"/>
            </a:endParaRPr>
          </a:p>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endParaRPr lang="en-US" sz="2200" b="0" i="0" u="none" strike="noStrike" kern="1200" cap="none" spc="0" baseline="0">
              <a:solidFill>
                <a:srgbClr val="000000"/>
              </a:solidFill>
              <a:uFillTx/>
              <a:latin typeface="Aptos"/>
            </a:endParaRPr>
          </a:p>
        </p:txBody>
      </p:sp>
      <p:grpSp>
        <p:nvGrpSpPr>
          <p:cNvPr id="5" name="Group 5">
            <a:extLst>
              <a:ext uri="{FF2B5EF4-FFF2-40B4-BE49-F238E27FC236}">
                <a16:creationId xmlns:a16="http://schemas.microsoft.com/office/drawing/2014/main" id="{89BC0766-6636-43B2-BCE1-023251D62A8A}"/>
              </a:ext>
            </a:extLst>
          </p:cNvPr>
          <p:cNvGrpSpPr/>
          <p:nvPr/>
        </p:nvGrpSpPr>
        <p:grpSpPr>
          <a:xfrm>
            <a:off x="0" y="7649733"/>
            <a:ext cx="14633225" cy="841055"/>
            <a:chOff x="0" y="7649733"/>
            <a:chExt cx="14633225" cy="841055"/>
          </a:xfrm>
        </p:grpSpPr>
        <p:sp>
          <p:nvSpPr>
            <p:cNvPr id="6" name="Rectangle 6">
              <a:extLst>
                <a:ext uri="{FF2B5EF4-FFF2-40B4-BE49-F238E27FC236}">
                  <a16:creationId xmlns:a16="http://schemas.microsoft.com/office/drawing/2014/main" id="{DB42B3A6-CDB9-4C17-A46E-3A4CE91102EC}"/>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F9ED5"/>
                </a:solidFill>
                <a:uFillTx/>
                <a:latin typeface="Aptos"/>
              </a:endParaRPr>
            </a:p>
          </p:txBody>
        </p:sp>
        <p:sp>
          <p:nvSpPr>
            <p:cNvPr id="7" name="Rectangle 7">
              <a:extLst>
                <a:ext uri="{FF2B5EF4-FFF2-40B4-BE49-F238E27FC236}">
                  <a16:creationId xmlns:a16="http://schemas.microsoft.com/office/drawing/2014/main" id="{2DB9A068-E7FD-41D4-8611-09419C65DC93}"/>
                </a:ext>
              </a:extLst>
            </p:cNvPr>
            <p:cNvSpPr/>
            <p:nvPr/>
          </p:nvSpPr>
          <p:spPr>
            <a:xfrm>
              <a:off x="0" y="7968401"/>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 IT22091802 | </a:t>
              </a:r>
              <a:r>
                <a:rPr lang="en-US" sz="1800" b="1" i="0" u="none" strike="noStrike" kern="1200" cap="none" spc="0" baseline="0">
                  <a:solidFill>
                    <a:srgbClr val="2C2926"/>
                  </a:solidFill>
                  <a:uFillTx/>
                  <a:latin typeface="Aptos"/>
                  <a:ea typeface="Inter" pitchFamily="34"/>
                  <a:cs typeface="Inter" pitchFamily="34"/>
                </a:rPr>
                <a:t>PRASADI R.D.S</a:t>
              </a:r>
              <a:r>
                <a:rPr lang="en-US" sz="1800" b="1" i="0" u="none" strike="noStrike" kern="1200" cap="none" spc="0" baseline="0">
                  <a:solidFill>
                    <a:srgbClr val="000000"/>
                  </a:solidFill>
                  <a:uFillTx/>
                  <a:latin typeface="Aptos"/>
                </a:rPr>
                <a:t> | R26-IT-128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000000"/>
                </a:solidFill>
                <a:uFillTx/>
                <a:latin typeface="Aptos"/>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Aptos"/>
              </a:endParaRPr>
            </a:p>
          </p:txBody>
        </p:sp>
        <p:pic>
          <p:nvPicPr>
            <p:cNvPr id="8" name="Picture 8">
              <a:extLst>
                <a:ext uri="{FF2B5EF4-FFF2-40B4-BE49-F238E27FC236}">
                  <a16:creationId xmlns:a16="http://schemas.microsoft.com/office/drawing/2014/main" id="{501E76F1-4BCD-4AF8-8E13-1D9D4DDB454B}"/>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9" name="Rectangle 9">
              <a:extLst>
                <a:ext uri="{FF2B5EF4-FFF2-40B4-BE49-F238E27FC236}">
                  <a16:creationId xmlns:a16="http://schemas.microsoft.com/office/drawing/2014/main" id="{3B0B6028-4AC0-4469-9D10-19B8C11C07F6}"/>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16/3/2026</a:t>
              </a:r>
              <a:endParaRPr lang="en-US" sz="1200" b="1" i="0" u="none" strike="noStrike" kern="1200" cap="none" spc="0" baseline="0">
                <a:solidFill>
                  <a:srgbClr val="000000"/>
                </a:solidFill>
                <a:uFillTx/>
                <a:latin typeface="Aptos"/>
              </a:endParaRPr>
            </a:p>
          </p:txBody>
        </p:sp>
      </p:grpSp>
      <p:grpSp>
        <p:nvGrpSpPr>
          <p:cNvPr id="10" name="Group 36">
            <a:extLst>
              <a:ext uri="{FF2B5EF4-FFF2-40B4-BE49-F238E27FC236}">
                <a16:creationId xmlns:a16="http://schemas.microsoft.com/office/drawing/2014/main" id="{285AFA3C-82DB-4B63-B6B7-B9D51FA47924}"/>
              </a:ext>
            </a:extLst>
          </p:cNvPr>
          <p:cNvGrpSpPr/>
          <p:nvPr/>
        </p:nvGrpSpPr>
        <p:grpSpPr>
          <a:xfrm>
            <a:off x="1412235" y="4725226"/>
            <a:ext cx="7955290" cy="2134053"/>
            <a:chOff x="1412235" y="4725226"/>
            <a:chExt cx="7955290" cy="2134053"/>
          </a:xfrm>
        </p:grpSpPr>
        <p:pic>
          <p:nvPicPr>
            <p:cNvPr id="11" name="Image 0" descr="preencoded.png">
              <a:extLst>
                <a:ext uri="{FF2B5EF4-FFF2-40B4-BE49-F238E27FC236}">
                  <a16:creationId xmlns:a16="http://schemas.microsoft.com/office/drawing/2014/main" id="{66B604C6-ACAA-40A0-AB2B-8A0B776E108C}"/>
                </a:ext>
              </a:extLst>
            </p:cNvPr>
            <p:cNvPicPr>
              <a:picLocks noChangeAspect="1"/>
            </p:cNvPicPr>
            <p:nvPr/>
          </p:nvPicPr>
          <p:blipFill>
            <a:blip r:embed="rId3"/>
            <a:stretch>
              <a:fillRect/>
            </a:stretch>
          </p:blipFill>
          <p:spPr>
            <a:xfrm>
              <a:off x="1412235" y="4725226"/>
              <a:ext cx="341628" cy="347874"/>
            </a:xfrm>
            <a:prstGeom prst="rect">
              <a:avLst/>
            </a:prstGeom>
            <a:solidFill>
              <a:srgbClr val="FFFFFF"/>
            </a:solidFill>
            <a:ln cap="flat">
              <a:noFill/>
            </a:ln>
          </p:spPr>
        </p:pic>
        <p:sp>
          <p:nvSpPr>
            <p:cNvPr id="12" name="Text 14">
              <a:extLst>
                <a:ext uri="{FF2B5EF4-FFF2-40B4-BE49-F238E27FC236}">
                  <a16:creationId xmlns:a16="http://schemas.microsoft.com/office/drawing/2014/main" id="{44A98DAB-4ADB-47A8-8F35-6B9674A470FF}"/>
                </a:ext>
              </a:extLst>
            </p:cNvPr>
            <p:cNvSpPr/>
            <p:nvPr/>
          </p:nvSpPr>
          <p:spPr>
            <a:xfrm>
              <a:off x="1872298" y="4725226"/>
              <a:ext cx="7495227" cy="482373"/>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ptos"/>
                </a:rPr>
                <a:t>To implement a RoBERTa-based classification model to infer skill proficiency levels  from project text.</a:t>
              </a:r>
            </a:p>
          </p:txBody>
        </p:sp>
        <p:sp>
          <p:nvSpPr>
            <p:cNvPr id="13" name="Text 15">
              <a:extLst>
                <a:ext uri="{FF2B5EF4-FFF2-40B4-BE49-F238E27FC236}">
                  <a16:creationId xmlns:a16="http://schemas.microsoft.com/office/drawing/2014/main" id="{DEF0DD1A-C98B-4C69-931D-BF09908E5F13}"/>
                </a:ext>
              </a:extLst>
            </p:cNvPr>
            <p:cNvSpPr/>
            <p:nvPr/>
          </p:nvSpPr>
          <p:spPr>
            <a:xfrm>
              <a:off x="1872298" y="5293735"/>
              <a:ext cx="7495227" cy="48237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pitchFamily="34"/>
                  <a:ea typeface="Calibri" pitchFamily="34"/>
                  <a:cs typeface="Calibri" pitchFamily="34"/>
                </a:rPr>
                <a:t> </a:t>
              </a:r>
              <a:r>
                <a:rPr lang="en-US" sz="1600" b="1" i="0" u="none" strike="noStrike" kern="1200" cap="none" spc="0" baseline="0">
                  <a:solidFill>
                    <a:srgbClr val="000000"/>
                  </a:solidFill>
                  <a:uFillTx/>
                  <a:latin typeface="Aptos"/>
                </a:rPr>
                <a:t>To develop a GitHub validation module using CodeBERT to verify proficiency claims  via repository and README analysis.</a:t>
              </a:r>
              <a:r>
                <a:rPr lang="en-US" sz="1600" b="1" i="0" u="none" strike="noStrike" kern="1200" cap="none" spc="0" baseline="0">
                  <a:solidFill>
                    <a:srgbClr val="000000"/>
                  </a:solidFill>
                  <a:uFillTx/>
                  <a:latin typeface="Calibri" pitchFamily="34"/>
                  <a:ea typeface="Calibri" pitchFamily="34"/>
                  <a:cs typeface="Calibri" pitchFamily="34"/>
                </a:rPr>
                <a:t>.</a:t>
              </a:r>
              <a:endParaRPr lang="en-US" sz="1600" b="1" i="0" u="none" strike="noStrike" kern="1200" cap="none" spc="0" baseline="0">
                <a:solidFill>
                  <a:srgbClr val="000000"/>
                </a:solidFill>
                <a:uFillTx/>
                <a:latin typeface="Aptos"/>
              </a:endParaRPr>
            </a:p>
          </p:txBody>
        </p:sp>
        <p:sp>
          <p:nvSpPr>
            <p:cNvPr id="14" name="Text 17">
              <a:extLst>
                <a:ext uri="{FF2B5EF4-FFF2-40B4-BE49-F238E27FC236}">
                  <a16:creationId xmlns:a16="http://schemas.microsoft.com/office/drawing/2014/main" id="{0EDADAA8-C819-4CC6-8614-CBAA10EAD60D}"/>
                </a:ext>
              </a:extLst>
            </p:cNvPr>
            <p:cNvSpPr/>
            <p:nvPr/>
          </p:nvSpPr>
          <p:spPr>
            <a:xfrm>
              <a:off x="1872298" y="6376906"/>
              <a:ext cx="7261543" cy="48237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1" i="0" u="none" strike="noStrike" kern="1200" cap="none" spc="0" baseline="0">
                  <a:solidFill>
                    <a:srgbClr val="000000"/>
                  </a:solidFill>
                  <a:uFillTx/>
                  <a:latin typeface="Aptos"/>
                </a:rPr>
                <a:t>To integrate an explainable feedback system to help students improve their technical project descriptions.</a:t>
              </a:r>
            </a:p>
          </p:txBody>
        </p:sp>
      </p:grpSp>
      <p:sp>
        <p:nvSpPr>
          <p:cNvPr id="15" name="Rectangle 8">
            <a:extLst>
              <a:ext uri="{FF2B5EF4-FFF2-40B4-BE49-F238E27FC236}">
                <a16:creationId xmlns:a16="http://schemas.microsoft.com/office/drawing/2014/main" id="{715387E2-E7A2-4B14-804D-A4C51F8AB5C5}"/>
              </a:ext>
            </a:extLst>
          </p:cNvPr>
          <p:cNvSpPr/>
          <p:nvPr/>
        </p:nvSpPr>
        <p:spPr>
          <a:xfrm>
            <a:off x="1753874" y="5790492"/>
            <a:ext cx="7786372" cy="861776"/>
          </a:xfrm>
          <a:prstGeom prst="rect">
            <a:avLst/>
          </a:prstGeom>
          <a:noFill/>
          <a:ln cap="flat">
            <a:noFill/>
            <a:prstDash val="solid"/>
          </a:ln>
        </p:spPr>
        <p:txBody>
          <a:bodyPr vert="horz" wrap="square" lIns="91440" tIns="45720" rIns="91440" bIns="45720" anchor="ctr" anchorCtr="0" compatLnSpc="1">
            <a:sp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ptos"/>
              </a:rPr>
              <a:t> </a:t>
            </a:r>
            <a:r>
              <a:rPr lang="en-US" sz="1600" b="1" i="0" u="none" strike="noStrike" kern="1200" cap="none" spc="0" baseline="0">
                <a:solidFill>
                  <a:srgbClr val="000000"/>
                </a:solidFill>
                <a:uFillTx/>
                <a:latin typeface="Aptos"/>
              </a:rPr>
              <a:t>To create a weighted matching algorithm that applies expertise-based weights.  (0.3, 0.7, 1.0) against real-time job requirements</a:t>
            </a:r>
          </a:p>
          <a:p>
            <a:pPr marL="0" marR="0" lvl="0" indent="0" algn="l" defTabSz="914400" rtl="0" fontAlgn="auto" hangingPunct="0">
              <a:lnSpc>
                <a:spcPct val="100000"/>
              </a:lnSpc>
              <a:spcBef>
                <a:spcPts val="0"/>
              </a:spcBef>
              <a:spcAft>
                <a:spcPts val="0"/>
              </a:spcAft>
              <a:buSzPct val="100000"/>
              <a:buChar char="•"/>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rial" pitchFamily="34"/>
            </a:endParaRPr>
          </a:p>
        </p:txBody>
      </p:sp>
      <p:pic>
        <p:nvPicPr>
          <p:cNvPr id="16" name="Image 0" descr="preencoded.png">
            <a:extLst>
              <a:ext uri="{FF2B5EF4-FFF2-40B4-BE49-F238E27FC236}">
                <a16:creationId xmlns:a16="http://schemas.microsoft.com/office/drawing/2014/main" id="{B15FF8D1-0410-48B2-846B-3FC9103514AC}"/>
              </a:ext>
            </a:extLst>
          </p:cNvPr>
          <p:cNvPicPr>
            <a:picLocks noChangeAspect="1"/>
          </p:cNvPicPr>
          <p:nvPr/>
        </p:nvPicPr>
        <p:blipFill>
          <a:blip r:embed="rId3"/>
          <a:stretch>
            <a:fillRect/>
          </a:stretch>
        </p:blipFill>
        <p:spPr>
          <a:xfrm>
            <a:off x="1412245" y="5251097"/>
            <a:ext cx="341628" cy="347874"/>
          </a:xfrm>
          <a:prstGeom prst="rect">
            <a:avLst/>
          </a:prstGeom>
          <a:solidFill>
            <a:srgbClr val="FFFFFF"/>
          </a:solidFill>
          <a:ln cap="flat">
            <a:noFill/>
          </a:ln>
        </p:spPr>
      </p:pic>
      <p:pic>
        <p:nvPicPr>
          <p:cNvPr id="17" name="Image 0" descr="preencoded.png">
            <a:extLst>
              <a:ext uri="{FF2B5EF4-FFF2-40B4-BE49-F238E27FC236}">
                <a16:creationId xmlns:a16="http://schemas.microsoft.com/office/drawing/2014/main" id="{C782F4D7-35E6-413E-B28B-7BD47CB820F0}"/>
              </a:ext>
            </a:extLst>
          </p:cNvPr>
          <p:cNvPicPr>
            <a:picLocks noChangeAspect="1"/>
          </p:cNvPicPr>
          <p:nvPr/>
        </p:nvPicPr>
        <p:blipFill>
          <a:blip r:embed="rId3"/>
          <a:stretch>
            <a:fillRect/>
          </a:stretch>
        </p:blipFill>
        <p:spPr>
          <a:xfrm>
            <a:off x="1412245" y="5822423"/>
            <a:ext cx="341628" cy="347874"/>
          </a:xfrm>
          <a:prstGeom prst="rect">
            <a:avLst/>
          </a:prstGeom>
          <a:solidFill>
            <a:srgbClr val="FFFFFF"/>
          </a:solidFill>
          <a:ln cap="flat">
            <a:noFill/>
          </a:ln>
        </p:spPr>
      </p:pic>
      <p:pic>
        <p:nvPicPr>
          <p:cNvPr id="18" name="Image 0" descr="preencoded.png">
            <a:extLst>
              <a:ext uri="{FF2B5EF4-FFF2-40B4-BE49-F238E27FC236}">
                <a16:creationId xmlns:a16="http://schemas.microsoft.com/office/drawing/2014/main" id="{DEA5860D-A8A9-4622-9769-B58285C8809B}"/>
              </a:ext>
            </a:extLst>
          </p:cNvPr>
          <p:cNvPicPr>
            <a:picLocks noChangeAspect="1"/>
          </p:cNvPicPr>
          <p:nvPr/>
        </p:nvPicPr>
        <p:blipFill>
          <a:blip r:embed="rId3"/>
          <a:stretch>
            <a:fillRect/>
          </a:stretch>
        </p:blipFill>
        <p:spPr>
          <a:xfrm>
            <a:off x="1412245" y="6304394"/>
            <a:ext cx="341628" cy="347874"/>
          </a:xfrm>
          <a:prstGeom prst="rect">
            <a:avLst/>
          </a:prstGeom>
          <a:solidFill>
            <a:srgbClr val="FFFFFF"/>
          </a:solidFill>
          <a:ln cap="flat">
            <a:noFill/>
          </a:ln>
        </p:spPr>
      </p:pic>
      <p:sp>
        <p:nvSpPr>
          <p:cNvPr id="19" name="Flowchart: Alternate Process 23">
            <a:extLst>
              <a:ext uri="{FF2B5EF4-FFF2-40B4-BE49-F238E27FC236}">
                <a16:creationId xmlns:a16="http://schemas.microsoft.com/office/drawing/2014/main" id="{6D2EC0EF-EAAF-4A07-831A-CE9AFE682D46}"/>
              </a:ext>
            </a:extLst>
          </p:cNvPr>
          <p:cNvSpPr/>
          <p:nvPr/>
        </p:nvSpPr>
        <p:spPr>
          <a:xfrm>
            <a:off x="1257482" y="1275542"/>
            <a:ext cx="11261988" cy="1684187"/>
          </a:xfrm>
          <a:custGeom>
            <a:avLst/>
            <a:gdLst>
              <a:gd name="f0" fmla="val 10800000"/>
              <a:gd name="f1" fmla="val 5400000"/>
              <a:gd name="f2" fmla="val 16200000"/>
              <a:gd name="f3" fmla="val w"/>
              <a:gd name="f4" fmla="val h"/>
              <a:gd name="f5" fmla="val ss"/>
              <a:gd name="f6" fmla="val 0"/>
              <a:gd name="f7" fmla="abs f3"/>
              <a:gd name="f8" fmla="abs f4"/>
              <a:gd name="f9" fmla="abs f5"/>
              <a:gd name="f10" fmla="?: f7 f3 1"/>
              <a:gd name="f11" fmla="?: f8 f4 1"/>
              <a:gd name="f12" fmla="?: f9 f5 1"/>
              <a:gd name="f13" fmla="*/ f10 1 21600"/>
              <a:gd name="f14" fmla="*/ f11 1 21600"/>
              <a:gd name="f15" fmla="*/ 21600 f10 1"/>
              <a:gd name="f16" fmla="*/ 21600 f11 1"/>
              <a:gd name="f17" fmla="min f14 f13"/>
              <a:gd name="f18" fmla="*/ f15 1 f12"/>
              <a:gd name="f19" fmla="*/ f16 1 f12"/>
              <a:gd name="f20" fmla="val f18"/>
              <a:gd name="f21" fmla="val f19"/>
              <a:gd name="f22" fmla="*/ f6 f17 1"/>
              <a:gd name="f23" fmla="+- f21 0 f6"/>
              <a:gd name="f24" fmla="+- f20 0 f6"/>
              <a:gd name="f25" fmla="*/ f20 f17 1"/>
              <a:gd name="f26" fmla="*/ f21 f17 1"/>
              <a:gd name="f27" fmla="min f24 f23"/>
              <a:gd name="f28" fmla="*/ f27 1 6"/>
              <a:gd name="f29" fmla="+- f20 0 f28"/>
              <a:gd name="f30" fmla="+- f21 0 f28"/>
              <a:gd name="f31" fmla="*/ f28 29289 1"/>
              <a:gd name="f32" fmla="*/ f28 f17 1"/>
              <a:gd name="f33" fmla="*/ f31 1 100000"/>
              <a:gd name="f34" fmla="*/ f29 f17 1"/>
              <a:gd name="f35" fmla="*/ f30 f17 1"/>
              <a:gd name="f36" fmla="+- f20 0 f33"/>
              <a:gd name="f37" fmla="+- f21 0 f33"/>
              <a:gd name="f38" fmla="*/ f33 f17 1"/>
              <a:gd name="f39" fmla="*/ f36 f17 1"/>
              <a:gd name="f40" fmla="*/ f37 f17 1"/>
            </a:gdLst>
            <a:ahLst/>
            <a:cxnLst>
              <a:cxn ang="3cd4">
                <a:pos x="hc" y="t"/>
              </a:cxn>
              <a:cxn ang="0">
                <a:pos x="r" y="vc"/>
              </a:cxn>
              <a:cxn ang="cd4">
                <a:pos x="hc" y="b"/>
              </a:cxn>
              <a:cxn ang="cd2">
                <a:pos x="l" y="vc"/>
              </a:cxn>
            </a:cxnLst>
            <a:rect l="f38" t="f38" r="f39" b="f40"/>
            <a:pathLst>
              <a:path>
                <a:moveTo>
                  <a:pt x="f22" y="f32"/>
                </a:moveTo>
                <a:arcTo wR="f32" hR="f32" stAng="f0" swAng="f1"/>
                <a:lnTo>
                  <a:pt x="f34" y="f22"/>
                </a:lnTo>
                <a:arcTo wR="f32" hR="f32" stAng="f2" swAng="f1"/>
                <a:lnTo>
                  <a:pt x="f25" y="f35"/>
                </a:lnTo>
                <a:arcTo wR="f32" hR="f32" stAng="f6" swAng="f1"/>
                <a:lnTo>
                  <a:pt x="f32" y="f26"/>
                </a:lnTo>
                <a:arcTo wR="f32" hR="f32" stAng="f1" swAng="f1"/>
                <a:close/>
              </a:path>
            </a:pathLst>
          </a:custGeom>
          <a:solidFill>
            <a:srgbClr val="FFFFFF"/>
          </a:solidFill>
          <a:ln w="19046" cap="flat">
            <a:solidFill>
              <a:srgbClr val="0F9ED5"/>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20" name="Text 4">
            <a:extLst>
              <a:ext uri="{FF2B5EF4-FFF2-40B4-BE49-F238E27FC236}">
                <a16:creationId xmlns:a16="http://schemas.microsoft.com/office/drawing/2014/main" id="{3F499409-F16A-4C15-8CA2-12EE2CC17AA7}"/>
              </a:ext>
            </a:extLst>
          </p:cNvPr>
          <p:cNvSpPr/>
          <p:nvPr/>
        </p:nvSpPr>
        <p:spPr>
          <a:xfrm>
            <a:off x="1412235" y="1437052"/>
            <a:ext cx="10952482" cy="158143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E53E3E"/>
                </a:solidFill>
                <a:uFillTx/>
                <a:latin typeface="Calibri" pitchFamily="34"/>
                <a:ea typeface="Calibri" pitchFamily="34"/>
                <a:cs typeface="Calibri" pitchFamily="34"/>
              </a:rPr>
              <a:t>Problem Definition</a:t>
            </a:r>
            <a:endParaRPr lang="en-US" sz="2400" b="0" i="0" u="none" strike="noStrike" kern="1200" cap="none" spc="0" baseline="0">
              <a:solidFill>
                <a:srgbClr val="000000"/>
              </a:solidFill>
              <a:uFillTx/>
              <a:latin typeface="Aptos"/>
            </a:endParaRPr>
          </a:p>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ptos"/>
              </a:rPr>
              <a:t> </a:t>
            </a:r>
            <a:r>
              <a:rPr lang="en-US" sz="1800" b="1" i="0" u="none" strike="noStrike" kern="1200" cap="none" spc="0" baseline="0">
                <a:solidFill>
                  <a:srgbClr val="000000"/>
                </a:solidFill>
                <a:uFillTx/>
                <a:latin typeface="Aptos"/>
              </a:rPr>
              <a:t>IT recruitment faces "Skill Depth Blindness" as keyword-based ATS filters cannot distinguish between superficial knowledge and demonstrated expertise. This leads to a verification crisis where genuine undergraduate talent is often filtered out by automated systems due to a lack of verified technical depth.</a:t>
            </a:r>
            <a:endParaRPr lang="en-US" sz="1750" b="1" i="0" u="none" strike="noStrike" kern="1200" cap="none" spc="0" baseline="0">
              <a:solidFill>
                <a:srgbClr val="000000"/>
              </a:solidFill>
              <a:uFillTx/>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45">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666984E-CE90-44DD-AF41-FC0360E4E2B4}"/>
              </a:ext>
            </a:extLst>
          </p:cNvPr>
          <p:cNvSpPr/>
          <p:nvPr/>
        </p:nvSpPr>
        <p:spPr>
          <a:xfrm>
            <a:off x="2545936" y="60853"/>
            <a:ext cx="6590446" cy="602452"/>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50164A"/>
                </a:solidFill>
                <a:uFillTx/>
                <a:latin typeface="Aptos"/>
              </a:rPr>
              <a:t>Hybrid Proficiency Validation Framework</a:t>
            </a:r>
            <a:endParaRPr lang="en-US" sz="3600" b="1" i="0" u="none" strike="noStrike" kern="1200" cap="none" spc="0" baseline="0">
              <a:solidFill>
                <a:srgbClr val="50164A"/>
              </a:solidFill>
              <a:uFillTx/>
              <a:latin typeface="Aptos"/>
            </a:endParaRPr>
          </a:p>
        </p:txBody>
      </p:sp>
      <p:grpSp>
        <p:nvGrpSpPr>
          <p:cNvPr id="3" name="Group 11">
            <a:extLst>
              <a:ext uri="{FF2B5EF4-FFF2-40B4-BE49-F238E27FC236}">
                <a16:creationId xmlns:a16="http://schemas.microsoft.com/office/drawing/2014/main" id="{9C2DFB5E-BA01-4A97-BDD4-6505B6A630E4}"/>
              </a:ext>
            </a:extLst>
          </p:cNvPr>
          <p:cNvGrpSpPr/>
          <p:nvPr/>
        </p:nvGrpSpPr>
        <p:grpSpPr>
          <a:xfrm>
            <a:off x="0" y="7649733"/>
            <a:ext cx="14633225" cy="922318"/>
            <a:chOff x="0" y="7649733"/>
            <a:chExt cx="14633225" cy="922318"/>
          </a:xfrm>
        </p:grpSpPr>
        <p:sp>
          <p:nvSpPr>
            <p:cNvPr id="4" name="Rectangle 12">
              <a:extLst>
                <a:ext uri="{FF2B5EF4-FFF2-40B4-BE49-F238E27FC236}">
                  <a16:creationId xmlns:a16="http://schemas.microsoft.com/office/drawing/2014/main" id="{69C4637E-4E0E-4656-9318-23D2E459AC63}"/>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F9ED5"/>
                </a:solidFill>
                <a:uFillTx/>
                <a:latin typeface="Aptos"/>
              </a:endParaRPr>
            </a:p>
          </p:txBody>
        </p:sp>
        <p:sp>
          <p:nvSpPr>
            <p:cNvPr id="5" name="Rectangle 13">
              <a:extLst>
                <a:ext uri="{FF2B5EF4-FFF2-40B4-BE49-F238E27FC236}">
                  <a16:creationId xmlns:a16="http://schemas.microsoft.com/office/drawing/2014/main" id="{95C70963-9516-4044-A408-131CF22DD35B}"/>
                </a:ext>
              </a:extLst>
            </p:cNvPr>
            <p:cNvSpPr/>
            <p:nvPr/>
          </p:nvSpPr>
          <p:spPr>
            <a:xfrm>
              <a:off x="0" y="8049664"/>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IT22091802 | </a:t>
              </a:r>
              <a:r>
                <a:rPr lang="en-US" sz="1800" b="1" i="0" u="none" strike="noStrike" kern="1200" cap="none" spc="0" baseline="0">
                  <a:solidFill>
                    <a:srgbClr val="2C2926"/>
                  </a:solidFill>
                  <a:uFillTx/>
                  <a:latin typeface="Aptos"/>
                  <a:ea typeface="Inter" pitchFamily="34"/>
                  <a:cs typeface="Inter" pitchFamily="34"/>
                </a:rPr>
                <a:t>PRASADI R.D.S</a:t>
              </a:r>
              <a:r>
                <a:rPr lang="en-US" sz="1800" b="1" i="0" u="none" strike="noStrike" kern="1200" cap="none" spc="0" baseline="0">
                  <a:solidFill>
                    <a:srgbClr val="000000"/>
                  </a:solidFill>
                  <a:uFillTx/>
                  <a:latin typeface="Aptos"/>
                </a:rPr>
                <a:t> | R26-IT-128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Aptos"/>
              </a:endParaRPr>
            </a:p>
          </p:txBody>
        </p:sp>
        <p:pic>
          <p:nvPicPr>
            <p:cNvPr id="6" name="Picture 14">
              <a:extLst>
                <a:ext uri="{FF2B5EF4-FFF2-40B4-BE49-F238E27FC236}">
                  <a16:creationId xmlns:a16="http://schemas.microsoft.com/office/drawing/2014/main" id="{85BFE991-0658-43DA-9D83-D825B2A7E885}"/>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15">
              <a:extLst>
                <a:ext uri="{FF2B5EF4-FFF2-40B4-BE49-F238E27FC236}">
                  <a16:creationId xmlns:a16="http://schemas.microsoft.com/office/drawing/2014/main" id="{127DEA06-344D-42E5-AD13-0C63C9F020C1}"/>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16/3/2026</a:t>
              </a:r>
              <a:endParaRPr lang="en-US" sz="1200" b="1" i="0" u="none" strike="noStrike" kern="1200" cap="none" spc="0" baseline="0">
                <a:solidFill>
                  <a:srgbClr val="000000"/>
                </a:solidFill>
                <a:uFillTx/>
                <a:latin typeface="Aptos"/>
              </a:endParaRPr>
            </a:p>
          </p:txBody>
        </p:sp>
      </p:grpSp>
      <p:grpSp>
        <p:nvGrpSpPr>
          <p:cNvPr id="8" name="Group 19">
            <a:extLst>
              <a:ext uri="{FF2B5EF4-FFF2-40B4-BE49-F238E27FC236}">
                <a16:creationId xmlns:a16="http://schemas.microsoft.com/office/drawing/2014/main" id="{6903719A-7E40-4B76-B38B-8CCBB3B855DA}"/>
              </a:ext>
            </a:extLst>
          </p:cNvPr>
          <p:cNvGrpSpPr/>
          <p:nvPr/>
        </p:nvGrpSpPr>
        <p:grpSpPr>
          <a:xfrm>
            <a:off x="343988" y="1381877"/>
            <a:ext cx="13942423" cy="6099816"/>
            <a:chOff x="343988" y="1381877"/>
            <a:chExt cx="13942423" cy="6099816"/>
          </a:xfrm>
        </p:grpSpPr>
        <p:sp>
          <p:nvSpPr>
            <p:cNvPr id="9" name="Shape 4">
              <a:extLst>
                <a:ext uri="{FF2B5EF4-FFF2-40B4-BE49-F238E27FC236}">
                  <a16:creationId xmlns:a16="http://schemas.microsoft.com/office/drawing/2014/main" id="{350CC08F-524A-4F2F-8F04-6574580770A9}"/>
                </a:ext>
              </a:extLst>
            </p:cNvPr>
            <p:cNvSpPr/>
            <p:nvPr/>
          </p:nvSpPr>
          <p:spPr>
            <a:xfrm>
              <a:off x="343988" y="1381877"/>
              <a:ext cx="6825977" cy="2904673"/>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10" name="Shape 5">
              <a:extLst>
                <a:ext uri="{FF2B5EF4-FFF2-40B4-BE49-F238E27FC236}">
                  <a16:creationId xmlns:a16="http://schemas.microsoft.com/office/drawing/2014/main" id="{72181E53-A37A-4BA2-A42F-ED22D626F593}"/>
                </a:ext>
              </a:extLst>
            </p:cNvPr>
            <p:cNvSpPr/>
            <p:nvPr/>
          </p:nvSpPr>
          <p:spPr>
            <a:xfrm>
              <a:off x="343988" y="1381877"/>
              <a:ext cx="726170" cy="2904673"/>
            </a:xfrm>
            <a:prstGeom prst="rect">
              <a:avLst/>
            </a:pr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11" name="Image 0" descr="preencoded.png">
              <a:extLst>
                <a:ext uri="{FF2B5EF4-FFF2-40B4-BE49-F238E27FC236}">
                  <a16:creationId xmlns:a16="http://schemas.microsoft.com/office/drawing/2014/main" id="{0374FE5C-E641-4586-99CD-219226FC1A22}"/>
                </a:ext>
              </a:extLst>
            </p:cNvPr>
            <p:cNvPicPr>
              <a:picLocks noChangeAspect="1"/>
            </p:cNvPicPr>
            <p:nvPr/>
          </p:nvPicPr>
          <p:blipFill>
            <a:blip r:embed="rId3"/>
            <a:stretch>
              <a:fillRect/>
            </a:stretch>
          </p:blipFill>
          <p:spPr>
            <a:xfrm>
              <a:off x="489222" y="2471129"/>
              <a:ext cx="435702" cy="435702"/>
            </a:xfrm>
            <a:prstGeom prst="rect">
              <a:avLst/>
            </a:prstGeom>
            <a:noFill/>
            <a:ln cap="flat">
              <a:noFill/>
            </a:ln>
          </p:spPr>
        </p:pic>
        <p:sp>
          <p:nvSpPr>
            <p:cNvPr id="12" name="Text 6">
              <a:extLst>
                <a:ext uri="{FF2B5EF4-FFF2-40B4-BE49-F238E27FC236}">
                  <a16:creationId xmlns:a16="http://schemas.microsoft.com/office/drawing/2014/main" id="{2FC497CA-ED7D-4B58-ABCD-D9827292BC3E}"/>
                </a:ext>
              </a:extLst>
            </p:cNvPr>
            <p:cNvSpPr/>
            <p:nvPr/>
          </p:nvSpPr>
          <p:spPr>
            <a:xfrm>
              <a:off x="1288005" y="1527112"/>
              <a:ext cx="5664104" cy="55188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pitchFamily="34"/>
                  <a:ea typeface="Calibri" pitchFamily="34"/>
                  <a:cs typeface="Calibri" pitchFamily="34"/>
                </a:rPr>
                <a:t>Technologies</a:t>
              </a:r>
              <a:endParaRPr lang="en-US" sz="2800" b="0" i="0" u="none" strike="noStrike" kern="1200" cap="none" spc="0" baseline="0">
                <a:solidFill>
                  <a:srgbClr val="000000"/>
                </a:solidFill>
                <a:uFillTx/>
                <a:latin typeface="Aptos"/>
              </a:endParaRPr>
            </a:p>
          </p:txBody>
        </p:sp>
        <p:sp>
          <p:nvSpPr>
            <p:cNvPr id="13" name="Text 7">
              <a:extLst>
                <a:ext uri="{FF2B5EF4-FFF2-40B4-BE49-F238E27FC236}">
                  <a16:creationId xmlns:a16="http://schemas.microsoft.com/office/drawing/2014/main" id="{676F7525-62B4-4099-9641-A71BC4D407F2}"/>
                </a:ext>
              </a:extLst>
            </p:cNvPr>
            <p:cNvSpPr/>
            <p:nvPr/>
          </p:nvSpPr>
          <p:spPr>
            <a:xfrm>
              <a:off x="1288005" y="2108048"/>
              <a:ext cx="5664104" cy="2033268"/>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pitchFamily="34"/>
                  <a:ea typeface="Calibri" pitchFamily="34"/>
                  <a:cs typeface="Calibri" pitchFamily="34"/>
                </a:rPr>
                <a:t> </a:t>
              </a:r>
              <a:r>
                <a:rPr lang="en-US" sz="2000" b="0" i="0" u="none" strike="noStrike" kern="1200" cap="none" spc="0" baseline="0">
                  <a:solidFill>
                    <a:srgbClr val="000000"/>
                  </a:solidFill>
                  <a:uFillTx/>
                  <a:latin typeface="Aptos"/>
                </a:rPr>
                <a:t>The system utilizes deep learning models, specifically fine-tuned RoBERTa for text classification and CodeBERT for code analysis. It is implemented using Python, PyTorch, and Hugging Face Transformers, with spaCy for NLP preprocessing and MongoDB for structured data storage.</a:t>
              </a:r>
            </a:p>
          </p:txBody>
        </p:sp>
        <p:sp>
          <p:nvSpPr>
            <p:cNvPr id="14" name="Shape 8">
              <a:extLst>
                <a:ext uri="{FF2B5EF4-FFF2-40B4-BE49-F238E27FC236}">
                  <a16:creationId xmlns:a16="http://schemas.microsoft.com/office/drawing/2014/main" id="{34962B95-2DCD-4051-9ED5-745EB6EF577E}"/>
                </a:ext>
              </a:extLst>
            </p:cNvPr>
            <p:cNvSpPr/>
            <p:nvPr/>
          </p:nvSpPr>
          <p:spPr>
            <a:xfrm>
              <a:off x="7460434" y="1381877"/>
              <a:ext cx="6825977" cy="2904673"/>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15" name="Shape 9">
              <a:extLst>
                <a:ext uri="{FF2B5EF4-FFF2-40B4-BE49-F238E27FC236}">
                  <a16:creationId xmlns:a16="http://schemas.microsoft.com/office/drawing/2014/main" id="{35A43324-DA2E-45A5-A084-57808E7EAB03}"/>
                </a:ext>
              </a:extLst>
            </p:cNvPr>
            <p:cNvSpPr/>
            <p:nvPr/>
          </p:nvSpPr>
          <p:spPr>
            <a:xfrm>
              <a:off x="7460434" y="1381877"/>
              <a:ext cx="726170" cy="2904673"/>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16" name="Image 1" descr="preencoded.png">
              <a:extLst>
                <a:ext uri="{FF2B5EF4-FFF2-40B4-BE49-F238E27FC236}">
                  <a16:creationId xmlns:a16="http://schemas.microsoft.com/office/drawing/2014/main" id="{0A964990-E4C3-4570-BF3B-4D999780B797}"/>
                </a:ext>
              </a:extLst>
            </p:cNvPr>
            <p:cNvPicPr>
              <a:picLocks noChangeAspect="1"/>
            </p:cNvPicPr>
            <p:nvPr/>
          </p:nvPicPr>
          <p:blipFill>
            <a:blip r:embed="rId4"/>
            <a:stretch>
              <a:fillRect/>
            </a:stretch>
          </p:blipFill>
          <p:spPr>
            <a:xfrm>
              <a:off x="7605668" y="2471129"/>
              <a:ext cx="435702" cy="435702"/>
            </a:xfrm>
            <a:prstGeom prst="rect">
              <a:avLst/>
            </a:prstGeom>
            <a:noFill/>
            <a:ln cap="flat">
              <a:noFill/>
            </a:ln>
          </p:spPr>
        </p:pic>
        <p:sp>
          <p:nvSpPr>
            <p:cNvPr id="17" name="Text 10">
              <a:extLst>
                <a:ext uri="{FF2B5EF4-FFF2-40B4-BE49-F238E27FC236}">
                  <a16:creationId xmlns:a16="http://schemas.microsoft.com/office/drawing/2014/main" id="{7DDF6889-6653-44BD-A8A0-A3B8B29AC868}"/>
                </a:ext>
              </a:extLst>
            </p:cNvPr>
            <p:cNvSpPr/>
            <p:nvPr/>
          </p:nvSpPr>
          <p:spPr>
            <a:xfrm>
              <a:off x="8404451" y="1527112"/>
              <a:ext cx="5664104" cy="55188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pitchFamily="34"/>
                  <a:ea typeface="Calibri" pitchFamily="34"/>
                  <a:cs typeface="Calibri" pitchFamily="34"/>
                </a:rPr>
                <a:t>Methodology</a:t>
              </a:r>
              <a:endParaRPr lang="en-US" sz="2800" b="0" i="0" u="none" strike="noStrike" kern="1200" cap="none" spc="0" baseline="0">
                <a:solidFill>
                  <a:srgbClr val="000000"/>
                </a:solidFill>
                <a:uFillTx/>
                <a:latin typeface="Aptos"/>
              </a:endParaRPr>
            </a:p>
          </p:txBody>
        </p:sp>
        <p:sp>
          <p:nvSpPr>
            <p:cNvPr id="18" name="Text 11">
              <a:extLst>
                <a:ext uri="{FF2B5EF4-FFF2-40B4-BE49-F238E27FC236}">
                  <a16:creationId xmlns:a16="http://schemas.microsoft.com/office/drawing/2014/main" id="{E878AC9F-5632-41E8-BF9F-6BCAF331281A}"/>
                </a:ext>
              </a:extLst>
            </p:cNvPr>
            <p:cNvSpPr/>
            <p:nvPr/>
          </p:nvSpPr>
          <p:spPr>
            <a:xfrm>
              <a:off x="8404451" y="2108048"/>
              <a:ext cx="5664104" cy="2033268"/>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Aptos"/>
                </a:rPr>
                <a:t>Following a Design Science Research (DSR) approach, the framework operates through a pipeline of text extraction, semantic proficiency classification, optional GitHub hybrid validation, and proficiency-weighted Cosine Similarity matching against scraped job data.</a:t>
              </a:r>
            </a:p>
          </p:txBody>
        </p:sp>
        <p:sp>
          <p:nvSpPr>
            <p:cNvPr id="19" name="Shape 12">
              <a:extLst>
                <a:ext uri="{FF2B5EF4-FFF2-40B4-BE49-F238E27FC236}">
                  <a16:creationId xmlns:a16="http://schemas.microsoft.com/office/drawing/2014/main" id="{246A0388-3798-4826-93C0-58AE9D3CF6A6}"/>
                </a:ext>
              </a:extLst>
            </p:cNvPr>
            <p:cNvSpPr/>
            <p:nvPr/>
          </p:nvSpPr>
          <p:spPr>
            <a:xfrm>
              <a:off x="343988" y="4577020"/>
              <a:ext cx="6825977" cy="2904673"/>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20" name="Shape 13">
              <a:extLst>
                <a:ext uri="{FF2B5EF4-FFF2-40B4-BE49-F238E27FC236}">
                  <a16:creationId xmlns:a16="http://schemas.microsoft.com/office/drawing/2014/main" id="{B5C00A7F-00B5-462A-B58F-864B533A8ACD}"/>
                </a:ext>
              </a:extLst>
            </p:cNvPr>
            <p:cNvSpPr/>
            <p:nvPr/>
          </p:nvSpPr>
          <p:spPr>
            <a:xfrm>
              <a:off x="343988" y="4577020"/>
              <a:ext cx="726170" cy="2904673"/>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21" name="Image 2" descr="preencoded.png">
              <a:extLst>
                <a:ext uri="{FF2B5EF4-FFF2-40B4-BE49-F238E27FC236}">
                  <a16:creationId xmlns:a16="http://schemas.microsoft.com/office/drawing/2014/main" id="{F99925B2-184B-449D-8972-945E37C08445}"/>
                </a:ext>
              </a:extLst>
            </p:cNvPr>
            <p:cNvPicPr>
              <a:picLocks noChangeAspect="1"/>
            </p:cNvPicPr>
            <p:nvPr/>
          </p:nvPicPr>
          <p:blipFill>
            <a:blip r:embed="rId5"/>
            <a:stretch>
              <a:fillRect/>
            </a:stretch>
          </p:blipFill>
          <p:spPr>
            <a:xfrm>
              <a:off x="489222" y="5666271"/>
              <a:ext cx="435702" cy="435702"/>
            </a:xfrm>
            <a:prstGeom prst="rect">
              <a:avLst/>
            </a:prstGeom>
            <a:noFill/>
            <a:ln cap="flat">
              <a:noFill/>
            </a:ln>
          </p:spPr>
        </p:pic>
        <p:sp>
          <p:nvSpPr>
            <p:cNvPr id="22" name="Text 14">
              <a:extLst>
                <a:ext uri="{FF2B5EF4-FFF2-40B4-BE49-F238E27FC236}">
                  <a16:creationId xmlns:a16="http://schemas.microsoft.com/office/drawing/2014/main" id="{4FC4FA0E-CA40-4A56-A9B1-79FC041E7DD3}"/>
                </a:ext>
              </a:extLst>
            </p:cNvPr>
            <p:cNvSpPr/>
            <p:nvPr/>
          </p:nvSpPr>
          <p:spPr>
            <a:xfrm>
              <a:off x="1288005" y="4722254"/>
              <a:ext cx="5664104" cy="55188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pitchFamily="34"/>
                  <a:ea typeface="Calibri" pitchFamily="34"/>
                  <a:cs typeface="Calibri" pitchFamily="34"/>
                </a:rPr>
                <a:t>Validation &amp; Evaluation</a:t>
              </a:r>
              <a:endParaRPr lang="en-US" sz="2800" b="0" i="0" u="none" strike="noStrike" kern="1200" cap="none" spc="0" baseline="0">
                <a:solidFill>
                  <a:srgbClr val="000000"/>
                </a:solidFill>
                <a:uFillTx/>
                <a:latin typeface="Aptos"/>
              </a:endParaRPr>
            </a:p>
          </p:txBody>
        </p:sp>
        <p:sp>
          <p:nvSpPr>
            <p:cNvPr id="23" name="Text 15">
              <a:extLst>
                <a:ext uri="{FF2B5EF4-FFF2-40B4-BE49-F238E27FC236}">
                  <a16:creationId xmlns:a16="http://schemas.microsoft.com/office/drawing/2014/main" id="{23E49315-D7F4-4908-A5BD-FE952967B223}"/>
                </a:ext>
              </a:extLst>
            </p:cNvPr>
            <p:cNvSpPr/>
            <p:nvPr/>
          </p:nvSpPr>
          <p:spPr>
            <a:xfrm>
              <a:off x="1288005" y="5303181"/>
              <a:ext cx="5664104" cy="2033268"/>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pitchFamily="34"/>
                  <a:ea typeface="Calibri" pitchFamily="34"/>
                  <a:cs typeface="Calibri" pitchFamily="34"/>
                </a:rPr>
                <a:t> </a:t>
              </a:r>
              <a:endParaRPr lang="en-US" sz="2000" b="0" i="0" u="none" strike="noStrike" kern="1200" cap="none" spc="0" baseline="0">
                <a:solidFill>
                  <a:srgbClr val="000000"/>
                </a:solidFill>
                <a:uFillTx/>
                <a:latin typeface="Aptos"/>
              </a:endParaRPr>
            </a:p>
          </p:txBody>
        </p:sp>
        <p:sp>
          <p:nvSpPr>
            <p:cNvPr id="24" name="Shape 16">
              <a:extLst>
                <a:ext uri="{FF2B5EF4-FFF2-40B4-BE49-F238E27FC236}">
                  <a16:creationId xmlns:a16="http://schemas.microsoft.com/office/drawing/2014/main" id="{1C157F1B-B13A-48CA-A9C2-0016D6A8FB39}"/>
                </a:ext>
              </a:extLst>
            </p:cNvPr>
            <p:cNvSpPr/>
            <p:nvPr/>
          </p:nvSpPr>
          <p:spPr>
            <a:xfrm>
              <a:off x="7460434" y="4577020"/>
              <a:ext cx="6825977" cy="2904673"/>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25" name="Shape 17">
              <a:extLst>
                <a:ext uri="{FF2B5EF4-FFF2-40B4-BE49-F238E27FC236}">
                  <a16:creationId xmlns:a16="http://schemas.microsoft.com/office/drawing/2014/main" id="{436F63CA-A651-4425-8594-0ABFED0CBE81}"/>
                </a:ext>
              </a:extLst>
            </p:cNvPr>
            <p:cNvSpPr/>
            <p:nvPr/>
          </p:nvSpPr>
          <p:spPr>
            <a:xfrm>
              <a:off x="7460434" y="4577020"/>
              <a:ext cx="726170" cy="2904673"/>
            </a:xfrm>
            <a:prstGeom prst="rect">
              <a:avLst/>
            </a:prstGeom>
            <a:solidFill>
              <a:srgbClr val="7C3AE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pic>
          <p:nvPicPr>
            <p:cNvPr id="26" name="Image 3" descr="preencoded.png">
              <a:extLst>
                <a:ext uri="{FF2B5EF4-FFF2-40B4-BE49-F238E27FC236}">
                  <a16:creationId xmlns:a16="http://schemas.microsoft.com/office/drawing/2014/main" id="{8BAB5155-920E-4FA8-8AF2-450F5AA04460}"/>
                </a:ext>
              </a:extLst>
            </p:cNvPr>
            <p:cNvPicPr>
              <a:picLocks noChangeAspect="1"/>
            </p:cNvPicPr>
            <p:nvPr/>
          </p:nvPicPr>
          <p:blipFill>
            <a:blip r:embed="rId6"/>
            <a:stretch>
              <a:fillRect/>
            </a:stretch>
          </p:blipFill>
          <p:spPr>
            <a:xfrm>
              <a:off x="7605668" y="5666271"/>
              <a:ext cx="435702" cy="435702"/>
            </a:xfrm>
            <a:prstGeom prst="rect">
              <a:avLst/>
            </a:prstGeom>
            <a:noFill/>
            <a:ln cap="flat">
              <a:noFill/>
            </a:ln>
          </p:spPr>
        </p:pic>
        <p:sp>
          <p:nvSpPr>
            <p:cNvPr id="27" name="Text 18">
              <a:extLst>
                <a:ext uri="{FF2B5EF4-FFF2-40B4-BE49-F238E27FC236}">
                  <a16:creationId xmlns:a16="http://schemas.microsoft.com/office/drawing/2014/main" id="{E0C6F84E-FFAF-4262-A3D0-25EE76317B82}"/>
                </a:ext>
              </a:extLst>
            </p:cNvPr>
            <p:cNvSpPr/>
            <p:nvPr/>
          </p:nvSpPr>
          <p:spPr>
            <a:xfrm>
              <a:off x="8404451" y="4722254"/>
              <a:ext cx="5664104" cy="55188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pitchFamily="34"/>
                  <a:ea typeface="Calibri" pitchFamily="34"/>
                  <a:cs typeface="Calibri" pitchFamily="34"/>
                </a:rPr>
                <a:t>Data &amp; Ethics</a:t>
              </a:r>
              <a:endParaRPr lang="en-US" sz="2800" b="0" i="0" u="none" strike="noStrike" kern="1200" cap="none" spc="0" baseline="0">
                <a:solidFill>
                  <a:srgbClr val="000000"/>
                </a:solidFill>
                <a:uFillTx/>
                <a:latin typeface="Aptos"/>
              </a:endParaRPr>
            </a:p>
          </p:txBody>
        </p:sp>
        <p:sp>
          <p:nvSpPr>
            <p:cNvPr id="28" name="Text 19">
              <a:extLst>
                <a:ext uri="{FF2B5EF4-FFF2-40B4-BE49-F238E27FC236}">
                  <a16:creationId xmlns:a16="http://schemas.microsoft.com/office/drawing/2014/main" id="{E29E5EBD-0234-411C-9827-A1E355051FAE}"/>
                </a:ext>
              </a:extLst>
            </p:cNvPr>
            <p:cNvSpPr/>
            <p:nvPr/>
          </p:nvSpPr>
          <p:spPr>
            <a:xfrm>
              <a:off x="8404451" y="5303181"/>
              <a:ext cx="5664104" cy="2033268"/>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pitchFamily="34"/>
                  <a:ea typeface="Calibri" pitchFamily="34"/>
                  <a:cs typeface="Calibri" pitchFamily="34"/>
                </a:rPr>
                <a:t>The system mainly uses letter templates and user interaction data for tracing activities. Any feedback or survey data collected will be kept confidential. Ethical guidelines are followed when collecting feedback from users.</a:t>
              </a:r>
              <a:endParaRPr lang="en-US" sz="2000" b="0" i="0" u="none" strike="noStrike" kern="1200" cap="none" spc="0" baseline="0">
                <a:solidFill>
                  <a:srgbClr val="000000"/>
                </a:solidFill>
                <a:uFillTx/>
                <a:latin typeface="Aptos"/>
              </a:endParaRPr>
            </a:p>
          </p:txBody>
        </p:sp>
      </p:grpSp>
      <p:sp>
        <p:nvSpPr>
          <p:cNvPr id="29" name="TextBox 3">
            <a:extLst>
              <a:ext uri="{FF2B5EF4-FFF2-40B4-BE49-F238E27FC236}">
                <a16:creationId xmlns:a16="http://schemas.microsoft.com/office/drawing/2014/main" id="{EEE475EC-DADF-4135-95CF-006C46C59ECC}"/>
              </a:ext>
            </a:extLst>
          </p:cNvPr>
          <p:cNvSpPr txBox="1"/>
          <p:nvPr/>
        </p:nvSpPr>
        <p:spPr>
          <a:xfrm>
            <a:off x="1110136" y="5084329"/>
            <a:ext cx="6059829" cy="224677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 </a:t>
            </a:r>
            <a:r>
              <a:rPr lang="en-US" sz="2000" b="0" i="0" u="none" strike="noStrike" kern="1200" cap="none" spc="0" baseline="0">
                <a:solidFill>
                  <a:srgbClr val="000000"/>
                </a:solidFill>
                <a:uFillTx/>
                <a:latin typeface="Aptos"/>
              </a:rPr>
              <a:t>Performance is assessed via classification accuracy and model reliability. Proficiency levels and match scores are validated against expert annotations to ensure technical precision. Findings are cross-referenced with historical job data for real-world alignment and benchmarked against local research to verify superior technical depth assessment.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46">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B5E3E96-280C-400F-89CC-491447DF5B2B}"/>
              </a:ext>
            </a:extLst>
          </p:cNvPr>
          <p:cNvSpPr/>
          <p:nvPr/>
        </p:nvSpPr>
        <p:spPr>
          <a:xfrm>
            <a:off x="793790" y="439442"/>
            <a:ext cx="10214177" cy="67511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50164A"/>
                </a:solidFill>
                <a:uFillTx/>
                <a:latin typeface="Aptos"/>
              </a:rPr>
              <a:t>Hybrid Proficiency Validation Framework</a:t>
            </a:r>
            <a:endParaRPr lang="en-US" sz="3600" b="1" i="0" u="none" strike="noStrike" kern="1200" cap="none" spc="0" baseline="0">
              <a:solidFill>
                <a:srgbClr val="50164A"/>
              </a:solidFill>
              <a:uFillTx/>
              <a:latin typeface="Aptos"/>
            </a:endParaRPr>
          </a:p>
        </p:txBody>
      </p:sp>
      <p:grpSp>
        <p:nvGrpSpPr>
          <p:cNvPr id="3" name="Group 9">
            <a:extLst>
              <a:ext uri="{FF2B5EF4-FFF2-40B4-BE49-F238E27FC236}">
                <a16:creationId xmlns:a16="http://schemas.microsoft.com/office/drawing/2014/main" id="{414EDFB6-D1CD-4C8E-8ECD-95E7ABBAC2E2}"/>
              </a:ext>
            </a:extLst>
          </p:cNvPr>
          <p:cNvGrpSpPr/>
          <p:nvPr/>
        </p:nvGrpSpPr>
        <p:grpSpPr>
          <a:xfrm>
            <a:off x="0" y="7649733"/>
            <a:ext cx="14633225" cy="888567"/>
            <a:chOff x="0" y="7649733"/>
            <a:chExt cx="14633225" cy="888567"/>
          </a:xfrm>
        </p:grpSpPr>
        <p:sp>
          <p:nvSpPr>
            <p:cNvPr id="4" name="Rectangle 10">
              <a:extLst>
                <a:ext uri="{FF2B5EF4-FFF2-40B4-BE49-F238E27FC236}">
                  <a16:creationId xmlns:a16="http://schemas.microsoft.com/office/drawing/2014/main" id="{BAD9F621-F498-457A-A7D2-3F06C4C8D2B5}"/>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F9ED5"/>
                </a:solidFill>
                <a:uFillTx/>
                <a:latin typeface="Aptos"/>
              </a:endParaRPr>
            </a:p>
          </p:txBody>
        </p:sp>
        <p:sp>
          <p:nvSpPr>
            <p:cNvPr id="5" name="Rectangle 11">
              <a:extLst>
                <a:ext uri="{FF2B5EF4-FFF2-40B4-BE49-F238E27FC236}">
                  <a16:creationId xmlns:a16="http://schemas.microsoft.com/office/drawing/2014/main" id="{B78DFE16-5103-4DFB-A88A-AD063627B2CC}"/>
                </a:ext>
              </a:extLst>
            </p:cNvPr>
            <p:cNvSpPr/>
            <p:nvPr/>
          </p:nvSpPr>
          <p:spPr>
            <a:xfrm>
              <a:off x="0" y="801591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 IT22091802 | </a:t>
              </a:r>
              <a:r>
                <a:rPr lang="en-US" sz="1800" b="1" i="0" u="none" strike="noStrike" kern="1200" cap="none" spc="0" baseline="0">
                  <a:solidFill>
                    <a:srgbClr val="2C2926"/>
                  </a:solidFill>
                  <a:uFillTx/>
                  <a:latin typeface="Aptos"/>
                  <a:ea typeface="Inter" pitchFamily="34"/>
                  <a:cs typeface="Inter" pitchFamily="34"/>
                </a:rPr>
                <a:t>PRASADI R.D.S</a:t>
              </a:r>
              <a:r>
                <a:rPr lang="en-US" sz="1800" b="1" i="0" u="none" strike="noStrike" kern="1200" cap="none" spc="0" baseline="0">
                  <a:solidFill>
                    <a:srgbClr val="000000"/>
                  </a:solidFill>
                  <a:uFillTx/>
                  <a:latin typeface="Aptos"/>
                </a:rPr>
                <a:t> | R26-IT-128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1" i="0" u="none" strike="noStrike" kern="1200" cap="none" spc="0" baseline="0">
                <a:solidFill>
                  <a:srgbClr val="000000"/>
                </a:solidFill>
                <a:uFillTx/>
                <a:latin typeface="Aptos"/>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Aptos"/>
              </a:endParaRPr>
            </a:p>
          </p:txBody>
        </p:sp>
        <p:pic>
          <p:nvPicPr>
            <p:cNvPr id="6" name="Picture 12">
              <a:extLst>
                <a:ext uri="{FF2B5EF4-FFF2-40B4-BE49-F238E27FC236}">
                  <a16:creationId xmlns:a16="http://schemas.microsoft.com/office/drawing/2014/main" id="{5D88622F-AE77-4108-882B-D888996A4211}"/>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13">
              <a:extLst>
                <a:ext uri="{FF2B5EF4-FFF2-40B4-BE49-F238E27FC236}">
                  <a16:creationId xmlns:a16="http://schemas.microsoft.com/office/drawing/2014/main" id="{D4690518-443E-4E7F-B3E8-0E3FAFF397B3}"/>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Aptos"/>
                </a:rPr>
                <a:t>16/3/2026</a:t>
              </a:r>
              <a:endParaRPr lang="en-US" sz="1200" b="1" i="0" u="none" strike="noStrike" kern="1200" cap="none" spc="0" baseline="0">
                <a:solidFill>
                  <a:srgbClr val="000000"/>
                </a:solidFill>
                <a:uFillTx/>
                <a:latin typeface="Aptos"/>
              </a:endParaRPr>
            </a:p>
          </p:txBody>
        </p:sp>
      </p:grpSp>
      <p:grpSp>
        <p:nvGrpSpPr>
          <p:cNvPr id="8" name="Group 29">
            <a:extLst>
              <a:ext uri="{FF2B5EF4-FFF2-40B4-BE49-F238E27FC236}">
                <a16:creationId xmlns:a16="http://schemas.microsoft.com/office/drawing/2014/main" id="{D15C06E6-952B-45D4-A350-2177683B9107}"/>
              </a:ext>
            </a:extLst>
          </p:cNvPr>
          <p:cNvGrpSpPr/>
          <p:nvPr/>
        </p:nvGrpSpPr>
        <p:grpSpPr>
          <a:xfrm>
            <a:off x="6883648" y="1635367"/>
            <a:ext cx="6609328" cy="5096628"/>
            <a:chOff x="6883648" y="1635367"/>
            <a:chExt cx="6609328" cy="5096628"/>
          </a:xfrm>
        </p:grpSpPr>
        <p:sp>
          <p:nvSpPr>
            <p:cNvPr id="9" name="Shape 5">
              <a:extLst>
                <a:ext uri="{FF2B5EF4-FFF2-40B4-BE49-F238E27FC236}">
                  <a16:creationId xmlns:a16="http://schemas.microsoft.com/office/drawing/2014/main" id="{1FF3BF80-3509-44C9-83A5-44CC84E8348E}"/>
                </a:ext>
              </a:extLst>
            </p:cNvPr>
            <p:cNvSpPr/>
            <p:nvPr/>
          </p:nvSpPr>
          <p:spPr>
            <a:xfrm>
              <a:off x="6883648" y="1635367"/>
              <a:ext cx="6609328" cy="1631929"/>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10" name="Shape 6">
              <a:extLst>
                <a:ext uri="{FF2B5EF4-FFF2-40B4-BE49-F238E27FC236}">
                  <a16:creationId xmlns:a16="http://schemas.microsoft.com/office/drawing/2014/main" id="{C9BD83FA-76F1-4768-B1E9-6A90D16317BB}"/>
                </a:ext>
              </a:extLst>
            </p:cNvPr>
            <p:cNvSpPr/>
            <p:nvPr/>
          </p:nvSpPr>
          <p:spPr>
            <a:xfrm>
              <a:off x="6883648" y="1635367"/>
              <a:ext cx="660937" cy="1631929"/>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11" name="Text 7">
              <a:extLst>
                <a:ext uri="{FF2B5EF4-FFF2-40B4-BE49-F238E27FC236}">
                  <a16:creationId xmlns:a16="http://schemas.microsoft.com/office/drawing/2014/main" id="{96375F23-CF8F-463F-9DCF-CDE3597E460F}"/>
                </a:ext>
              </a:extLst>
            </p:cNvPr>
            <p:cNvSpPr/>
            <p:nvPr/>
          </p:nvSpPr>
          <p:spPr>
            <a:xfrm>
              <a:off x="6923306" y="2137501"/>
              <a:ext cx="581622" cy="62766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01</a:t>
              </a:r>
              <a:endParaRPr lang="en-US" sz="1400" b="0" i="0" u="none" strike="noStrike" kern="1200" cap="none" spc="0" baseline="0">
                <a:solidFill>
                  <a:srgbClr val="000000"/>
                </a:solidFill>
                <a:uFillTx/>
                <a:latin typeface="Aptos"/>
              </a:endParaRPr>
            </a:p>
          </p:txBody>
        </p:sp>
        <p:sp>
          <p:nvSpPr>
            <p:cNvPr id="12" name="Text 8">
              <a:extLst>
                <a:ext uri="{FF2B5EF4-FFF2-40B4-BE49-F238E27FC236}">
                  <a16:creationId xmlns:a16="http://schemas.microsoft.com/office/drawing/2014/main" id="{67E058B6-35CA-482E-B04D-A1BA272EBB51}"/>
                </a:ext>
              </a:extLst>
            </p:cNvPr>
            <p:cNvSpPr/>
            <p:nvPr/>
          </p:nvSpPr>
          <p:spPr>
            <a:xfrm>
              <a:off x="7676762" y="1760896"/>
              <a:ext cx="5684020" cy="43936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System Overview</a:t>
              </a:r>
              <a:endParaRPr lang="en-US" sz="2000" b="0" i="0" u="none" strike="noStrike" kern="1200" cap="none" spc="0" baseline="0">
                <a:solidFill>
                  <a:srgbClr val="000000"/>
                </a:solidFill>
                <a:uFillTx/>
                <a:latin typeface="Aptos"/>
              </a:endParaRPr>
            </a:p>
          </p:txBody>
        </p:sp>
        <p:sp>
          <p:nvSpPr>
            <p:cNvPr id="13" name="Text 9">
              <a:extLst>
                <a:ext uri="{FF2B5EF4-FFF2-40B4-BE49-F238E27FC236}">
                  <a16:creationId xmlns:a16="http://schemas.microsoft.com/office/drawing/2014/main" id="{82E47D97-DCA4-4DCD-91B1-957CD3846042}"/>
                </a:ext>
              </a:extLst>
            </p:cNvPr>
            <p:cNvSpPr/>
            <p:nvPr/>
          </p:nvSpPr>
          <p:spPr>
            <a:xfrm>
              <a:off x="7676762" y="2237920"/>
              <a:ext cx="5684020" cy="941493"/>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0" i="0" u="none" strike="noStrike" kern="1200" cap="none" spc="0" baseline="0">
                  <a:solidFill>
                    <a:srgbClr val="4A5568"/>
                  </a:solidFill>
                  <a:uFillTx/>
                  <a:latin typeface="Calibri" pitchFamily="34"/>
                  <a:ea typeface="Calibri" pitchFamily="34"/>
                  <a:cs typeface="Calibri" pitchFamily="34"/>
                </a:rPr>
                <a:t> </a:t>
              </a:r>
              <a:r>
                <a:rPr lang="en-US" sz="1600" b="0" i="0" u="none" strike="noStrike" kern="1200" cap="none" spc="0" baseline="0">
                  <a:solidFill>
                    <a:srgbClr val="000000"/>
                  </a:solidFill>
                  <a:uFillTx/>
                  <a:latin typeface="Aptos"/>
                </a:rPr>
                <a:t>The framework processes CV project descriptions to identify technical complexity and action verbs, translating them into tiered proficiency scores. It optionally integrates GitHub signals to boost confidence before calculating a final weighted job-fit percentage.</a:t>
              </a:r>
              <a:endParaRPr lang="en-US" sz="1500" b="0" i="0" u="none" strike="noStrike" kern="1200" cap="none" spc="0" baseline="0">
                <a:solidFill>
                  <a:srgbClr val="000000"/>
                </a:solidFill>
                <a:uFillTx/>
                <a:latin typeface="Aptos"/>
              </a:endParaRPr>
            </a:p>
          </p:txBody>
        </p:sp>
        <p:sp>
          <p:nvSpPr>
            <p:cNvPr id="14" name="Shape 10">
              <a:extLst>
                <a:ext uri="{FF2B5EF4-FFF2-40B4-BE49-F238E27FC236}">
                  <a16:creationId xmlns:a16="http://schemas.microsoft.com/office/drawing/2014/main" id="{CD6D721C-F460-4512-B0C3-62611AEDA184}"/>
                </a:ext>
              </a:extLst>
            </p:cNvPr>
            <p:cNvSpPr/>
            <p:nvPr/>
          </p:nvSpPr>
          <p:spPr>
            <a:xfrm>
              <a:off x="6883648" y="3367716"/>
              <a:ext cx="6609328" cy="1631929"/>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15" name="Shape 11">
              <a:extLst>
                <a:ext uri="{FF2B5EF4-FFF2-40B4-BE49-F238E27FC236}">
                  <a16:creationId xmlns:a16="http://schemas.microsoft.com/office/drawing/2014/main" id="{C05CB5D2-F785-494A-B03B-4F625B16886F}"/>
                </a:ext>
              </a:extLst>
            </p:cNvPr>
            <p:cNvSpPr/>
            <p:nvPr/>
          </p:nvSpPr>
          <p:spPr>
            <a:xfrm>
              <a:off x="6883648" y="3367716"/>
              <a:ext cx="660937" cy="1631929"/>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16" name="Text 12">
              <a:extLst>
                <a:ext uri="{FF2B5EF4-FFF2-40B4-BE49-F238E27FC236}">
                  <a16:creationId xmlns:a16="http://schemas.microsoft.com/office/drawing/2014/main" id="{AE313299-A1C7-467B-AB96-B633F7B02B10}"/>
                </a:ext>
              </a:extLst>
            </p:cNvPr>
            <p:cNvSpPr/>
            <p:nvPr/>
          </p:nvSpPr>
          <p:spPr>
            <a:xfrm>
              <a:off x="6923306" y="3869850"/>
              <a:ext cx="581622" cy="62766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02</a:t>
              </a:r>
              <a:endParaRPr lang="en-US" sz="1400" b="0" i="0" u="none" strike="noStrike" kern="1200" cap="none" spc="0" baseline="0">
                <a:solidFill>
                  <a:srgbClr val="000000"/>
                </a:solidFill>
                <a:uFillTx/>
                <a:latin typeface="Aptos"/>
              </a:endParaRPr>
            </a:p>
          </p:txBody>
        </p:sp>
        <p:sp>
          <p:nvSpPr>
            <p:cNvPr id="17" name="Text 13">
              <a:extLst>
                <a:ext uri="{FF2B5EF4-FFF2-40B4-BE49-F238E27FC236}">
                  <a16:creationId xmlns:a16="http://schemas.microsoft.com/office/drawing/2014/main" id="{DB18229E-7B41-4554-B39B-78A7115B5A5E}"/>
                </a:ext>
              </a:extLst>
            </p:cNvPr>
            <p:cNvSpPr/>
            <p:nvPr/>
          </p:nvSpPr>
          <p:spPr>
            <a:xfrm>
              <a:off x="7676762" y="3493254"/>
              <a:ext cx="5684020" cy="43936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Dependencies</a:t>
              </a:r>
              <a:endParaRPr lang="en-US" sz="2000" b="0" i="0" u="none" strike="noStrike" kern="1200" cap="none" spc="0" baseline="0">
                <a:solidFill>
                  <a:srgbClr val="000000"/>
                </a:solidFill>
                <a:uFillTx/>
                <a:latin typeface="Aptos"/>
              </a:endParaRPr>
            </a:p>
          </p:txBody>
        </p:sp>
        <p:sp>
          <p:nvSpPr>
            <p:cNvPr id="18" name="Text 14">
              <a:extLst>
                <a:ext uri="{FF2B5EF4-FFF2-40B4-BE49-F238E27FC236}">
                  <a16:creationId xmlns:a16="http://schemas.microsoft.com/office/drawing/2014/main" id="{B221110D-38E2-4026-9DAA-603D5F73B8B1}"/>
                </a:ext>
              </a:extLst>
            </p:cNvPr>
            <p:cNvSpPr/>
            <p:nvPr/>
          </p:nvSpPr>
          <p:spPr>
            <a:xfrm>
              <a:off x="7676762" y="3970279"/>
              <a:ext cx="5684020" cy="941493"/>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0" i="0" u="none" strike="noStrike" kern="1200" cap="none" spc="0" baseline="0">
                  <a:solidFill>
                    <a:srgbClr val="4A5568"/>
                  </a:solidFill>
                  <a:uFillTx/>
                  <a:latin typeface="Calibri" pitchFamily="34"/>
                  <a:ea typeface="Calibri" pitchFamily="34"/>
                  <a:cs typeface="Calibri" pitchFamily="34"/>
                </a:rPr>
                <a:t> </a:t>
              </a:r>
              <a:r>
                <a:rPr lang="en-US" sz="1600" b="0" i="0" u="none" strike="noStrike" kern="1200" cap="none" spc="0" baseline="0">
                  <a:solidFill>
                    <a:srgbClr val="000000"/>
                  </a:solidFill>
                  <a:uFillTx/>
                  <a:latin typeface="Aptos"/>
                </a:rPr>
                <a:t>Execution relies on accurate PDF text extraction from varied resume formats and stable access to the GitHub API. It also requires a reliable web scraper for fetching live job requirements from local platforms such as TopJobs.lk and Xpress.jobs.</a:t>
              </a:r>
              <a:endParaRPr lang="en-US" sz="1500" b="0" i="0" u="none" strike="noStrike" kern="1200" cap="none" spc="0" baseline="0">
                <a:solidFill>
                  <a:srgbClr val="000000"/>
                </a:solidFill>
                <a:uFillTx/>
                <a:latin typeface="Aptos"/>
              </a:endParaRPr>
            </a:p>
          </p:txBody>
        </p:sp>
        <p:sp>
          <p:nvSpPr>
            <p:cNvPr id="19" name="Shape 15">
              <a:extLst>
                <a:ext uri="{FF2B5EF4-FFF2-40B4-BE49-F238E27FC236}">
                  <a16:creationId xmlns:a16="http://schemas.microsoft.com/office/drawing/2014/main" id="{60666F42-885A-4958-A798-42029285C3E9}"/>
                </a:ext>
              </a:extLst>
            </p:cNvPr>
            <p:cNvSpPr/>
            <p:nvPr/>
          </p:nvSpPr>
          <p:spPr>
            <a:xfrm>
              <a:off x="6883648" y="5100066"/>
              <a:ext cx="6609328" cy="1631929"/>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20" name="Shape 16">
              <a:extLst>
                <a:ext uri="{FF2B5EF4-FFF2-40B4-BE49-F238E27FC236}">
                  <a16:creationId xmlns:a16="http://schemas.microsoft.com/office/drawing/2014/main" id="{C38B2178-D52D-458A-A1FB-9CA6F0161B75}"/>
                </a:ext>
              </a:extLst>
            </p:cNvPr>
            <p:cNvSpPr/>
            <p:nvPr/>
          </p:nvSpPr>
          <p:spPr>
            <a:xfrm>
              <a:off x="6883648" y="5100066"/>
              <a:ext cx="660937" cy="1631929"/>
            </a:xfrm>
            <a:prstGeom prst="rect">
              <a:avLst/>
            </a:prstGeom>
            <a:solidFill>
              <a:srgbClr val="0891B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21" name="Text 17">
              <a:extLst>
                <a:ext uri="{FF2B5EF4-FFF2-40B4-BE49-F238E27FC236}">
                  <a16:creationId xmlns:a16="http://schemas.microsoft.com/office/drawing/2014/main" id="{D4B15AAA-C1E0-4E66-97B4-A204C70DB558}"/>
                </a:ext>
              </a:extLst>
            </p:cNvPr>
            <p:cNvSpPr/>
            <p:nvPr/>
          </p:nvSpPr>
          <p:spPr>
            <a:xfrm>
              <a:off x="6923306" y="5602199"/>
              <a:ext cx="581622" cy="62766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03</a:t>
              </a:r>
              <a:endParaRPr lang="en-US" sz="1400" b="0" i="0" u="none" strike="noStrike" kern="1200" cap="none" spc="0" baseline="0">
                <a:solidFill>
                  <a:srgbClr val="000000"/>
                </a:solidFill>
                <a:uFillTx/>
                <a:latin typeface="Aptos"/>
              </a:endParaRPr>
            </a:p>
          </p:txBody>
        </p:sp>
        <p:sp>
          <p:nvSpPr>
            <p:cNvPr id="22" name="Text 18">
              <a:extLst>
                <a:ext uri="{FF2B5EF4-FFF2-40B4-BE49-F238E27FC236}">
                  <a16:creationId xmlns:a16="http://schemas.microsoft.com/office/drawing/2014/main" id="{1A1F174B-124A-4408-908E-633F3ECC97DC}"/>
                </a:ext>
              </a:extLst>
            </p:cNvPr>
            <p:cNvSpPr/>
            <p:nvPr/>
          </p:nvSpPr>
          <p:spPr>
            <a:xfrm>
              <a:off x="7676762" y="5225603"/>
              <a:ext cx="5684020" cy="43936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Implementation Details</a:t>
              </a:r>
              <a:endParaRPr lang="en-US" sz="2000" b="0" i="0" u="none" strike="noStrike" kern="1200" cap="none" spc="0" baseline="0">
                <a:solidFill>
                  <a:srgbClr val="000000"/>
                </a:solidFill>
                <a:uFillTx/>
                <a:latin typeface="Aptos"/>
              </a:endParaRPr>
            </a:p>
          </p:txBody>
        </p:sp>
        <p:sp>
          <p:nvSpPr>
            <p:cNvPr id="23" name="Text 19">
              <a:extLst>
                <a:ext uri="{FF2B5EF4-FFF2-40B4-BE49-F238E27FC236}">
                  <a16:creationId xmlns:a16="http://schemas.microsoft.com/office/drawing/2014/main" id="{DB953FA0-FB42-4433-A6B8-65214ADD45C9}"/>
                </a:ext>
              </a:extLst>
            </p:cNvPr>
            <p:cNvSpPr/>
            <p:nvPr/>
          </p:nvSpPr>
          <p:spPr>
            <a:xfrm>
              <a:off x="7676762" y="5781348"/>
              <a:ext cx="5816205" cy="941493"/>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Aptos"/>
                </a:rPr>
                <a:t>The system uses weighted BERT embeddings to quantify skills (Beginner=0.3, Intermediate=0.7, Advanced=1.0). A feedback engine powered by a lightweight LLM generates personalized suggestions to help candidates better articulate their technical expertise.</a:t>
              </a:r>
            </a:p>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0" i="0" u="none" strike="noStrike" kern="1200" cap="none" spc="0" baseline="0">
                  <a:solidFill>
                    <a:srgbClr val="4A5568"/>
                  </a:solidFill>
                  <a:uFillTx/>
                  <a:latin typeface="Calibri" pitchFamily="34"/>
                  <a:ea typeface="Calibri" pitchFamily="34"/>
                  <a:cs typeface="Calibri" pitchFamily="34"/>
                </a:rPr>
                <a:t>.</a:t>
              </a:r>
              <a:endParaRPr lang="en-US" sz="1500" b="0" i="0" u="none" strike="noStrike" kern="1200" cap="none" spc="0" baseline="0">
                <a:solidFill>
                  <a:srgbClr val="000000"/>
                </a:solidFill>
                <a:uFillTx/>
                <a:latin typeface="Aptos"/>
              </a:endParaRPr>
            </a:p>
          </p:txBody>
        </p:sp>
      </p:grpSp>
      <p:pic>
        <p:nvPicPr>
          <p:cNvPr id="24" name="Picture 3">
            <a:extLst>
              <a:ext uri="{FF2B5EF4-FFF2-40B4-BE49-F238E27FC236}">
                <a16:creationId xmlns:a16="http://schemas.microsoft.com/office/drawing/2014/main" id="{1C52D085-B905-4263-85AC-41B41FA344A4}"/>
              </a:ext>
            </a:extLst>
          </p:cNvPr>
          <p:cNvPicPr>
            <a:picLocks noChangeAspect="1"/>
          </p:cNvPicPr>
          <p:nvPr/>
        </p:nvPicPr>
        <p:blipFill>
          <a:blip r:embed="rId3"/>
          <a:stretch>
            <a:fillRect/>
          </a:stretch>
        </p:blipFill>
        <p:spPr>
          <a:xfrm>
            <a:off x="368430" y="1967231"/>
            <a:ext cx="6112032" cy="4540544"/>
          </a:xfrm>
          <a:prstGeom prst="rect">
            <a:avLst/>
          </a:prstGeom>
          <a:noFill/>
          <a:ln cap="flat">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27">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ED1B040-49D3-49C9-AC0C-A9699097498E}"/>
              </a:ext>
            </a:extLst>
          </p:cNvPr>
          <p:cNvSpPr/>
          <p:nvPr/>
        </p:nvSpPr>
        <p:spPr>
          <a:xfrm>
            <a:off x="793790" y="198863"/>
            <a:ext cx="10062898" cy="1417557"/>
          </a:xfrm>
          <a:prstGeom prst="rect">
            <a:avLst/>
          </a:prstGeom>
          <a:noFill/>
          <a:ln cap="flat">
            <a:noFill/>
            <a:prstDash val="solid"/>
          </a:ln>
        </p:spPr>
        <p:txBody>
          <a:bodyPr vert="horz" wrap="square" lIns="0" tIns="0" rIns="0" bIns="0" anchor="t" anchorCtr="0" compatLnSpc="1">
            <a:noAutofit/>
          </a:bodyPr>
          <a:lstStyle/>
          <a:p>
            <a:pPr marL="0" marR="0" lvl="0" indent="0" algn="ctr"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2F5597"/>
                </a:solidFill>
                <a:uFillTx/>
                <a:latin typeface="Calibri"/>
                <a:ea typeface="Calibri"/>
                <a:cs typeface="Calibri"/>
              </a:rPr>
              <a:t>AI-Powered Simulation with Real-Time Attention Tracking</a:t>
            </a:r>
            <a:endParaRPr lang="en-US" sz="1800" b="0" i="0" u="none" strike="noStrike" kern="1200" cap="none" spc="0" baseline="0">
              <a:solidFill>
                <a:srgbClr val="000000"/>
              </a:solidFill>
              <a:uFillTx/>
              <a:latin typeface="Calibri"/>
              <a:ea typeface="Calibri"/>
              <a:cs typeface="Calibri"/>
            </a:endParaRPr>
          </a:p>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endParaRPr lang="en-US" sz="4800" b="0" i="0" u="none" strike="noStrike" kern="1200" cap="none" spc="0" baseline="0">
              <a:solidFill>
                <a:srgbClr val="2F5597"/>
              </a:solidFill>
              <a:uFillTx/>
              <a:latin typeface="Calibri"/>
              <a:ea typeface="Calibri"/>
              <a:cs typeface="Calibri"/>
            </a:endParaRPr>
          </a:p>
        </p:txBody>
      </p:sp>
      <p:sp>
        <p:nvSpPr>
          <p:cNvPr id="3" name="Shape 2">
            <a:extLst>
              <a:ext uri="{FF2B5EF4-FFF2-40B4-BE49-F238E27FC236}">
                <a16:creationId xmlns:a16="http://schemas.microsoft.com/office/drawing/2014/main" id="{42FF45F5-CAF7-466E-ACDB-A7C59D2F9D23}"/>
              </a:ext>
            </a:extLst>
          </p:cNvPr>
          <p:cNvSpPr/>
          <p:nvPr/>
        </p:nvSpPr>
        <p:spPr>
          <a:xfrm>
            <a:off x="793790" y="4767388"/>
            <a:ext cx="10381384" cy="2696785"/>
          </a:xfrm>
          <a:custGeom>
            <a:avLst/>
            <a:gdLst>
              <a:gd name="f0" fmla="val 10800000"/>
              <a:gd name="f1" fmla="val 5400000"/>
              <a:gd name="f2" fmla="val 16200000"/>
              <a:gd name="f3" fmla="val w"/>
              <a:gd name="f4" fmla="val h"/>
              <a:gd name="f5" fmla="val ss"/>
              <a:gd name="f6" fmla="val 0"/>
              <a:gd name="f7" fmla="*/ 5419351 1 1725033"/>
              <a:gd name="f8" fmla="val 45"/>
              <a:gd name="f9" fmla="val 1189"/>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alpha val="95000"/>
            </a:srgbClr>
          </a:solidFill>
          <a:ln w="3047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cs typeface="Times New Roman" pitchFamily="18"/>
            </a:endParaRPr>
          </a:p>
        </p:txBody>
      </p:sp>
      <p:sp>
        <p:nvSpPr>
          <p:cNvPr id="4" name="Text 3">
            <a:extLst>
              <a:ext uri="{FF2B5EF4-FFF2-40B4-BE49-F238E27FC236}">
                <a16:creationId xmlns:a16="http://schemas.microsoft.com/office/drawing/2014/main" id="{5F39F532-0FAC-44D9-B2C5-81FEF670C28F}"/>
              </a:ext>
            </a:extLst>
          </p:cNvPr>
          <p:cNvSpPr/>
          <p:nvPr/>
        </p:nvSpPr>
        <p:spPr>
          <a:xfrm>
            <a:off x="1051084" y="4913299"/>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Times New Roman" pitchFamily="18"/>
              </a:rPr>
              <a:t>Novelty</a:t>
            </a:r>
            <a:endParaRPr lang="en-US" sz="2200" b="1" i="0" u="none" strike="noStrike" kern="1200" cap="none" spc="0" baseline="0">
              <a:solidFill>
                <a:srgbClr val="BF9000"/>
              </a:solidFill>
              <a:uFillTx/>
              <a:latin typeface="Calibri"/>
              <a:cs typeface="Times New Roman" pitchFamily="18"/>
            </a:endParaRPr>
          </a:p>
        </p:txBody>
      </p:sp>
      <p:sp>
        <p:nvSpPr>
          <p:cNvPr id="5" name="Text 4">
            <a:extLst>
              <a:ext uri="{FF2B5EF4-FFF2-40B4-BE49-F238E27FC236}">
                <a16:creationId xmlns:a16="http://schemas.microsoft.com/office/drawing/2014/main" id="{7A806209-6819-4ADB-B44D-80C321433F6C}"/>
              </a:ext>
            </a:extLst>
          </p:cNvPr>
          <p:cNvSpPr/>
          <p:nvPr/>
        </p:nvSpPr>
        <p:spPr>
          <a:xfrm>
            <a:off x="930310" y="5253913"/>
            <a:ext cx="9805604" cy="1853424"/>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This component introduces a </a:t>
            </a:r>
            <a:r>
              <a:rPr lang="en-US" sz="1600" b="1" i="0" u="none" strike="noStrike" kern="1200" cap="none" spc="0" baseline="0">
                <a:solidFill>
                  <a:srgbClr val="000000"/>
                </a:solidFill>
                <a:uFillTx/>
                <a:latin typeface="Calibri"/>
                <a:ea typeface="Calibri"/>
                <a:cs typeface="Calibri"/>
              </a:rPr>
              <a:t>multimodal AI-based interview preparation mechanism</a:t>
            </a:r>
            <a:r>
              <a:rPr lang="en-US" sz="1600" b="0" i="0" u="none" strike="noStrike" kern="1200" cap="none" spc="0" baseline="0">
                <a:solidFill>
                  <a:srgbClr val="000000"/>
                </a:solidFill>
                <a:uFillTx/>
                <a:latin typeface="Calibri"/>
                <a:ea typeface="Calibri"/>
                <a:cs typeface="Calibri"/>
              </a:rPr>
              <a:t> that combines </a:t>
            </a:r>
            <a:r>
              <a:rPr lang="en-US" sz="1600" b="1" i="0" u="none" strike="noStrike" kern="1200" cap="none" spc="0" baseline="0">
                <a:solidFill>
                  <a:srgbClr val="000000"/>
                </a:solidFill>
                <a:uFillTx/>
                <a:latin typeface="Calibri"/>
                <a:ea typeface="Calibri"/>
                <a:cs typeface="Calibri"/>
              </a:rPr>
              <a:t>large language model driven dynamic question generation</a:t>
            </a:r>
            <a:r>
              <a:rPr lang="en-US" sz="1600" b="0" i="0" u="none" strike="noStrike" kern="1200" cap="none" spc="0" baseline="0">
                <a:solidFill>
                  <a:srgbClr val="000000"/>
                </a:solidFill>
                <a:uFillTx/>
                <a:latin typeface="Calibri"/>
                <a:ea typeface="Calibri"/>
                <a:cs typeface="Calibri"/>
              </a:rPr>
              <a:t> with </a:t>
            </a:r>
            <a:r>
              <a:rPr lang="en-US" sz="1600" b="1" i="0" u="none" strike="noStrike" kern="1200" cap="none" spc="0" baseline="0">
                <a:solidFill>
                  <a:srgbClr val="000000"/>
                </a:solidFill>
                <a:uFillTx/>
                <a:latin typeface="Calibri"/>
                <a:ea typeface="Calibri"/>
                <a:cs typeface="Calibri"/>
              </a:rPr>
              <a:t>computer vision–based emotion recognition</a:t>
            </a:r>
            <a:r>
              <a:rPr lang="en-US" sz="1600" b="0" i="0" u="none" strike="noStrike" kern="1200" cap="none" spc="0" baseline="0">
                <a:solidFill>
                  <a:srgbClr val="000000"/>
                </a:solidFill>
                <a:uFillTx/>
                <a:latin typeface="Calibri"/>
                <a:ea typeface="Calibri"/>
                <a:cs typeface="Calibri"/>
              </a:rPr>
              <a:t>. Unlike existing interview practice tools that primarily depend on predefined question sets and manual feedback, the proposed system generates context-aware interview questions and simultaneously evaluates emotional engagement during responses. This integrated approach enables both </a:t>
            </a:r>
            <a:r>
              <a:rPr lang="en-US" sz="1600" b="1" i="0" u="none" strike="noStrike" kern="1200" cap="none" spc="0" baseline="0">
                <a:solidFill>
                  <a:srgbClr val="000000"/>
                </a:solidFill>
                <a:uFillTx/>
                <a:latin typeface="Calibri"/>
                <a:ea typeface="Calibri"/>
                <a:cs typeface="Calibri"/>
              </a:rPr>
              <a:t>technical interview practice</a:t>
            </a:r>
            <a:r>
              <a:rPr lang="en-US" sz="1600" b="0" i="0" u="none" strike="noStrike" kern="1200" cap="none" spc="0" baseline="0">
                <a:solidFill>
                  <a:srgbClr val="000000"/>
                </a:solidFill>
                <a:uFillTx/>
                <a:latin typeface="Calibri"/>
                <a:ea typeface="Calibri"/>
                <a:cs typeface="Calibri"/>
              </a:rPr>
              <a:t> and </a:t>
            </a:r>
            <a:r>
              <a:rPr lang="en-US" sz="1600" b="1" i="0" u="none" strike="noStrike" kern="1200" cap="none" spc="0" baseline="0">
                <a:solidFill>
                  <a:srgbClr val="000000"/>
                </a:solidFill>
                <a:uFillTx/>
                <a:latin typeface="Calibri"/>
                <a:ea typeface="Calibri"/>
                <a:cs typeface="Calibri"/>
              </a:rPr>
              <a:t>behavioral performance assessment</a:t>
            </a:r>
            <a:r>
              <a:rPr lang="en-US" sz="1600" b="0" i="0" u="none" strike="noStrike" kern="1200" cap="none" spc="0" baseline="0">
                <a:solidFill>
                  <a:srgbClr val="000000"/>
                </a:solidFill>
                <a:uFillTx/>
                <a:latin typeface="Calibri"/>
                <a:ea typeface="Calibri"/>
                <a:cs typeface="Calibri"/>
              </a:rPr>
              <a:t>, making the solution more intelligent, adaptive, and effective for interview readiness improvement</a:t>
            </a:r>
            <a:endParaRPr lang="en-US" sz="1800" b="0" i="0" u="none" strike="noStrike" kern="1200" cap="none" spc="0" baseline="0">
              <a:solidFill>
                <a:srgbClr val="000000"/>
              </a:solidFill>
              <a:uFillTx/>
              <a:latin typeface="Calibri"/>
            </a:endParaRPr>
          </a:p>
        </p:txBody>
      </p:sp>
      <p:sp>
        <p:nvSpPr>
          <p:cNvPr id="6" name="Shape 2">
            <a:extLst>
              <a:ext uri="{FF2B5EF4-FFF2-40B4-BE49-F238E27FC236}">
                <a16:creationId xmlns:a16="http://schemas.microsoft.com/office/drawing/2014/main" id="{0C5C7DE0-DEFD-4695-9288-B2FCC993AAA8}"/>
              </a:ext>
            </a:extLst>
          </p:cNvPr>
          <p:cNvSpPr/>
          <p:nvPr/>
        </p:nvSpPr>
        <p:spPr>
          <a:xfrm>
            <a:off x="793790" y="2440954"/>
            <a:ext cx="10364138" cy="2143554"/>
          </a:xfrm>
          <a:custGeom>
            <a:avLst/>
            <a:gdLst>
              <a:gd name="f0" fmla="val 10800000"/>
              <a:gd name="f1" fmla="val 5400000"/>
              <a:gd name="f2" fmla="val 16200000"/>
              <a:gd name="f3" fmla="val w"/>
              <a:gd name="f4" fmla="val h"/>
              <a:gd name="f5" fmla="val ss"/>
              <a:gd name="f6" fmla="val 0"/>
              <a:gd name="f7" fmla="*/ 5419351 1 1725033"/>
              <a:gd name="f8" fmla="val 45"/>
              <a:gd name="f9" fmla="val 1189"/>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alpha val="95000"/>
            </a:srgbClr>
          </a:solidFill>
          <a:ln w="3047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cs typeface="Times New Roman" pitchFamily="18"/>
            </a:endParaRPr>
          </a:p>
        </p:txBody>
      </p:sp>
      <p:sp>
        <p:nvSpPr>
          <p:cNvPr id="7" name="Text 3">
            <a:extLst>
              <a:ext uri="{FF2B5EF4-FFF2-40B4-BE49-F238E27FC236}">
                <a16:creationId xmlns:a16="http://schemas.microsoft.com/office/drawing/2014/main" id="{87F98452-E50E-40E6-B5C4-68ECB6034049}"/>
              </a:ext>
            </a:extLst>
          </p:cNvPr>
          <p:cNvSpPr/>
          <p:nvPr/>
        </p:nvSpPr>
        <p:spPr>
          <a:xfrm>
            <a:off x="1051084" y="2443926"/>
            <a:ext cx="2316230"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rPr>
              <a:t>Contribution </a:t>
            </a:r>
            <a:endParaRPr lang="en-US" sz="2200" b="1" i="0" u="none" strike="noStrike" kern="1200" cap="none" spc="0" baseline="0">
              <a:solidFill>
                <a:srgbClr val="BF9000"/>
              </a:solidFill>
              <a:uFillTx/>
              <a:latin typeface="Calibri"/>
              <a:cs typeface="Times New Roman" pitchFamily="18"/>
            </a:endParaRPr>
          </a:p>
        </p:txBody>
      </p:sp>
      <p:sp>
        <p:nvSpPr>
          <p:cNvPr id="8" name="Text 4">
            <a:extLst>
              <a:ext uri="{FF2B5EF4-FFF2-40B4-BE49-F238E27FC236}">
                <a16:creationId xmlns:a16="http://schemas.microsoft.com/office/drawing/2014/main" id="{A89F26CC-51DE-468D-83B6-229B6B55DAA8}"/>
              </a:ext>
            </a:extLst>
          </p:cNvPr>
          <p:cNvSpPr/>
          <p:nvPr/>
        </p:nvSpPr>
        <p:spPr>
          <a:xfrm>
            <a:off x="930310" y="2788718"/>
            <a:ext cx="9805604" cy="1414595"/>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This component strengthens the overall intelligent career guidance solution by introducing an </a:t>
            </a:r>
            <a:r>
              <a:rPr lang="en-US" sz="1600" b="1" i="0" u="none" strike="noStrike" kern="1200" cap="none" spc="0" baseline="0">
                <a:solidFill>
                  <a:srgbClr val="000000"/>
                </a:solidFill>
                <a:uFillTx/>
                <a:latin typeface="Calibri"/>
                <a:ea typeface="Calibri"/>
                <a:cs typeface="Calibri"/>
              </a:rPr>
              <a:t>AI-driven interview simulation module for Sri Lankan IT undergraduates</a:t>
            </a:r>
            <a:r>
              <a:rPr lang="en-US" sz="1600" b="0" i="0" u="none" strike="noStrike" kern="1200" cap="none" spc="0" baseline="0">
                <a:solidFill>
                  <a:srgbClr val="000000"/>
                </a:solidFill>
                <a:uFillTx/>
                <a:latin typeface="Calibri"/>
                <a:ea typeface="Calibri"/>
                <a:cs typeface="Calibri"/>
              </a:rPr>
              <a:t>. It contributes to the main system through</a:t>
            </a:r>
            <a:r>
              <a:rPr lang="en-US" sz="1600" b="1" i="0" u="none" strike="noStrike" kern="1200" cap="none" spc="0" baseline="0">
                <a:solidFill>
                  <a:srgbClr val="000000"/>
                </a:solidFill>
                <a:uFillTx/>
                <a:latin typeface="Calibri"/>
                <a:ea typeface="Calibri"/>
                <a:cs typeface="Calibri"/>
              </a:rPr>
              <a:t> role-specific question generation, webcam-based emotion recognition, behavioral monitoring</a:t>
            </a:r>
            <a:r>
              <a:rPr lang="en-US" sz="1600" b="0" i="0" u="none" strike="noStrike" kern="1200" cap="none" spc="0" baseline="0">
                <a:solidFill>
                  <a:srgbClr val="000000"/>
                </a:solidFill>
                <a:uFillTx/>
                <a:latin typeface="Calibri"/>
                <a:ea typeface="Calibri"/>
                <a:cs typeface="Calibri"/>
              </a:rPr>
              <a:t>, and performance analytics visualization. By combining technical practice with behavioral assessment, the module supports continuous improvement in interview preparedness, confidence, and self-evaluation.</a:t>
            </a:r>
            <a:endParaRPr lang="en-US" sz="1800" b="0" i="0" u="none" strike="noStrike" kern="1200" cap="none" spc="0" baseline="0">
              <a:solidFill>
                <a:srgbClr val="000000"/>
              </a:solidFill>
              <a:uFillTx/>
              <a:latin typeface="Calibri"/>
              <a:ea typeface="Calibri"/>
              <a:cs typeface="Calibri"/>
            </a:endParaRPr>
          </a:p>
        </p:txBody>
      </p:sp>
      <p:sp>
        <p:nvSpPr>
          <p:cNvPr id="9" name="Text 0">
            <a:extLst>
              <a:ext uri="{FF2B5EF4-FFF2-40B4-BE49-F238E27FC236}">
                <a16:creationId xmlns:a16="http://schemas.microsoft.com/office/drawing/2014/main" id="{526D3E9A-72B7-4FBE-8BC8-A49B24141E5C}"/>
              </a:ext>
            </a:extLst>
          </p:cNvPr>
          <p:cNvSpPr/>
          <p:nvPr/>
        </p:nvSpPr>
        <p:spPr>
          <a:xfrm>
            <a:off x="793790" y="1561685"/>
            <a:ext cx="10295129" cy="75078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3200" b="1" i="0" u="none" strike="noStrike" kern="1200" cap="none" spc="0" baseline="0">
                <a:solidFill>
                  <a:srgbClr val="000000"/>
                </a:solidFill>
                <a:uFillTx/>
                <a:latin typeface="Calibri"/>
                <a:cs typeface="Times New Roman"/>
              </a:rPr>
              <a:t>IT22291264| Kavindu D.M.G</a:t>
            </a:r>
          </a:p>
        </p:txBody>
      </p:sp>
      <p:grpSp>
        <p:nvGrpSpPr>
          <p:cNvPr id="10" name="Group 9">
            <a:extLst>
              <a:ext uri="{FF2B5EF4-FFF2-40B4-BE49-F238E27FC236}">
                <a16:creationId xmlns:a16="http://schemas.microsoft.com/office/drawing/2014/main" id="{E430C545-5E41-471F-A6D3-4E5875821DA6}"/>
              </a:ext>
            </a:extLst>
          </p:cNvPr>
          <p:cNvGrpSpPr/>
          <p:nvPr/>
        </p:nvGrpSpPr>
        <p:grpSpPr>
          <a:xfrm>
            <a:off x="0" y="7649733"/>
            <a:ext cx="14633225" cy="769887"/>
            <a:chOff x="0" y="7649733"/>
            <a:chExt cx="14633225" cy="769887"/>
          </a:xfrm>
        </p:grpSpPr>
        <p:sp>
          <p:nvSpPr>
            <p:cNvPr id="11" name="Rectangle 10">
              <a:extLst>
                <a:ext uri="{FF2B5EF4-FFF2-40B4-BE49-F238E27FC236}">
                  <a16:creationId xmlns:a16="http://schemas.microsoft.com/office/drawing/2014/main" id="{02D351F8-4A4D-44D7-A324-2C13B739D447}"/>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12" name="Rectangle 11">
              <a:extLst>
                <a:ext uri="{FF2B5EF4-FFF2-40B4-BE49-F238E27FC236}">
                  <a16:creationId xmlns:a16="http://schemas.microsoft.com/office/drawing/2014/main" id="{FF7B126A-522D-4CAC-9C80-89BDF2970637}"/>
                </a:ext>
              </a:extLst>
            </p:cNvPr>
            <p:cNvSpPr/>
            <p:nvPr/>
          </p:nvSpPr>
          <p:spPr>
            <a:xfrm>
              <a:off x="0" y="789723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IT22291264 | Kavindu D.M.G| R26-IT-128 </a:t>
              </a:r>
              <a:r>
                <a:rPr lang="en-US" sz="2000" b="0" i="0" u="none" strike="noStrike" kern="1200" cap="none" spc="0" baseline="0">
                  <a:solidFill>
                    <a:srgbClr val="2C2926"/>
                  </a:solidFill>
                  <a:uFillTx/>
                  <a:latin typeface="Calibri"/>
                </a:rPr>
                <a:t> </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13" name="Picture 12">
              <a:extLst>
                <a:ext uri="{FF2B5EF4-FFF2-40B4-BE49-F238E27FC236}">
                  <a16:creationId xmlns:a16="http://schemas.microsoft.com/office/drawing/2014/main" id="{28EA8E39-727A-421C-B4F0-5A613BD140E2}"/>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14" name="Rectangle 13">
              <a:extLst>
                <a:ext uri="{FF2B5EF4-FFF2-40B4-BE49-F238E27FC236}">
                  <a16:creationId xmlns:a16="http://schemas.microsoft.com/office/drawing/2014/main" id="{213EC301-F599-408A-B9FF-6693351A6CB2}"/>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pic>
        <p:nvPicPr>
          <p:cNvPr id="15" name="Picture 14">
            <a:extLst>
              <a:ext uri="{FF2B5EF4-FFF2-40B4-BE49-F238E27FC236}">
                <a16:creationId xmlns:a16="http://schemas.microsoft.com/office/drawing/2014/main" id="{98AD6D1B-DB94-4ACA-B1B8-02912AAC8C04}"/>
              </a:ext>
            </a:extLst>
          </p:cNvPr>
          <p:cNvPicPr>
            <a:picLocks noChangeAspect="1"/>
          </p:cNvPicPr>
          <p:nvPr/>
        </p:nvPicPr>
        <p:blipFill>
          <a:blip r:embed="rId3"/>
          <a:srcRect l="3201" t="-567" r="5346" b="18222"/>
          <a:stretch>
            <a:fillRect/>
          </a:stretch>
        </p:blipFill>
        <p:spPr>
          <a:xfrm>
            <a:off x="11294449" y="338904"/>
            <a:ext cx="2926418" cy="3196340"/>
          </a:xfrm>
          <a:prstGeom prst="rect">
            <a:avLst/>
          </a:prstGeom>
          <a:noFill/>
          <a:ln w="19046" cap="flat">
            <a:solidFill>
              <a:srgbClr val="000000"/>
            </a:solidFill>
            <a:prstDash val="solid"/>
            <a:miter/>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28">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A8A885-BD7B-4DF9-9FB4-ACE719488C1F}"/>
              </a:ext>
            </a:extLst>
          </p:cNvPr>
          <p:cNvSpPr/>
          <p:nvPr/>
        </p:nvSpPr>
        <p:spPr>
          <a:xfrm>
            <a:off x="5457367" y="293705"/>
            <a:ext cx="9410977" cy="1446717"/>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2F5597"/>
                </a:solidFill>
                <a:uFillTx/>
                <a:latin typeface="Calibri"/>
              </a:rPr>
              <a:t>AI-Powered Simulation with</a:t>
            </a:r>
            <a:endParaRPr lang="en-US" sz="1800" b="0" i="0" u="none" strike="noStrike" kern="1200" cap="none" spc="0" baseline="0">
              <a:solidFill>
                <a:srgbClr val="2F5597"/>
              </a:solidFill>
              <a:uFillTx/>
              <a:latin typeface="Calibri"/>
            </a:endParaRPr>
          </a:p>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2F5597"/>
                </a:solidFill>
                <a:uFillTx/>
                <a:latin typeface="Calibri"/>
              </a:rPr>
              <a:t> Real-Time Attention Tracking</a:t>
            </a:r>
            <a:endParaRPr lang="en-US" sz="1800" b="0" i="0" u="none" strike="noStrike" kern="1200" cap="none" spc="0" baseline="0">
              <a:solidFill>
                <a:srgbClr val="2F5597"/>
              </a:solidFill>
              <a:uFillTx/>
              <a:latin typeface="Calibri"/>
            </a:endParaRPr>
          </a:p>
        </p:txBody>
      </p:sp>
      <p:pic>
        <p:nvPicPr>
          <p:cNvPr id="3" name="Image 1" descr="preencoded.png">
            <a:extLst>
              <a:ext uri="{FF2B5EF4-FFF2-40B4-BE49-F238E27FC236}">
                <a16:creationId xmlns:a16="http://schemas.microsoft.com/office/drawing/2014/main" id="{5D12C0A9-4426-488E-A730-66946FC170B1}"/>
              </a:ext>
            </a:extLst>
          </p:cNvPr>
          <p:cNvPicPr>
            <a:picLocks noChangeAspect="1"/>
          </p:cNvPicPr>
          <p:nvPr/>
        </p:nvPicPr>
        <p:blipFill>
          <a:blip r:embed="rId2"/>
          <a:stretch>
            <a:fillRect/>
          </a:stretch>
        </p:blipFill>
        <p:spPr>
          <a:xfrm>
            <a:off x="6280190" y="2917685"/>
            <a:ext cx="7556418" cy="30476"/>
          </a:xfrm>
          <a:prstGeom prst="rect">
            <a:avLst/>
          </a:prstGeom>
          <a:noFill/>
          <a:ln cap="flat">
            <a:noFill/>
          </a:ln>
        </p:spPr>
      </p:pic>
      <p:sp>
        <p:nvSpPr>
          <p:cNvPr id="4" name="Text 3">
            <a:extLst>
              <a:ext uri="{FF2B5EF4-FFF2-40B4-BE49-F238E27FC236}">
                <a16:creationId xmlns:a16="http://schemas.microsoft.com/office/drawing/2014/main" id="{A0BEE6EA-8CF7-40CF-B71D-2177163ADCC9}"/>
              </a:ext>
            </a:extLst>
          </p:cNvPr>
          <p:cNvSpPr/>
          <p:nvPr/>
        </p:nvSpPr>
        <p:spPr>
          <a:xfrm>
            <a:off x="5457367" y="1876513"/>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Bricolage Grotesque Semi Bold" pitchFamily="34"/>
              </a:rPr>
              <a:t>Problem Definition</a:t>
            </a:r>
            <a:endParaRPr lang="en-US" sz="2200" b="1" i="0" u="none" strike="noStrike" kern="1200" cap="none" spc="0" baseline="0">
              <a:solidFill>
                <a:srgbClr val="BF9000"/>
              </a:solidFill>
              <a:uFillTx/>
              <a:latin typeface="Calibri"/>
            </a:endParaRPr>
          </a:p>
        </p:txBody>
      </p:sp>
      <p:sp>
        <p:nvSpPr>
          <p:cNvPr id="5" name="Text 4">
            <a:extLst>
              <a:ext uri="{FF2B5EF4-FFF2-40B4-BE49-F238E27FC236}">
                <a16:creationId xmlns:a16="http://schemas.microsoft.com/office/drawing/2014/main" id="{7E8608E0-7923-417F-A8B3-F32181CAF153}"/>
              </a:ext>
            </a:extLst>
          </p:cNvPr>
          <p:cNvSpPr/>
          <p:nvPr/>
        </p:nvSpPr>
        <p:spPr>
          <a:xfrm>
            <a:off x="5457367" y="2250850"/>
            <a:ext cx="8379241" cy="2174680"/>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Interview preparation can be difficult for </a:t>
            </a:r>
            <a:r>
              <a:rPr lang="en-US" sz="1600" b="1" i="0" u="none" strike="noStrike" kern="1200" cap="none" spc="0" baseline="0">
                <a:solidFill>
                  <a:srgbClr val="000000"/>
                </a:solidFill>
                <a:uFillTx/>
                <a:latin typeface="Calibri"/>
                <a:ea typeface="Calibri"/>
                <a:cs typeface="Calibri"/>
              </a:rPr>
              <a:t>Sri Lankan IT undergraduates</a:t>
            </a:r>
            <a:r>
              <a:rPr lang="en-US" sz="1600" b="0" i="0" u="none" strike="noStrike" kern="1200" cap="none" spc="0" baseline="0">
                <a:solidFill>
                  <a:srgbClr val="000000"/>
                </a:solidFill>
                <a:uFillTx/>
                <a:latin typeface="Calibri"/>
                <a:ea typeface="Calibri"/>
                <a:cs typeface="Calibri"/>
              </a:rPr>
              <a:t> because many students use </a:t>
            </a:r>
            <a:r>
              <a:rPr lang="en-US" sz="1600" b="1" i="0" u="none" strike="noStrike" kern="1200" cap="none" spc="0" baseline="0">
                <a:solidFill>
                  <a:srgbClr val="000000"/>
                </a:solidFill>
                <a:uFillTx/>
                <a:latin typeface="Calibri"/>
                <a:ea typeface="Calibri"/>
                <a:cs typeface="Calibri"/>
              </a:rPr>
              <a:t>static question banks, YouTube videos, or peer practice</a:t>
            </a:r>
            <a:r>
              <a:rPr lang="en-US" sz="1600" b="0" i="0" u="none" strike="noStrike" kern="1200" cap="none" spc="0" baseline="0">
                <a:solidFill>
                  <a:srgbClr val="000000"/>
                </a:solidFill>
                <a:uFillTx/>
                <a:latin typeface="Calibri"/>
                <a:ea typeface="Calibri"/>
                <a:cs typeface="Calibri"/>
              </a:rPr>
              <a:t>. These methods help with technical knowledge, but they do not give proper feedback about </a:t>
            </a:r>
            <a:r>
              <a:rPr lang="en-US" sz="1600" b="1" i="0" u="none" strike="noStrike" kern="1200" cap="none" spc="0" baseline="0">
                <a:solidFill>
                  <a:srgbClr val="000000"/>
                </a:solidFill>
                <a:uFillTx/>
                <a:latin typeface="Calibri"/>
                <a:ea typeface="Calibri"/>
                <a:cs typeface="Calibri"/>
              </a:rPr>
              <a:t>confidence, emotion, hesitation, and attention</a:t>
            </a:r>
            <a:r>
              <a:rPr lang="en-US" sz="1600" b="0" i="0" u="none" strike="noStrike" kern="1200" cap="none" spc="0" baseline="0">
                <a:solidFill>
                  <a:srgbClr val="000000"/>
                </a:solidFill>
                <a:uFillTx/>
                <a:latin typeface="Calibri"/>
                <a:ea typeface="Calibri"/>
                <a:cs typeface="Calibri"/>
              </a:rPr>
              <a:t> during interviews. Existing mock interview tools also do not effectively track overall interview performance, which limits students’ ability to improve their interview skills over time.</a:t>
            </a:r>
            <a:endParaRPr lang="en-US" sz="1800" b="0" i="0" u="none" strike="noStrike" kern="1200" cap="none" spc="0" baseline="0">
              <a:solidFill>
                <a:srgbClr val="000000"/>
              </a:solidFill>
              <a:uFillTx/>
              <a:latin typeface="Calibri"/>
              <a:ea typeface="Calibri"/>
              <a:cs typeface="Calibri"/>
            </a:endParaRPr>
          </a:p>
        </p:txBody>
      </p:sp>
      <p:pic>
        <p:nvPicPr>
          <p:cNvPr id="6" name="Image 2" descr="preencoded.png">
            <a:extLst>
              <a:ext uri="{FF2B5EF4-FFF2-40B4-BE49-F238E27FC236}">
                <a16:creationId xmlns:a16="http://schemas.microsoft.com/office/drawing/2014/main" id="{998BFCD6-69B4-4D92-9CE5-D6E884E40F53}"/>
              </a:ext>
            </a:extLst>
          </p:cNvPr>
          <p:cNvPicPr>
            <a:picLocks noChangeAspect="1"/>
          </p:cNvPicPr>
          <p:nvPr/>
        </p:nvPicPr>
        <p:blipFill>
          <a:blip r:embed="rId2"/>
          <a:stretch>
            <a:fillRect/>
          </a:stretch>
        </p:blipFill>
        <p:spPr>
          <a:xfrm>
            <a:off x="6280190" y="5179929"/>
            <a:ext cx="7556418" cy="30476"/>
          </a:xfrm>
          <a:prstGeom prst="rect">
            <a:avLst/>
          </a:prstGeom>
          <a:noFill/>
          <a:ln cap="flat">
            <a:noFill/>
          </a:ln>
        </p:spPr>
      </p:pic>
      <p:sp>
        <p:nvSpPr>
          <p:cNvPr id="7" name="Text 6">
            <a:extLst>
              <a:ext uri="{FF2B5EF4-FFF2-40B4-BE49-F238E27FC236}">
                <a16:creationId xmlns:a16="http://schemas.microsoft.com/office/drawing/2014/main" id="{48CDE1B0-71A9-46FE-A5E0-A93A1E8F994F}"/>
              </a:ext>
            </a:extLst>
          </p:cNvPr>
          <p:cNvSpPr/>
          <p:nvPr/>
        </p:nvSpPr>
        <p:spPr>
          <a:xfrm>
            <a:off x="5457367" y="4228249"/>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Bricolage Grotesque Semi Bold" pitchFamily="34"/>
              </a:rPr>
              <a:t>Main Objective</a:t>
            </a:r>
            <a:endParaRPr lang="en-US" sz="2200" b="1" i="0" u="none" strike="noStrike" kern="1200" cap="none" spc="0" baseline="0">
              <a:solidFill>
                <a:srgbClr val="BF9000"/>
              </a:solidFill>
              <a:uFillTx/>
              <a:latin typeface="Calibri"/>
            </a:endParaRPr>
          </a:p>
        </p:txBody>
      </p:sp>
      <p:sp>
        <p:nvSpPr>
          <p:cNvPr id="8" name="Text 6">
            <a:extLst>
              <a:ext uri="{FF2B5EF4-FFF2-40B4-BE49-F238E27FC236}">
                <a16:creationId xmlns:a16="http://schemas.microsoft.com/office/drawing/2014/main" id="{8E421A51-5A3B-4800-8B8F-3B9706E70D2D}"/>
              </a:ext>
            </a:extLst>
          </p:cNvPr>
          <p:cNvSpPr/>
          <p:nvPr/>
        </p:nvSpPr>
        <p:spPr>
          <a:xfrm>
            <a:off x="5457367" y="5386812"/>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Bricolage Grotesque Semi Bold" pitchFamily="34"/>
              </a:rPr>
              <a:t>Sub Objective</a:t>
            </a:r>
            <a:endParaRPr lang="en-US" sz="2200" b="1" i="0" u="none" strike="noStrike" kern="1200" cap="none" spc="0" baseline="0">
              <a:solidFill>
                <a:srgbClr val="BF9000"/>
              </a:solidFill>
              <a:uFillTx/>
              <a:latin typeface="Calibri"/>
            </a:endParaRPr>
          </a:p>
        </p:txBody>
      </p:sp>
      <p:grpSp>
        <p:nvGrpSpPr>
          <p:cNvPr id="9" name="Group 10">
            <a:extLst>
              <a:ext uri="{FF2B5EF4-FFF2-40B4-BE49-F238E27FC236}">
                <a16:creationId xmlns:a16="http://schemas.microsoft.com/office/drawing/2014/main" id="{52432450-45E3-44E2-94F3-9C44A14EEC43}"/>
              </a:ext>
            </a:extLst>
          </p:cNvPr>
          <p:cNvGrpSpPr/>
          <p:nvPr/>
        </p:nvGrpSpPr>
        <p:grpSpPr>
          <a:xfrm>
            <a:off x="0" y="7649733"/>
            <a:ext cx="14633225" cy="769887"/>
            <a:chOff x="0" y="7649733"/>
            <a:chExt cx="14633225" cy="769887"/>
          </a:xfrm>
        </p:grpSpPr>
        <p:sp>
          <p:nvSpPr>
            <p:cNvPr id="10" name="Rectangle 11">
              <a:extLst>
                <a:ext uri="{FF2B5EF4-FFF2-40B4-BE49-F238E27FC236}">
                  <a16:creationId xmlns:a16="http://schemas.microsoft.com/office/drawing/2014/main" id="{DA703787-7C36-452E-BBE2-74C2BA416D47}"/>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11" name="Rectangle 12">
              <a:extLst>
                <a:ext uri="{FF2B5EF4-FFF2-40B4-BE49-F238E27FC236}">
                  <a16:creationId xmlns:a16="http://schemas.microsoft.com/office/drawing/2014/main" id="{15AA2880-BBF1-4535-A804-5D6C25129B1F}"/>
                </a:ext>
              </a:extLst>
            </p:cNvPr>
            <p:cNvSpPr/>
            <p:nvPr/>
          </p:nvSpPr>
          <p:spPr>
            <a:xfrm>
              <a:off x="0" y="789723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IT22291264 | Kavindu D.M.G| R26-IT-128 </a:t>
              </a:r>
              <a:r>
                <a:rPr lang="en-US" sz="2000" b="0" i="0" u="none" strike="noStrike" kern="1200" cap="none" spc="0" baseline="0">
                  <a:solidFill>
                    <a:srgbClr val="2C2926"/>
                  </a:solidFill>
                  <a:uFillTx/>
                  <a:latin typeface="Calibri"/>
                </a:rPr>
                <a:t> </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12" name="Picture 13">
              <a:extLst>
                <a:ext uri="{FF2B5EF4-FFF2-40B4-BE49-F238E27FC236}">
                  <a16:creationId xmlns:a16="http://schemas.microsoft.com/office/drawing/2014/main" id="{F9038531-923E-4241-A7C2-74C3CE7CAE51}"/>
                </a:ext>
              </a:extLst>
            </p:cNvPr>
            <p:cNvPicPr>
              <a:picLocks noChangeAspect="1"/>
            </p:cNvPicPr>
            <p:nvPr/>
          </p:nvPicPr>
          <p:blipFill>
            <a:blip r:embed="rId3"/>
            <a:stretch>
              <a:fillRect/>
            </a:stretch>
          </p:blipFill>
          <p:spPr>
            <a:xfrm>
              <a:off x="0" y="7707212"/>
              <a:ext cx="3043708" cy="522387"/>
            </a:xfrm>
            <a:prstGeom prst="rect">
              <a:avLst/>
            </a:prstGeom>
            <a:noFill/>
            <a:ln cap="flat">
              <a:noFill/>
            </a:ln>
          </p:spPr>
        </p:pic>
        <p:sp>
          <p:nvSpPr>
            <p:cNvPr id="13" name="Rectangle 14">
              <a:extLst>
                <a:ext uri="{FF2B5EF4-FFF2-40B4-BE49-F238E27FC236}">
                  <a16:creationId xmlns:a16="http://schemas.microsoft.com/office/drawing/2014/main" id="{218937AB-366D-461A-8E72-46334D16F004}"/>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14" name="Text 12">
            <a:extLst>
              <a:ext uri="{FF2B5EF4-FFF2-40B4-BE49-F238E27FC236}">
                <a16:creationId xmlns:a16="http://schemas.microsoft.com/office/drawing/2014/main" id="{C18F7D6F-0AD8-4313-8ED6-FDB12112785D}"/>
              </a:ext>
            </a:extLst>
          </p:cNvPr>
          <p:cNvSpPr/>
          <p:nvPr/>
        </p:nvSpPr>
        <p:spPr>
          <a:xfrm>
            <a:off x="5457367" y="4296591"/>
            <a:ext cx="7896676" cy="138575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To develop an AI-based interview simulation component that supports Sri Lankan IT undergraduates by providing dynamic interview practice, real-time emotion and attention analysis, and performance feedback for continuous improvement.</a:t>
            </a:r>
            <a:endParaRPr lang="en-US" sz="1800" b="0" i="0" u="none" strike="noStrike" kern="1200" cap="none" spc="0" baseline="0">
              <a:solidFill>
                <a:srgbClr val="000000"/>
              </a:solidFill>
              <a:uFillTx/>
              <a:latin typeface="Calibri"/>
              <a:ea typeface="Calibri"/>
              <a:cs typeface="Calibri"/>
            </a:endParaRPr>
          </a:p>
        </p:txBody>
      </p:sp>
      <p:grpSp>
        <p:nvGrpSpPr>
          <p:cNvPr id="15" name="Group 16">
            <a:extLst>
              <a:ext uri="{FF2B5EF4-FFF2-40B4-BE49-F238E27FC236}">
                <a16:creationId xmlns:a16="http://schemas.microsoft.com/office/drawing/2014/main" id="{2BDE744E-01B9-446E-8AD0-C3B10F9673EE}"/>
              </a:ext>
            </a:extLst>
          </p:cNvPr>
          <p:cNvGrpSpPr/>
          <p:nvPr/>
        </p:nvGrpSpPr>
        <p:grpSpPr>
          <a:xfrm>
            <a:off x="5482276" y="5872368"/>
            <a:ext cx="7531519" cy="1926722"/>
            <a:chOff x="5482276" y="5872368"/>
            <a:chExt cx="7531519" cy="1926722"/>
          </a:xfrm>
        </p:grpSpPr>
        <p:pic>
          <p:nvPicPr>
            <p:cNvPr id="16" name="Image 0" descr="preencoded.png">
              <a:extLst>
                <a:ext uri="{FF2B5EF4-FFF2-40B4-BE49-F238E27FC236}">
                  <a16:creationId xmlns:a16="http://schemas.microsoft.com/office/drawing/2014/main" id="{A92CF0BE-270C-4E1E-BBEB-33067496A97A}"/>
                </a:ext>
              </a:extLst>
            </p:cNvPr>
            <p:cNvPicPr>
              <a:picLocks noChangeAspect="1"/>
            </p:cNvPicPr>
            <p:nvPr/>
          </p:nvPicPr>
          <p:blipFill>
            <a:blip r:embed="rId4"/>
            <a:stretch>
              <a:fillRect/>
            </a:stretch>
          </p:blipFill>
          <p:spPr>
            <a:xfrm>
              <a:off x="5482276" y="5872368"/>
              <a:ext cx="473896" cy="424784"/>
            </a:xfrm>
            <a:prstGeom prst="rect">
              <a:avLst/>
            </a:prstGeom>
            <a:noFill/>
            <a:ln cap="flat">
              <a:noFill/>
            </a:ln>
          </p:spPr>
        </p:pic>
        <p:sp>
          <p:nvSpPr>
            <p:cNvPr id="17" name="Text 14">
              <a:extLst>
                <a:ext uri="{FF2B5EF4-FFF2-40B4-BE49-F238E27FC236}">
                  <a16:creationId xmlns:a16="http://schemas.microsoft.com/office/drawing/2014/main" id="{8F4869CC-3DC8-4C35-82A7-AD6072013039}"/>
                </a:ext>
              </a:extLst>
            </p:cNvPr>
            <p:cNvSpPr/>
            <p:nvPr/>
          </p:nvSpPr>
          <p:spPr>
            <a:xfrm>
              <a:off x="6074642" y="5872368"/>
              <a:ext cx="6939153" cy="4247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Develop a system to generate role-specific interview questions using a Large Language Model.</a:t>
              </a:r>
              <a:endParaRPr lang="en-US" sz="1800" b="0" i="0" u="none" strike="noStrike" kern="1200" cap="none" spc="0" baseline="0">
                <a:solidFill>
                  <a:srgbClr val="000000"/>
                </a:solidFill>
                <a:uFillTx/>
                <a:latin typeface="Calibri"/>
                <a:ea typeface="Calibri"/>
                <a:cs typeface="Calibri"/>
              </a:endParaRPr>
            </a:p>
          </p:txBody>
        </p:sp>
        <p:pic>
          <p:nvPicPr>
            <p:cNvPr id="18" name="Image 1" descr="preencoded.png">
              <a:extLst>
                <a:ext uri="{FF2B5EF4-FFF2-40B4-BE49-F238E27FC236}">
                  <a16:creationId xmlns:a16="http://schemas.microsoft.com/office/drawing/2014/main" id="{1941CB47-1D05-45C4-A4EB-5D703C737D6B}"/>
                </a:ext>
              </a:extLst>
            </p:cNvPr>
            <p:cNvPicPr>
              <a:picLocks noChangeAspect="1"/>
            </p:cNvPicPr>
            <p:nvPr/>
          </p:nvPicPr>
          <p:blipFill>
            <a:blip r:embed="rId4"/>
            <a:stretch>
              <a:fillRect/>
            </a:stretch>
          </p:blipFill>
          <p:spPr>
            <a:xfrm>
              <a:off x="5482276" y="6373011"/>
              <a:ext cx="473896" cy="424784"/>
            </a:xfrm>
            <a:prstGeom prst="rect">
              <a:avLst/>
            </a:prstGeom>
            <a:noFill/>
            <a:ln cap="flat">
              <a:noFill/>
            </a:ln>
          </p:spPr>
        </p:pic>
        <p:sp>
          <p:nvSpPr>
            <p:cNvPr id="19" name="Text 15">
              <a:extLst>
                <a:ext uri="{FF2B5EF4-FFF2-40B4-BE49-F238E27FC236}">
                  <a16:creationId xmlns:a16="http://schemas.microsoft.com/office/drawing/2014/main" id="{0CC3748A-599A-49CD-801C-8F1B4E81AB08}"/>
                </a:ext>
              </a:extLst>
            </p:cNvPr>
            <p:cNvSpPr/>
            <p:nvPr/>
          </p:nvSpPr>
          <p:spPr>
            <a:xfrm>
              <a:off x="6074642" y="6373011"/>
              <a:ext cx="6939153" cy="4247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Use webcam-based facial analysis to detect emotion and attention levels during interview responses.</a:t>
              </a:r>
              <a:endParaRPr lang="en-US" sz="1800" b="0" i="0" u="none" strike="noStrike" kern="1200" cap="none" spc="0" baseline="0">
                <a:solidFill>
                  <a:srgbClr val="000000"/>
                </a:solidFill>
                <a:uFillTx/>
                <a:latin typeface="Calibri"/>
                <a:ea typeface="Calibri"/>
                <a:cs typeface="Calibri"/>
              </a:endParaRPr>
            </a:p>
          </p:txBody>
        </p:sp>
        <p:pic>
          <p:nvPicPr>
            <p:cNvPr id="20" name="Image 2" descr="preencoded.png">
              <a:extLst>
                <a:ext uri="{FF2B5EF4-FFF2-40B4-BE49-F238E27FC236}">
                  <a16:creationId xmlns:a16="http://schemas.microsoft.com/office/drawing/2014/main" id="{87A66C92-3AF1-422D-B663-2C739C16BEEB}"/>
                </a:ext>
              </a:extLst>
            </p:cNvPr>
            <p:cNvPicPr>
              <a:picLocks noChangeAspect="1"/>
            </p:cNvPicPr>
            <p:nvPr/>
          </p:nvPicPr>
          <p:blipFill>
            <a:blip r:embed="rId4"/>
            <a:stretch>
              <a:fillRect/>
            </a:stretch>
          </p:blipFill>
          <p:spPr>
            <a:xfrm>
              <a:off x="5482276" y="6873663"/>
              <a:ext cx="473896" cy="424784"/>
            </a:xfrm>
            <a:prstGeom prst="rect">
              <a:avLst/>
            </a:prstGeom>
            <a:noFill/>
            <a:ln cap="flat">
              <a:noFill/>
            </a:ln>
          </p:spPr>
        </p:pic>
        <p:sp>
          <p:nvSpPr>
            <p:cNvPr id="21" name="Text 16">
              <a:extLst>
                <a:ext uri="{FF2B5EF4-FFF2-40B4-BE49-F238E27FC236}">
                  <a16:creationId xmlns:a16="http://schemas.microsoft.com/office/drawing/2014/main" id="{1B737636-1D23-4E85-A2C1-CBD0DB53CD2F}"/>
                </a:ext>
              </a:extLst>
            </p:cNvPr>
            <p:cNvSpPr/>
            <p:nvPr/>
          </p:nvSpPr>
          <p:spPr>
            <a:xfrm>
              <a:off x="6074642" y="6873663"/>
              <a:ext cx="6939153" cy="4247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Apply MediaPipe and a pretrained MobileNet model for real-time behavioral analysis.</a:t>
              </a:r>
              <a:endParaRPr lang="en-US" sz="1800" b="0" i="0" u="none" strike="noStrike" kern="1200" cap="none" spc="0" baseline="0">
                <a:solidFill>
                  <a:srgbClr val="000000"/>
                </a:solidFill>
                <a:uFillTx/>
                <a:latin typeface="Calibri"/>
                <a:ea typeface="Calibri"/>
                <a:cs typeface="Calibri"/>
              </a:endParaRPr>
            </a:p>
          </p:txBody>
        </p:sp>
        <p:pic>
          <p:nvPicPr>
            <p:cNvPr id="22" name="Image 3" descr="preencoded.png">
              <a:extLst>
                <a:ext uri="{FF2B5EF4-FFF2-40B4-BE49-F238E27FC236}">
                  <a16:creationId xmlns:a16="http://schemas.microsoft.com/office/drawing/2014/main" id="{20C6FA18-8C06-4991-BF00-A650945F36CD}"/>
                </a:ext>
              </a:extLst>
            </p:cNvPr>
            <p:cNvPicPr>
              <a:picLocks noChangeAspect="1"/>
            </p:cNvPicPr>
            <p:nvPr/>
          </p:nvPicPr>
          <p:blipFill>
            <a:blip r:embed="rId4"/>
            <a:stretch>
              <a:fillRect/>
            </a:stretch>
          </p:blipFill>
          <p:spPr>
            <a:xfrm>
              <a:off x="5482276" y="7374306"/>
              <a:ext cx="473896" cy="424784"/>
            </a:xfrm>
            <a:prstGeom prst="rect">
              <a:avLst/>
            </a:prstGeom>
            <a:noFill/>
            <a:ln cap="flat">
              <a:noFill/>
            </a:ln>
          </p:spPr>
        </p:pic>
        <p:sp>
          <p:nvSpPr>
            <p:cNvPr id="23" name="Text 17">
              <a:extLst>
                <a:ext uri="{FF2B5EF4-FFF2-40B4-BE49-F238E27FC236}">
                  <a16:creationId xmlns:a16="http://schemas.microsoft.com/office/drawing/2014/main" id="{10C2937D-E41D-4C57-A585-EE4E2299300F}"/>
                </a:ext>
              </a:extLst>
            </p:cNvPr>
            <p:cNvSpPr/>
            <p:nvPr/>
          </p:nvSpPr>
          <p:spPr>
            <a:xfrm>
              <a:off x="6074642" y="7374306"/>
              <a:ext cx="6939153" cy="4247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Provide dashboard-based feedback to track interview performance over time.</a:t>
              </a:r>
              <a:endParaRPr lang="en-US" sz="1800" b="0" i="0" u="none" strike="noStrike" kern="1200" cap="none" spc="0" baseline="0">
                <a:solidFill>
                  <a:srgbClr val="000000"/>
                </a:solidFill>
                <a:uFillTx/>
                <a:latin typeface="Calibri"/>
                <a:ea typeface="Calibri"/>
                <a:cs typeface="Calibri"/>
              </a:endParaRPr>
            </a:p>
          </p:txBody>
        </p:sp>
      </p:grpSp>
      <p:pic>
        <p:nvPicPr>
          <p:cNvPr id="24" name="Picture 27">
            <a:extLst>
              <a:ext uri="{FF2B5EF4-FFF2-40B4-BE49-F238E27FC236}">
                <a16:creationId xmlns:a16="http://schemas.microsoft.com/office/drawing/2014/main" id="{4CD7CC3A-1766-4E0E-A72C-EE2B6ADBF544}"/>
              </a:ext>
            </a:extLst>
          </p:cNvPr>
          <p:cNvPicPr>
            <a:picLocks noChangeAspect="1"/>
          </p:cNvPicPr>
          <p:nvPr/>
        </p:nvPicPr>
        <p:blipFill>
          <a:blip r:embed="rId5"/>
          <a:stretch>
            <a:fillRect/>
          </a:stretch>
        </p:blipFill>
        <p:spPr>
          <a:xfrm>
            <a:off x="628540" y="1798752"/>
            <a:ext cx="4047701" cy="4441149"/>
          </a:xfrm>
          <a:prstGeom prst="rect">
            <a:avLst/>
          </a:prstGeom>
          <a:noFill/>
          <a:ln cap="flat">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29">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49258F6-7C8D-4D7D-8C1A-2D2CF3749E9F}"/>
              </a:ext>
            </a:extLst>
          </p:cNvPr>
          <p:cNvSpPr/>
          <p:nvPr/>
        </p:nvSpPr>
        <p:spPr>
          <a:xfrm>
            <a:off x="106381" y="136538"/>
            <a:ext cx="15267636" cy="81078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2F5597"/>
                </a:solidFill>
                <a:uFillTx/>
                <a:latin typeface="Calibri"/>
                <a:cs typeface="Calibri"/>
              </a:rPr>
              <a:t>AI-Powered Simulation with Real-Time Attention Tracking</a:t>
            </a:r>
            <a:endParaRPr lang="en-US" sz="4800" b="0" i="0" u="none" strike="noStrike" kern="1200" cap="none" spc="0" baseline="0">
              <a:solidFill>
                <a:srgbClr val="2F5597"/>
              </a:solidFill>
              <a:uFillTx/>
              <a:latin typeface="Calibri"/>
              <a:ea typeface="Calibri"/>
              <a:cs typeface="Calibri"/>
            </a:endParaRPr>
          </a:p>
        </p:txBody>
      </p:sp>
      <p:grpSp>
        <p:nvGrpSpPr>
          <p:cNvPr id="3" name="Group 11">
            <a:extLst>
              <a:ext uri="{FF2B5EF4-FFF2-40B4-BE49-F238E27FC236}">
                <a16:creationId xmlns:a16="http://schemas.microsoft.com/office/drawing/2014/main" id="{A4727325-3EAE-4086-BE77-3D34D2483F80}"/>
              </a:ext>
            </a:extLst>
          </p:cNvPr>
          <p:cNvGrpSpPr/>
          <p:nvPr/>
        </p:nvGrpSpPr>
        <p:grpSpPr>
          <a:xfrm>
            <a:off x="0" y="7649733"/>
            <a:ext cx="14633225" cy="769887"/>
            <a:chOff x="0" y="7649733"/>
            <a:chExt cx="14633225" cy="769887"/>
          </a:xfrm>
        </p:grpSpPr>
        <p:sp>
          <p:nvSpPr>
            <p:cNvPr id="4" name="Rectangle 12">
              <a:extLst>
                <a:ext uri="{FF2B5EF4-FFF2-40B4-BE49-F238E27FC236}">
                  <a16:creationId xmlns:a16="http://schemas.microsoft.com/office/drawing/2014/main" id="{6E23F2D1-1AF5-4AF1-8574-A5986DA18DAB}"/>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13">
              <a:extLst>
                <a:ext uri="{FF2B5EF4-FFF2-40B4-BE49-F238E27FC236}">
                  <a16:creationId xmlns:a16="http://schemas.microsoft.com/office/drawing/2014/main" id="{30EB608A-0BDA-4E8E-A976-DD735DC61D72}"/>
                </a:ext>
              </a:extLst>
            </p:cNvPr>
            <p:cNvSpPr/>
            <p:nvPr/>
          </p:nvSpPr>
          <p:spPr>
            <a:xfrm>
              <a:off x="0" y="789723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IT22291264  | Kavindu D.M.G| R26-IT-128 </a:t>
              </a:r>
              <a:r>
                <a:rPr lang="en-US" sz="2000" b="0" i="0" u="none" strike="noStrike" kern="1200" cap="none" spc="0" baseline="0">
                  <a:solidFill>
                    <a:srgbClr val="2C2926"/>
                  </a:solidFill>
                  <a:uFillTx/>
                  <a:latin typeface="Calibri"/>
                </a:rPr>
                <a:t> </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6" name="Picture 14">
              <a:extLst>
                <a:ext uri="{FF2B5EF4-FFF2-40B4-BE49-F238E27FC236}">
                  <a16:creationId xmlns:a16="http://schemas.microsoft.com/office/drawing/2014/main" id="{F366B06A-8F49-4FB6-91FB-141DA6CCEDDD}"/>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15">
              <a:extLst>
                <a:ext uri="{FF2B5EF4-FFF2-40B4-BE49-F238E27FC236}">
                  <a16:creationId xmlns:a16="http://schemas.microsoft.com/office/drawing/2014/main" id="{227D534F-54A0-4EBA-BA17-D3A46126A3FD}"/>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grpSp>
        <p:nvGrpSpPr>
          <p:cNvPr id="8" name="Group 16">
            <a:extLst>
              <a:ext uri="{FF2B5EF4-FFF2-40B4-BE49-F238E27FC236}">
                <a16:creationId xmlns:a16="http://schemas.microsoft.com/office/drawing/2014/main" id="{647527EE-F4E9-4DE1-949D-D49352F9B8F4}"/>
              </a:ext>
            </a:extLst>
          </p:cNvPr>
          <p:cNvGrpSpPr/>
          <p:nvPr/>
        </p:nvGrpSpPr>
        <p:grpSpPr>
          <a:xfrm>
            <a:off x="345688" y="1073560"/>
            <a:ext cx="13939022" cy="6386151"/>
            <a:chOff x="345688" y="1073560"/>
            <a:chExt cx="13939022" cy="6386151"/>
          </a:xfrm>
        </p:grpSpPr>
        <p:sp>
          <p:nvSpPr>
            <p:cNvPr id="9" name="Shape 4">
              <a:extLst>
                <a:ext uri="{FF2B5EF4-FFF2-40B4-BE49-F238E27FC236}">
                  <a16:creationId xmlns:a16="http://schemas.microsoft.com/office/drawing/2014/main" id="{F0830FD6-AF3E-424C-9D39-4C5077FB0A4F}"/>
                </a:ext>
              </a:extLst>
            </p:cNvPr>
            <p:cNvSpPr/>
            <p:nvPr/>
          </p:nvSpPr>
          <p:spPr>
            <a:xfrm>
              <a:off x="345688" y="1073560"/>
              <a:ext cx="6824313" cy="3041029"/>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0" name="Shape 5">
              <a:extLst>
                <a:ext uri="{FF2B5EF4-FFF2-40B4-BE49-F238E27FC236}">
                  <a16:creationId xmlns:a16="http://schemas.microsoft.com/office/drawing/2014/main" id="{C51E7E94-D949-47C8-AB56-47845C474AE8}"/>
                </a:ext>
              </a:extLst>
            </p:cNvPr>
            <p:cNvSpPr/>
            <p:nvPr/>
          </p:nvSpPr>
          <p:spPr>
            <a:xfrm>
              <a:off x="345688" y="1073560"/>
              <a:ext cx="725987" cy="3041029"/>
            </a:xfrm>
            <a:prstGeom prst="rect">
              <a:avLst/>
            </a:pr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1" name="Image 0" descr="preencoded.png">
              <a:extLst>
                <a:ext uri="{FF2B5EF4-FFF2-40B4-BE49-F238E27FC236}">
                  <a16:creationId xmlns:a16="http://schemas.microsoft.com/office/drawing/2014/main" id="{BAEBE043-E0F9-4C3D-B1D2-24DAE07C5D35}"/>
                </a:ext>
              </a:extLst>
            </p:cNvPr>
            <p:cNvPicPr>
              <a:picLocks noChangeAspect="1"/>
            </p:cNvPicPr>
            <p:nvPr/>
          </p:nvPicPr>
          <p:blipFill>
            <a:blip r:embed="rId3"/>
            <a:stretch>
              <a:fillRect/>
            </a:stretch>
          </p:blipFill>
          <p:spPr>
            <a:xfrm>
              <a:off x="490886" y="2213945"/>
              <a:ext cx="435592" cy="456157"/>
            </a:xfrm>
            <a:prstGeom prst="rect">
              <a:avLst/>
            </a:prstGeom>
            <a:noFill/>
            <a:ln cap="flat">
              <a:noFill/>
            </a:ln>
          </p:spPr>
        </p:pic>
        <p:sp>
          <p:nvSpPr>
            <p:cNvPr id="12" name="Text 6">
              <a:extLst>
                <a:ext uri="{FF2B5EF4-FFF2-40B4-BE49-F238E27FC236}">
                  <a16:creationId xmlns:a16="http://schemas.microsoft.com/office/drawing/2014/main" id="{91D4E4E4-B185-48E9-8D35-AD82A8B03689}"/>
                </a:ext>
              </a:extLst>
            </p:cNvPr>
            <p:cNvSpPr/>
            <p:nvPr/>
          </p:nvSpPr>
          <p:spPr>
            <a:xfrm>
              <a:off x="1289477" y="1225606"/>
              <a:ext cx="5662732" cy="57779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a:ea typeface="Calibri" pitchFamily="34"/>
                  <a:cs typeface="Calibri" pitchFamily="34"/>
                </a:rPr>
                <a:t>Technologies</a:t>
              </a:r>
              <a:endParaRPr lang="en-US" sz="2800" b="0" i="0" u="none" strike="noStrike" kern="1200" cap="none" spc="0" baseline="0">
                <a:solidFill>
                  <a:srgbClr val="000000"/>
                </a:solidFill>
                <a:uFillTx/>
                <a:latin typeface="Calibri"/>
              </a:endParaRPr>
            </a:p>
          </p:txBody>
        </p:sp>
        <p:sp>
          <p:nvSpPr>
            <p:cNvPr id="13" name="Text 7">
              <a:extLst>
                <a:ext uri="{FF2B5EF4-FFF2-40B4-BE49-F238E27FC236}">
                  <a16:creationId xmlns:a16="http://schemas.microsoft.com/office/drawing/2014/main" id="{91754F81-FFFE-431F-BAD5-74369120B098}"/>
                </a:ext>
              </a:extLst>
            </p:cNvPr>
            <p:cNvSpPr/>
            <p:nvPr/>
          </p:nvSpPr>
          <p:spPr>
            <a:xfrm>
              <a:off x="1289477" y="1833810"/>
              <a:ext cx="5662732" cy="2128714"/>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a:ea typeface="Calibri"/>
                  <a:cs typeface="Calibri"/>
                </a:rPr>
                <a:t>Uses </a:t>
              </a:r>
              <a:r>
                <a:rPr lang="en-US" sz="2000" b="1" i="0" u="none" strike="noStrike" kern="1200" cap="none" spc="0" baseline="0">
                  <a:solidFill>
                    <a:srgbClr val="4A5568"/>
                  </a:solidFill>
                  <a:uFillTx/>
                  <a:latin typeface="Calibri"/>
                  <a:ea typeface="Calibri"/>
                  <a:cs typeface="Calibri"/>
                </a:rPr>
                <a:t>Large Language Models</a:t>
              </a:r>
              <a:r>
                <a:rPr lang="en-US" sz="2000" b="0" i="0" u="none" strike="noStrike" kern="1200" cap="none" spc="0" baseline="0">
                  <a:solidFill>
                    <a:srgbClr val="4A5568"/>
                  </a:solidFill>
                  <a:uFillTx/>
                  <a:latin typeface="Calibri"/>
                  <a:ea typeface="Calibri"/>
                  <a:cs typeface="Calibri"/>
                </a:rPr>
                <a:t> for dynamic interview question generation, </a:t>
              </a:r>
              <a:r>
                <a:rPr lang="en-US" sz="2000" b="1" i="0" u="none" strike="noStrike" kern="1200" cap="none" spc="0" baseline="0">
                  <a:solidFill>
                    <a:srgbClr val="4A5568"/>
                  </a:solidFill>
                  <a:uFillTx/>
                  <a:latin typeface="Calibri"/>
                  <a:ea typeface="Calibri"/>
                  <a:cs typeface="Calibri"/>
                </a:rPr>
                <a:t>MediaPipe</a:t>
              </a:r>
              <a:r>
                <a:rPr lang="en-US" sz="2000" b="0" i="0" u="none" strike="noStrike" kern="1200" cap="none" spc="0" baseline="0">
                  <a:solidFill>
                    <a:srgbClr val="4A5568"/>
                  </a:solidFill>
                  <a:uFillTx/>
                  <a:latin typeface="Calibri"/>
                  <a:ea typeface="Calibri"/>
                  <a:cs typeface="Calibri"/>
                </a:rPr>
                <a:t> for face and landmark detection, </a:t>
              </a:r>
              <a:r>
                <a:rPr lang="en-US" sz="2000" b="1" i="0" u="none" strike="noStrike" kern="1200" cap="none" spc="0" baseline="0">
                  <a:solidFill>
                    <a:srgbClr val="4A5568"/>
                  </a:solidFill>
                  <a:uFillTx/>
                  <a:latin typeface="Calibri"/>
                  <a:ea typeface="Calibri"/>
                  <a:cs typeface="Calibri"/>
                </a:rPr>
                <a:t>MobileNet</a:t>
              </a:r>
              <a:r>
                <a:rPr lang="en-US" sz="2000" b="0" i="0" u="none" strike="noStrike" kern="1200" cap="none" spc="0" baseline="0">
                  <a:solidFill>
                    <a:srgbClr val="4A5568"/>
                  </a:solidFill>
                  <a:uFillTx/>
                  <a:latin typeface="Calibri"/>
                  <a:ea typeface="Calibri"/>
                  <a:cs typeface="Calibri"/>
                </a:rPr>
                <a:t> for lightweight emotion or attention recognition, optional </a:t>
              </a:r>
              <a:r>
                <a:rPr lang="en-US" sz="2000" b="1" i="0" u="none" strike="noStrike" kern="1200" cap="none" spc="0" baseline="0">
                  <a:solidFill>
                    <a:srgbClr val="4A5568"/>
                  </a:solidFill>
                  <a:uFillTx/>
                  <a:latin typeface="Calibri"/>
                  <a:ea typeface="Calibri"/>
                  <a:cs typeface="Calibri"/>
                </a:rPr>
                <a:t>Vision-Language Model</a:t>
              </a:r>
              <a:r>
                <a:rPr lang="en-US" sz="2000" b="0" i="0" u="none" strike="noStrike" kern="1200" cap="none" spc="0" baseline="0">
                  <a:solidFill>
                    <a:srgbClr val="4A5568"/>
                  </a:solidFill>
                  <a:uFillTx/>
                  <a:latin typeface="Calibri"/>
                  <a:ea typeface="Calibri"/>
                  <a:cs typeface="Calibri"/>
                </a:rPr>
                <a:t> comparison, </a:t>
              </a:r>
              <a:r>
                <a:rPr lang="en-US" sz="2000" b="1" i="0" u="none" strike="noStrike" kern="1200" cap="none" spc="0" baseline="0">
                  <a:solidFill>
                    <a:srgbClr val="4A5568"/>
                  </a:solidFill>
                  <a:uFillTx/>
                  <a:latin typeface="Calibri"/>
                  <a:ea typeface="Calibri"/>
                  <a:cs typeface="Calibri"/>
                </a:rPr>
                <a:t>React</a:t>
              </a:r>
              <a:r>
                <a:rPr lang="en-US" sz="2000" b="0" i="0" u="none" strike="noStrike" kern="1200" cap="none" spc="0" baseline="0">
                  <a:solidFill>
                    <a:srgbClr val="4A5568"/>
                  </a:solidFill>
                  <a:uFillTx/>
                  <a:latin typeface="Calibri"/>
                  <a:ea typeface="Calibri"/>
                  <a:cs typeface="Calibri"/>
                </a:rPr>
                <a:t> for frontend development, </a:t>
              </a:r>
              <a:r>
                <a:rPr lang="en-US" sz="2000" b="1" i="0" u="none" strike="noStrike" kern="1200" cap="none" spc="0" baseline="0">
                  <a:solidFill>
                    <a:srgbClr val="4A5568"/>
                  </a:solidFill>
                  <a:uFillTx/>
                  <a:latin typeface="Calibri"/>
                  <a:ea typeface="Calibri"/>
                  <a:cs typeface="Calibri"/>
                </a:rPr>
                <a:t>Python / FastAPI</a:t>
              </a:r>
              <a:r>
                <a:rPr lang="en-US" sz="2000" b="0" i="0" u="none" strike="noStrike" kern="1200" cap="none" spc="0" baseline="0">
                  <a:solidFill>
                    <a:srgbClr val="4A5568"/>
                  </a:solidFill>
                  <a:uFillTx/>
                  <a:latin typeface="Calibri"/>
                  <a:ea typeface="Calibri"/>
                  <a:cs typeface="Calibri"/>
                </a:rPr>
                <a:t> for backend services, and a database for storing interview session data and analytics.</a:t>
              </a:r>
              <a:endParaRPr lang="en-US" sz="1800" b="0" i="0" u="none" strike="noStrike" kern="1200" cap="none" spc="0" baseline="0">
                <a:solidFill>
                  <a:srgbClr val="000000"/>
                </a:solidFill>
                <a:uFillTx/>
                <a:latin typeface="Calibri"/>
                <a:ea typeface="Calibri"/>
                <a:cs typeface="Calibri"/>
              </a:endParaRPr>
            </a:p>
          </p:txBody>
        </p:sp>
        <p:sp>
          <p:nvSpPr>
            <p:cNvPr id="14" name="Shape 8">
              <a:extLst>
                <a:ext uri="{FF2B5EF4-FFF2-40B4-BE49-F238E27FC236}">
                  <a16:creationId xmlns:a16="http://schemas.microsoft.com/office/drawing/2014/main" id="{088F0754-350C-427D-A2C6-0363AFBD9E6A}"/>
                </a:ext>
              </a:extLst>
            </p:cNvPr>
            <p:cNvSpPr/>
            <p:nvPr/>
          </p:nvSpPr>
          <p:spPr>
            <a:xfrm>
              <a:off x="7460397" y="1073560"/>
              <a:ext cx="6824313" cy="3041029"/>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5" name="Shape 9">
              <a:extLst>
                <a:ext uri="{FF2B5EF4-FFF2-40B4-BE49-F238E27FC236}">
                  <a16:creationId xmlns:a16="http://schemas.microsoft.com/office/drawing/2014/main" id="{F7A35A1F-6060-42CD-A547-D4D262845D3A}"/>
                </a:ext>
              </a:extLst>
            </p:cNvPr>
            <p:cNvSpPr/>
            <p:nvPr/>
          </p:nvSpPr>
          <p:spPr>
            <a:xfrm>
              <a:off x="7460397" y="1073560"/>
              <a:ext cx="725987" cy="3041029"/>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6" name="Image 1" descr="preencoded.png">
              <a:extLst>
                <a:ext uri="{FF2B5EF4-FFF2-40B4-BE49-F238E27FC236}">
                  <a16:creationId xmlns:a16="http://schemas.microsoft.com/office/drawing/2014/main" id="{E0138C21-DF90-44A2-8DF1-B4A37A1D9BED}"/>
                </a:ext>
              </a:extLst>
            </p:cNvPr>
            <p:cNvPicPr>
              <a:picLocks noChangeAspect="1"/>
            </p:cNvPicPr>
            <p:nvPr/>
          </p:nvPicPr>
          <p:blipFill>
            <a:blip r:embed="rId4"/>
            <a:stretch>
              <a:fillRect/>
            </a:stretch>
          </p:blipFill>
          <p:spPr>
            <a:xfrm>
              <a:off x="7605595" y="2213945"/>
              <a:ext cx="435592" cy="456157"/>
            </a:xfrm>
            <a:prstGeom prst="rect">
              <a:avLst/>
            </a:prstGeom>
            <a:noFill/>
            <a:ln cap="flat">
              <a:noFill/>
            </a:ln>
          </p:spPr>
        </p:pic>
        <p:sp>
          <p:nvSpPr>
            <p:cNvPr id="17" name="Text 10">
              <a:extLst>
                <a:ext uri="{FF2B5EF4-FFF2-40B4-BE49-F238E27FC236}">
                  <a16:creationId xmlns:a16="http://schemas.microsoft.com/office/drawing/2014/main" id="{B908EA57-58E6-4C26-AD5A-ED04D556AB3F}"/>
                </a:ext>
              </a:extLst>
            </p:cNvPr>
            <p:cNvSpPr/>
            <p:nvPr/>
          </p:nvSpPr>
          <p:spPr>
            <a:xfrm>
              <a:off x="8404186" y="1225606"/>
              <a:ext cx="5662732" cy="57779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a:ea typeface="Calibri" pitchFamily="34"/>
                  <a:cs typeface="Calibri" pitchFamily="34"/>
                </a:rPr>
                <a:t>Methodology</a:t>
              </a:r>
            </a:p>
          </p:txBody>
        </p:sp>
        <p:sp>
          <p:nvSpPr>
            <p:cNvPr id="18" name="Text 11">
              <a:extLst>
                <a:ext uri="{FF2B5EF4-FFF2-40B4-BE49-F238E27FC236}">
                  <a16:creationId xmlns:a16="http://schemas.microsoft.com/office/drawing/2014/main" id="{FC71D91B-31DD-4D3F-BF2D-80B5D25A8228}"/>
                </a:ext>
              </a:extLst>
            </p:cNvPr>
            <p:cNvSpPr/>
            <p:nvPr/>
          </p:nvSpPr>
          <p:spPr>
            <a:xfrm>
              <a:off x="8404186" y="1833810"/>
              <a:ext cx="5662732" cy="2128714"/>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a:ea typeface="Calibri"/>
                  <a:cs typeface="Calibri"/>
                </a:rPr>
                <a:t>Follows the </a:t>
              </a:r>
              <a:r>
                <a:rPr lang="en-US" sz="2000" b="1" i="0" u="none" strike="noStrike" kern="1200" cap="none" spc="0" baseline="0">
                  <a:solidFill>
                    <a:srgbClr val="4A5568"/>
                  </a:solidFill>
                  <a:uFillTx/>
                  <a:latin typeface="Calibri"/>
                  <a:ea typeface="Calibri"/>
                  <a:cs typeface="Calibri"/>
                </a:rPr>
                <a:t>Design Science Research</a:t>
              </a:r>
              <a:r>
                <a:rPr lang="en-US" sz="2000" b="0" i="0" u="none" strike="noStrike" kern="1200" cap="none" spc="0" baseline="0">
                  <a:solidFill>
                    <a:srgbClr val="4A5568"/>
                  </a:solidFill>
                  <a:uFillTx/>
                  <a:latin typeface="Calibri"/>
                  <a:ea typeface="Calibri"/>
                  <a:cs typeface="Calibri"/>
                </a:rPr>
                <a:t> methodology: problem identification, requirement analysis, system design, implementation, and evaluation. The project combines knowledge from </a:t>
              </a:r>
              <a:r>
                <a:rPr lang="en-US" sz="2000" b="1" i="0" u="none" strike="noStrike" kern="1200" cap="none" spc="0" baseline="0">
                  <a:solidFill>
                    <a:srgbClr val="4A5568"/>
                  </a:solidFill>
                  <a:uFillTx/>
                  <a:latin typeface="Calibri"/>
                  <a:ea typeface="Calibri"/>
                  <a:cs typeface="Calibri"/>
                </a:rPr>
                <a:t>Artificial Intelligence, Computer Vision, Human-Computer Interaction, and Software Engineering</a:t>
              </a:r>
              <a:r>
                <a:rPr lang="en-US" sz="2000" b="0" i="0" u="none" strike="noStrike" kern="1200" cap="none" spc="0" baseline="0">
                  <a:solidFill>
                    <a:srgbClr val="4A5568"/>
                  </a:solidFill>
                  <a:uFillTx/>
                  <a:latin typeface="Calibri"/>
                  <a:ea typeface="Calibri"/>
                  <a:cs typeface="Calibri"/>
                </a:rPr>
                <a:t> to build and test an intelligent interview preparation system.</a:t>
              </a:r>
              <a:endParaRPr lang="en-US" sz="1800" b="0" i="0" u="none" strike="noStrike" kern="1200" cap="none" spc="0" baseline="0">
                <a:solidFill>
                  <a:srgbClr val="000000"/>
                </a:solidFill>
                <a:uFillTx/>
                <a:latin typeface="Calibri"/>
                <a:ea typeface="Calibri"/>
                <a:cs typeface="Calibri"/>
              </a:endParaRPr>
            </a:p>
          </p:txBody>
        </p:sp>
        <p:sp>
          <p:nvSpPr>
            <p:cNvPr id="19" name="Shape 12">
              <a:extLst>
                <a:ext uri="{FF2B5EF4-FFF2-40B4-BE49-F238E27FC236}">
                  <a16:creationId xmlns:a16="http://schemas.microsoft.com/office/drawing/2014/main" id="{E2196E16-67E8-4ACC-9603-B36D27CC2448}"/>
                </a:ext>
              </a:extLst>
            </p:cNvPr>
            <p:cNvSpPr/>
            <p:nvPr/>
          </p:nvSpPr>
          <p:spPr>
            <a:xfrm>
              <a:off x="345688" y="4418682"/>
              <a:ext cx="6824313" cy="3041029"/>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0" name="Shape 13">
              <a:extLst>
                <a:ext uri="{FF2B5EF4-FFF2-40B4-BE49-F238E27FC236}">
                  <a16:creationId xmlns:a16="http://schemas.microsoft.com/office/drawing/2014/main" id="{D9D0B52D-C356-4759-8A59-97EB844E74A6}"/>
                </a:ext>
              </a:extLst>
            </p:cNvPr>
            <p:cNvSpPr/>
            <p:nvPr/>
          </p:nvSpPr>
          <p:spPr>
            <a:xfrm>
              <a:off x="345688" y="4418682"/>
              <a:ext cx="725987" cy="3041029"/>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1" name="Image 2" descr="preencoded.png">
              <a:extLst>
                <a:ext uri="{FF2B5EF4-FFF2-40B4-BE49-F238E27FC236}">
                  <a16:creationId xmlns:a16="http://schemas.microsoft.com/office/drawing/2014/main" id="{07D9FDC3-4D89-47E0-8568-4D1BF57635A5}"/>
                </a:ext>
              </a:extLst>
            </p:cNvPr>
            <p:cNvPicPr>
              <a:picLocks noChangeAspect="1"/>
            </p:cNvPicPr>
            <p:nvPr/>
          </p:nvPicPr>
          <p:blipFill>
            <a:blip r:embed="rId5"/>
            <a:stretch>
              <a:fillRect/>
            </a:stretch>
          </p:blipFill>
          <p:spPr>
            <a:xfrm>
              <a:off x="490886" y="5559067"/>
              <a:ext cx="435592" cy="456157"/>
            </a:xfrm>
            <a:prstGeom prst="rect">
              <a:avLst/>
            </a:prstGeom>
            <a:noFill/>
            <a:ln cap="flat">
              <a:noFill/>
            </a:ln>
          </p:spPr>
        </p:pic>
        <p:sp>
          <p:nvSpPr>
            <p:cNvPr id="22" name="Text 14">
              <a:extLst>
                <a:ext uri="{FF2B5EF4-FFF2-40B4-BE49-F238E27FC236}">
                  <a16:creationId xmlns:a16="http://schemas.microsoft.com/office/drawing/2014/main" id="{4C3C7BB6-EA9F-4050-B350-9555A2D56E5E}"/>
                </a:ext>
              </a:extLst>
            </p:cNvPr>
            <p:cNvSpPr/>
            <p:nvPr/>
          </p:nvSpPr>
          <p:spPr>
            <a:xfrm>
              <a:off x="1289477" y="4570738"/>
              <a:ext cx="5662732" cy="57779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a:ea typeface="Calibri" pitchFamily="34"/>
                  <a:cs typeface="Calibri" pitchFamily="34"/>
                </a:rPr>
                <a:t>Validation &amp; Evaluation</a:t>
              </a:r>
              <a:endParaRPr lang="en-US" sz="2800" b="0" i="0" u="none" strike="noStrike" kern="1200" cap="none" spc="0" baseline="0">
                <a:solidFill>
                  <a:srgbClr val="000000"/>
                </a:solidFill>
                <a:uFillTx/>
                <a:latin typeface="Calibri"/>
              </a:endParaRPr>
            </a:p>
          </p:txBody>
        </p:sp>
        <p:sp>
          <p:nvSpPr>
            <p:cNvPr id="23" name="Text 15">
              <a:extLst>
                <a:ext uri="{FF2B5EF4-FFF2-40B4-BE49-F238E27FC236}">
                  <a16:creationId xmlns:a16="http://schemas.microsoft.com/office/drawing/2014/main" id="{38D2CADA-0511-4161-A32E-17FBB133E02A}"/>
                </a:ext>
              </a:extLst>
            </p:cNvPr>
            <p:cNvSpPr/>
            <p:nvPr/>
          </p:nvSpPr>
          <p:spPr>
            <a:xfrm>
              <a:off x="1289477" y="5178942"/>
              <a:ext cx="5662732" cy="2128714"/>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a:ea typeface="Calibri"/>
                  <a:cs typeface="Calibri"/>
                </a:rPr>
                <a:t>Validated through </a:t>
              </a:r>
              <a:r>
                <a:rPr lang="en-US" sz="2000" b="1" i="0" u="none" strike="noStrike" kern="1200" cap="none" spc="0" baseline="0">
                  <a:solidFill>
                    <a:srgbClr val="4A5568"/>
                  </a:solidFill>
                  <a:uFillTx/>
                  <a:latin typeface="Calibri"/>
                  <a:ea typeface="Calibri"/>
                  <a:cs typeface="Calibri"/>
                </a:rPr>
                <a:t>functional testing</a:t>
              </a:r>
              <a:r>
                <a:rPr lang="en-US" sz="2000" b="0" i="0" u="none" strike="noStrike" kern="1200" cap="none" spc="0" baseline="0">
                  <a:solidFill>
                    <a:srgbClr val="4A5568"/>
                  </a:solidFill>
                  <a:uFillTx/>
                  <a:latin typeface="Calibri"/>
                  <a:ea typeface="Calibri"/>
                  <a:cs typeface="Calibri"/>
                </a:rPr>
                <a:t>, </a:t>
              </a:r>
              <a:r>
                <a:rPr lang="en-US" sz="2000" b="1" i="0" u="none" strike="noStrike" kern="1200" cap="none" spc="0" baseline="0">
                  <a:solidFill>
                    <a:srgbClr val="4A5568"/>
                  </a:solidFill>
                  <a:uFillTx/>
                  <a:latin typeface="Calibri"/>
                  <a:ea typeface="Calibri"/>
                  <a:cs typeface="Calibri"/>
                </a:rPr>
                <a:t>usability testing</a:t>
              </a:r>
              <a:r>
                <a:rPr lang="en-US" sz="2000" b="0" i="0" u="none" strike="noStrike" kern="1200" cap="none" spc="0" baseline="0">
                  <a:solidFill>
                    <a:srgbClr val="4A5568"/>
                  </a:solidFill>
                  <a:uFillTx/>
                  <a:latin typeface="Calibri"/>
                  <a:ea typeface="Calibri"/>
                  <a:cs typeface="Calibri"/>
                </a:rPr>
                <a:t>, and </a:t>
              </a:r>
              <a:r>
                <a:rPr lang="en-US" sz="2000" b="1" i="0" u="none" strike="noStrike" kern="1200" cap="none" spc="0" baseline="0">
                  <a:solidFill>
                    <a:srgbClr val="4A5568"/>
                  </a:solidFill>
                  <a:uFillTx/>
                  <a:latin typeface="Calibri"/>
                  <a:ea typeface="Calibri"/>
                  <a:cs typeface="Calibri"/>
                </a:rPr>
                <a:t>performance evaluation</a:t>
              </a:r>
              <a:r>
                <a:rPr lang="en-US" sz="2000" b="0" i="0" u="none" strike="noStrike" kern="1200" cap="none" spc="0" baseline="0">
                  <a:solidFill>
                    <a:srgbClr val="4A5568"/>
                  </a:solidFill>
                  <a:uFillTx/>
                  <a:latin typeface="Calibri"/>
                  <a:ea typeface="Calibri"/>
                  <a:cs typeface="Calibri"/>
                </a:rPr>
                <a:t> of the interview simulation system. The behavioral analysis component will be tested by comparing the </a:t>
              </a:r>
              <a:r>
                <a:rPr lang="en-US" sz="2000" b="1" i="0" u="none" strike="noStrike" kern="1200" cap="none" spc="0" baseline="0">
                  <a:solidFill>
                    <a:srgbClr val="4A5568"/>
                  </a:solidFill>
                  <a:uFillTx/>
                  <a:latin typeface="Calibri"/>
                  <a:ea typeface="Calibri"/>
                  <a:cs typeface="Calibri"/>
                </a:rPr>
                <a:t>MobileNet-based model</a:t>
              </a:r>
              <a:r>
                <a:rPr lang="en-US" sz="2000" b="0" i="0" u="none" strike="noStrike" kern="1200" cap="none" spc="0" baseline="0">
                  <a:solidFill>
                    <a:srgbClr val="4A5568"/>
                  </a:solidFill>
                  <a:uFillTx/>
                  <a:latin typeface="Calibri"/>
                  <a:ea typeface="Calibri"/>
                  <a:cs typeface="Calibri"/>
                </a:rPr>
                <a:t> and the </a:t>
              </a:r>
              <a:r>
                <a:rPr lang="en-US" sz="2000" b="1" i="0" u="none" strike="noStrike" kern="1200" cap="none" spc="0" baseline="0">
                  <a:solidFill>
                    <a:srgbClr val="4A5568"/>
                  </a:solidFill>
                  <a:uFillTx/>
                  <a:latin typeface="Calibri"/>
                  <a:ea typeface="Calibri"/>
                  <a:cs typeface="Calibri"/>
                </a:rPr>
                <a:t>Vision-Language Model approach</a:t>
              </a:r>
              <a:r>
                <a:rPr lang="en-US" sz="2000" b="0" i="0" u="none" strike="noStrike" kern="1200" cap="none" spc="0" baseline="0">
                  <a:solidFill>
                    <a:srgbClr val="4A5568"/>
                  </a:solidFill>
                  <a:uFillTx/>
                  <a:latin typeface="Calibri"/>
                  <a:ea typeface="Calibri"/>
                  <a:cs typeface="Calibri"/>
                </a:rPr>
                <a:t> using measures such as </a:t>
              </a:r>
              <a:r>
                <a:rPr lang="en-US" sz="2000" b="1" i="0" u="none" strike="noStrike" kern="1200" cap="none" spc="0" baseline="0">
                  <a:solidFill>
                    <a:srgbClr val="4A5568"/>
                  </a:solidFill>
                  <a:uFillTx/>
                  <a:latin typeface="Calibri"/>
                  <a:ea typeface="Calibri"/>
                  <a:cs typeface="Calibri"/>
                </a:rPr>
                <a:t>accuracy, speed, and suitability for real-time interview assessment</a:t>
              </a:r>
              <a:r>
                <a:rPr lang="en-US" sz="2000" b="0" i="0" u="none" strike="noStrike" kern="1200" cap="none" spc="0" baseline="0">
                  <a:solidFill>
                    <a:srgbClr val="4A5568"/>
                  </a:solidFill>
                  <a:uFillTx/>
                  <a:latin typeface="Calibri"/>
                  <a:ea typeface="Calibri"/>
                  <a:cs typeface="Calibri"/>
                </a:rPr>
                <a:t>.</a:t>
              </a:r>
              <a:endParaRPr lang="en-US" sz="1800" b="0" i="0" u="none" strike="noStrike" kern="1200" cap="none" spc="0" baseline="0">
                <a:solidFill>
                  <a:srgbClr val="000000"/>
                </a:solidFill>
                <a:uFillTx/>
                <a:latin typeface="Calibri"/>
                <a:ea typeface="Calibri"/>
                <a:cs typeface="Calibri"/>
              </a:endParaRPr>
            </a:p>
          </p:txBody>
        </p:sp>
        <p:sp>
          <p:nvSpPr>
            <p:cNvPr id="24" name="Shape 16">
              <a:extLst>
                <a:ext uri="{FF2B5EF4-FFF2-40B4-BE49-F238E27FC236}">
                  <a16:creationId xmlns:a16="http://schemas.microsoft.com/office/drawing/2014/main" id="{B7BE701A-6852-4C85-804E-5053FBED3C8C}"/>
                </a:ext>
              </a:extLst>
            </p:cNvPr>
            <p:cNvSpPr/>
            <p:nvPr/>
          </p:nvSpPr>
          <p:spPr>
            <a:xfrm>
              <a:off x="7460397" y="4418682"/>
              <a:ext cx="6824313" cy="3041029"/>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5" name="Shape 17">
              <a:extLst>
                <a:ext uri="{FF2B5EF4-FFF2-40B4-BE49-F238E27FC236}">
                  <a16:creationId xmlns:a16="http://schemas.microsoft.com/office/drawing/2014/main" id="{93A9DBA1-ACCE-48DF-96F9-BC95A00A50C8}"/>
                </a:ext>
              </a:extLst>
            </p:cNvPr>
            <p:cNvSpPr/>
            <p:nvPr/>
          </p:nvSpPr>
          <p:spPr>
            <a:xfrm>
              <a:off x="7460397" y="4418682"/>
              <a:ext cx="725987" cy="3041029"/>
            </a:xfrm>
            <a:prstGeom prst="rect">
              <a:avLst/>
            </a:prstGeom>
            <a:solidFill>
              <a:srgbClr val="7C3AE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6" name="Image 3" descr="preencoded.png">
              <a:extLst>
                <a:ext uri="{FF2B5EF4-FFF2-40B4-BE49-F238E27FC236}">
                  <a16:creationId xmlns:a16="http://schemas.microsoft.com/office/drawing/2014/main" id="{CDD4264B-0940-45E4-B2B2-4EC985D0B224}"/>
                </a:ext>
              </a:extLst>
            </p:cNvPr>
            <p:cNvPicPr>
              <a:picLocks noChangeAspect="1"/>
            </p:cNvPicPr>
            <p:nvPr/>
          </p:nvPicPr>
          <p:blipFill>
            <a:blip r:embed="rId6"/>
            <a:stretch>
              <a:fillRect/>
            </a:stretch>
          </p:blipFill>
          <p:spPr>
            <a:xfrm>
              <a:off x="7605595" y="5559067"/>
              <a:ext cx="435592" cy="456157"/>
            </a:xfrm>
            <a:prstGeom prst="rect">
              <a:avLst/>
            </a:prstGeom>
            <a:noFill/>
            <a:ln cap="flat">
              <a:noFill/>
            </a:ln>
          </p:spPr>
        </p:pic>
        <p:sp>
          <p:nvSpPr>
            <p:cNvPr id="27" name="Text 18">
              <a:extLst>
                <a:ext uri="{FF2B5EF4-FFF2-40B4-BE49-F238E27FC236}">
                  <a16:creationId xmlns:a16="http://schemas.microsoft.com/office/drawing/2014/main" id="{1249B4CA-6D31-4AE1-BA67-CFDA4EB43DE2}"/>
                </a:ext>
              </a:extLst>
            </p:cNvPr>
            <p:cNvSpPr/>
            <p:nvPr/>
          </p:nvSpPr>
          <p:spPr>
            <a:xfrm>
              <a:off x="8404186" y="4570738"/>
              <a:ext cx="5662732" cy="57779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a:ea typeface="Calibri" pitchFamily="34"/>
                  <a:cs typeface="Calibri" pitchFamily="34"/>
                </a:rPr>
                <a:t>Data &amp; Ethics</a:t>
              </a:r>
              <a:endParaRPr lang="en-US" sz="2800" b="0" i="0" u="none" strike="noStrike" kern="1200" cap="none" spc="0" baseline="0">
                <a:solidFill>
                  <a:srgbClr val="000000"/>
                </a:solidFill>
                <a:uFillTx/>
                <a:latin typeface="Calibri"/>
              </a:endParaRPr>
            </a:p>
          </p:txBody>
        </p:sp>
        <p:sp>
          <p:nvSpPr>
            <p:cNvPr id="28" name="Text 19">
              <a:extLst>
                <a:ext uri="{FF2B5EF4-FFF2-40B4-BE49-F238E27FC236}">
                  <a16:creationId xmlns:a16="http://schemas.microsoft.com/office/drawing/2014/main" id="{E78C13FB-4C50-4189-B432-159FC9414A4B}"/>
                </a:ext>
              </a:extLst>
            </p:cNvPr>
            <p:cNvSpPr/>
            <p:nvPr/>
          </p:nvSpPr>
          <p:spPr>
            <a:xfrm>
              <a:off x="8404186" y="5178942"/>
              <a:ext cx="5662732" cy="2128714"/>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a:ea typeface="Calibri"/>
                  <a:cs typeface="Calibri"/>
                </a:rPr>
                <a:t>Uses interview-related datasets, role-based question prompts, and webcam-captured facial data during mock interview sessions. Security measures include </a:t>
              </a:r>
              <a:r>
                <a:rPr lang="en-US" sz="2000" b="1" i="0" u="none" strike="noStrike" kern="1200" cap="none" spc="0" baseline="0">
                  <a:solidFill>
                    <a:srgbClr val="4A5568"/>
                  </a:solidFill>
                  <a:uFillTx/>
                  <a:latin typeface="Calibri"/>
                  <a:ea typeface="Calibri"/>
                  <a:cs typeface="Calibri"/>
                </a:rPr>
                <a:t>secure storage</a:t>
              </a:r>
              <a:r>
                <a:rPr lang="en-US" sz="2000" b="0" i="0" u="none" strike="noStrike" kern="1200" cap="none" spc="0" baseline="0">
                  <a:solidFill>
                    <a:srgbClr val="4A5568"/>
                  </a:solidFill>
                  <a:uFillTx/>
                  <a:latin typeface="Calibri"/>
                  <a:ea typeface="Calibri"/>
                  <a:cs typeface="Calibri"/>
                </a:rPr>
                <a:t>, </a:t>
              </a:r>
              <a:r>
                <a:rPr lang="en-US" sz="2000" b="1" i="0" u="none" strike="noStrike" kern="1200" cap="none" spc="0" baseline="0">
                  <a:solidFill>
                    <a:srgbClr val="4A5568"/>
                  </a:solidFill>
                  <a:uFillTx/>
                  <a:latin typeface="Calibri"/>
                  <a:ea typeface="Calibri"/>
                  <a:cs typeface="Calibri"/>
                </a:rPr>
                <a:t>controlled access</a:t>
              </a:r>
              <a:r>
                <a:rPr lang="en-US" sz="2000" b="0" i="0" u="none" strike="noStrike" kern="1200" cap="none" spc="0" baseline="0">
                  <a:solidFill>
                    <a:srgbClr val="4A5568"/>
                  </a:solidFill>
                  <a:uFillTx/>
                  <a:latin typeface="Calibri"/>
                  <a:ea typeface="Calibri"/>
                  <a:cs typeface="Calibri"/>
                </a:rPr>
                <a:t>, and responsible handling of session data. Ethical considerations include </a:t>
              </a:r>
              <a:r>
                <a:rPr lang="en-US" sz="2000" b="1" i="0" u="none" strike="noStrike" kern="1200" cap="none" spc="0" baseline="0">
                  <a:solidFill>
                    <a:srgbClr val="4A5568"/>
                  </a:solidFill>
                  <a:uFillTx/>
                  <a:latin typeface="Calibri"/>
                  <a:ea typeface="Calibri"/>
                  <a:cs typeface="Calibri"/>
                </a:rPr>
                <a:t>participant consent</a:t>
              </a:r>
              <a:r>
                <a:rPr lang="en-US" sz="2000" b="0" i="0" u="none" strike="noStrike" kern="1200" cap="none" spc="0" baseline="0">
                  <a:solidFill>
                    <a:srgbClr val="4A5568"/>
                  </a:solidFill>
                  <a:uFillTx/>
                  <a:latin typeface="Calibri"/>
                  <a:ea typeface="Calibri"/>
                  <a:cs typeface="Calibri"/>
                </a:rPr>
                <a:t>, privacy protection, and proper use of webcam-based emotion analysis.</a:t>
              </a:r>
              <a:endParaRPr lang="en-US" sz="1800" b="0" i="0" u="none" strike="noStrike" kern="1200" cap="none" spc="0" baseline="0">
                <a:solidFill>
                  <a:srgbClr val="000000"/>
                </a:solidFill>
                <a:uFillTx/>
                <a:latin typeface="Calibri"/>
                <a:ea typeface="Calibri"/>
                <a:cs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30">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A001C9-A80F-4792-9E48-5CB9D4C1342F}"/>
              </a:ext>
            </a:extLst>
          </p:cNvPr>
          <p:cNvSpPr/>
          <p:nvPr/>
        </p:nvSpPr>
        <p:spPr>
          <a:xfrm>
            <a:off x="254056" y="390979"/>
            <a:ext cx="9846496" cy="720199"/>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2F5597"/>
                </a:solidFill>
                <a:uFillTx/>
                <a:latin typeface="Calibri"/>
                <a:cs typeface="Calibri"/>
              </a:rPr>
              <a:t>AI-Powered Simulation with Real-TimeAttention Tracking</a:t>
            </a:r>
            <a:endParaRPr lang="en-US" sz="1800" b="0" i="0" u="none" strike="noStrike" kern="1200" cap="none" spc="0" baseline="0">
              <a:solidFill>
                <a:srgbClr val="2F5597"/>
              </a:solidFill>
              <a:uFillTx/>
              <a:latin typeface="Calibri"/>
              <a:cs typeface="Calibri"/>
            </a:endParaRPr>
          </a:p>
        </p:txBody>
      </p:sp>
      <p:grpSp>
        <p:nvGrpSpPr>
          <p:cNvPr id="3" name="Group 14">
            <a:extLst>
              <a:ext uri="{FF2B5EF4-FFF2-40B4-BE49-F238E27FC236}">
                <a16:creationId xmlns:a16="http://schemas.microsoft.com/office/drawing/2014/main" id="{08819488-07F8-44A7-82BE-043EA0343730}"/>
              </a:ext>
            </a:extLst>
          </p:cNvPr>
          <p:cNvGrpSpPr/>
          <p:nvPr/>
        </p:nvGrpSpPr>
        <p:grpSpPr>
          <a:xfrm>
            <a:off x="0" y="7649733"/>
            <a:ext cx="14633225" cy="769887"/>
            <a:chOff x="0" y="7649733"/>
            <a:chExt cx="14633225" cy="769887"/>
          </a:xfrm>
        </p:grpSpPr>
        <p:sp>
          <p:nvSpPr>
            <p:cNvPr id="4" name="Rectangle 15">
              <a:extLst>
                <a:ext uri="{FF2B5EF4-FFF2-40B4-BE49-F238E27FC236}">
                  <a16:creationId xmlns:a16="http://schemas.microsoft.com/office/drawing/2014/main" id="{47434C60-37BF-4D24-A3F0-FF4A01A55DF3}"/>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16">
              <a:extLst>
                <a:ext uri="{FF2B5EF4-FFF2-40B4-BE49-F238E27FC236}">
                  <a16:creationId xmlns:a16="http://schemas.microsoft.com/office/drawing/2014/main" id="{D9136B46-186A-4B57-BA23-FA3E614DAB54}"/>
                </a:ext>
              </a:extLst>
            </p:cNvPr>
            <p:cNvSpPr/>
            <p:nvPr/>
          </p:nvSpPr>
          <p:spPr>
            <a:xfrm>
              <a:off x="0" y="789723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IT22291264 | Kavindu D.M.G| R26-IT-128 </a:t>
              </a:r>
              <a:r>
                <a:rPr lang="en-US" sz="2000" b="0" i="0" u="none" strike="noStrike" kern="1200" cap="none" spc="0" baseline="0">
                  <a:solidFill>
                    <a:srgbClr val="2C2926"/>
                  </a:solidFill>
                  <a:uFillTx/>
                  <a:latin typeface="Calibri"/>
                </a:rPr>
                <a:t> </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6" name="Picture 17">
              <a:extLst>
                <a:ext uri="{FF2B5EF4-FFF2-40B4-BE49-F238E27FC236}">
                  <a16:creationId xmlns:a16="http://schemas.microsoft.com/office/drawing/2014/main" id="{312C7B7C-492C-4024-B425-042A5E572A68}"/>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18">
              <a:extLst>
                <a:ext uri="{FF2B5EF4-FFF2-40B4-BE49-F238E27FC236}">
                  <a16:creationId xmlns:a16="http://schemas.microsoft.com/office/drawing/2014/main" id="{0683977E-DDAB-40D9-B22F-30EB575141DE}"/>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grpSp>
        <p:nvGrpSpPr>
          <p:cNvPr id="8" name="Group 51">
            <a:extLst>
              <a:ext uri="{FF2B5EF4-FFF2-40B4-BE49-F238E27FC236}">
                <a16:creationId xmlns:a16="http://schemas.microsoft.com/office/drawing/2014/main" id="{86548483-53B3-487E-BA70-9690DF24443A}"/>
              </a:ext>
            </a:extLst>
          </p:cNvPr>
          <p:cNvGrpSpPr/>
          <p:nvPr/>
        </p:nvGrpSpPr>
        <p:grpSpPr>
          <a:xfrm>
            <a:off x="7315200" y="1867433"/>
            <a:ext cx="6674022" cy="4913958"/>
            <a:chOff x="7315200" y="1867433"/>
            <a:chExt cx="6674022" cy="4913958"/>
          </a:xfrm>
        </p:grpSpPr>
        <p:sp>
          <p:nvSpPr>
            <p:cNvPr id="9" name="Shape 5">
              <a:extLst>
                <a:ext uri="{FF2B5EF4-FFF2-40B4-BE49-F238E27FC236}">
                  <a16:creationId xmlns:a16="http://schemas.microsoft.com/office/drawing/2014/main" id="{0CB9EB63-22BA-448B-8241-0839CB56CBE4}"/>
                </a:ext>
              </a:extLst>
            </p:cNvPr>
            <p:cNvSpPr/>
            <p:nvPr/>
          </p:nvSpPr>
          <p:spPr>
            <a:xfrm>
              <a:off x="7315200" y="1867433"/>
              <a:ext cx="6674022" cy="1573435"/>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0" name="Shape 6">
              <a:extLst>
                <a:ext uri="{FF2B5EF4-FFF2-40B4-BE49-F238E27FC236}">
                  <a16:creationId xmlns:a16="http://schemas.microsoft.com/office/drawing/2014/main" id="{5DD29F8F-1489-4C74-875C-AB029F41E26C}"/>
                </a:ext>
              </a:extLst>
            </p:cNvPr>
            <p:cNvSpPr/>
            <p:nvPr/>
          </p:nvSpPr>
          <p:spPr>
            <a:xfrm>
              <a:off x="7315200" y="1867433"/>
              <a:ext cx="667402" cy="1573435"/>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1" name="Text 7">
              <a:extLst>
                <a:ext uri="{FF2B5EF4-FFF2-40B4-BE49-F238E27FC236}">
                  <a16:creationId xmlns:a16="http://schemas.microsoft.com/office/drawing/2014/main" id="{8DB933FD-D64F-415F-BE59-93B95815E085}"/>
                </a:ext>
              </a:extLst>
            </p:cNvPr>
            <p:cNvSpPr/>
            <p:nvPr/>
          </p:nvSpPr>
          <p:spPr>
            <a:xfrm>
              <a:off x="7355241" y="2351571"/>
              <a:ext cx="587309" cy="605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01</a:t>
              </a:r>
              <a:endParaRPr lang="en-US" sz="1400" b="0" i="0" u="none" strike="noStrike" kern="1200" cap="none" spc="0" baseline="0">
                <a:solidFill>
                  <a:srgbClr val="000000"/>
                </a:solidFill>
                <a:uFillTx/>
                <a:latin typeface="Calibri"/>
              </a:endParaRPr>
            </a:p>
          </p:txBody>
        </p:sp>
        <p:sp>
          <p:nvSpPr>
            <p:cNvPr id="12" name="Text 8">
              <a:extLst>
                <a:ext uri="{FF2B5EF4-FFF2-40B4-BE49-F238E27FC236}">
                  <a16:creationId xmlns:a16="http://schemas.microsoft.com/office/drawing/2014/main" id="{F9CC9937-03D8-4947-BFA0-FDDC8C32AC0E}"/>
                </a:ext>
              </a:extLst>
            </p:cNvPr>
            <p:cNvSpPr/>
            <p:nvPr/>
          </p:nvSpPr>
          <p:spPr>
            <a:xfrm>
              <a:off x="8067851" y="1916582"/>
              <a:ext cx="5739661" cy="42361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System Overview</a:t>
              </a:r>
              <a:endParaRPr lang="en-US" sz="2000" b="0" i="0" u="none" strike="noStrike" kern="1200" cap="none" spc="0" baseline="0">
                <a:solidFill>
                  <a:srgbClr val="000000"/>
                </a:solidFill>
                <a:uFillTx/>
                <a:latin typeface="Calibri"/>
              </a:endParaRPr>
            </a:p>
          </p:txBody>
        </p:sp>
        <p:sp>
          <p:nvSpPr>
            <p:cNvPr id="13" name="Text 9">
              <a:extLst>
                <a:ext uri="{FF2B5EF4-FFF2-40B4-BE49-F238E27FC236}">
                  <a16:creationId xmlns:a16="http://schemas.microsoft.com/office/drawing/2014/main" id="{F315DCBA-C5F5-4605-8EC6-1449EFD6DCAA}"/>
                </a:ext>
              </a:extLst>
            </p:cNvPr>
            <p:cNvSpPr/>
            <p:nvPr/>
          </p:nvSpPr>
          <p:spPr>
            <a:xfrm>
              <a:off x="8116086" y="2448397"/>
              <a:ext cx="5739661" cy="907752"/>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4A5568"/>
                  </a:solidFill>
                  <a:uFillTx/>
                  <a:latin typeface="Calibri"/>
                  <a:ea typeface="Calibri"/>
                  <a:cs typeface="Calibri"/>
                </a:rPr>
                <a:t>This module allows Sri Lankan IT undergraduates to practice interviews in a realistic digital environment. It generates role-specific interview questions using AI, captures webcam video during responses, and analyzes emotion and attention levels in real time. The system then shows performance results and behavioral feedback through an interactive dashboard.</a:t>
              </a:r>
              <a:endParaRPr lang="en-US" sz="1400" b="0" i="0" u="none" strike="noStrike" kern="1200" cap="none" spc="0" baseline="0">
                <a:solidFill>
                  <a:srgbClr val="000000"/>
                </a:solidFill>
                <a:uFillTx/>
                <a:latin typeface="Calibri"/>
                <a:ea typeface="Calibri"/>
                <a:cs typeface="Calibri"/>
              </a:endParaRPr>
            </a:p>
          </p:txBody>
        </p:sp>
        <p:sp>
          <p:nvSpPr>
            <p:cNvPr id="14" name="Shape 10">
              <a:extLst>
                <a:ext uri="{FF2B5EF4-FFF2-40B4-BE49-F238E27FC236}">
                  <a16:creationId xmlns:a16="http://schemas.microsoft.com/office/drawing/2014/main" id="{54872AD9-BBF8-4E1C-9F95-1EAB3F584A4A}"/>
                </a:ext>
              </a:extLst>
            </p:cNvPr>
            <p:cNvSpPr/>
            <p:nvPr/>
          </p:nvSpPr>
          <p:spPr>
            <a:xfrm>
              <a:off x="7315200" y="3537694"/>
              <a:ext cx="6674022" cy="1573435"/>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5" name="Shape 11">
              <a:extLst>
                <a:ext uri="{FF2B5EF4-FFF2-40B4-BE49-F238E27FC236}">
                  <a16:creationId xmlns:a16="http://schemas.microsoft.com/office/drawing/2014/main" id="{74400C4D-9FF6-4741-8124-E4ABEE3457FF}"/>
                </a:ext>
              </a:extLst>
            </p:cNvPr>
            <p:cNvSpPr/>
            <p:nvPr/>
          </p:nvSpPr>
          <p:spPr>
            <a:xfrm>
              <a:off x="7315200" y="3537694"/>
              <a:ext cx="667402" cy="1573435"/>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6" name="Text 12">
              <a:extLst>
                <a:ext uri="{FF2B5EF4-FFF2-40B4-BE49-F238E27FC236}">
                  <a16:creationId xmlns:a16="http://schemas.microsoft.com/office/drawing/2014/main" id="{08353257-2435-4C41-B071-ECFE1A3463A4}"/>
                </a:ext>
              </a:extLst>
            </p:cNvPr>
            <p:cNvSpPr/>
            <p:nvPr/>
          </p:nvSpPr>
          <p:spPr>
            <a:xfrm>
              <a:off x="7355241" y="4021823"/>
              <a:ext cx="587309" cy="605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02</a:t>
              </a:r>
              <a:endParaRPr lang="en-US" sz="1800" b="0" i="0" u="none" strike="noStrike" kern="1200" cap="none" spc="0" baseline="0">
                <a:solidFill>
                  <a:srgbClr val="000000"/>
                </a:solidFill>
                <a:uFillTx/>
                <a:latin typeface="Calibri"/>
              </a:endParaRPr>
            </a:p>
          </p:txBody>
        </p:sp>
        <p:sp>
          <p:nvSpPr>
            <p:cNvPr id="17" name="Text 13">
              <a:extLst>
                <a:ext uri="{FF2B5EF4-FFF2-40B4-BE49-F238E27FC236}">
                  <a16:creationId xmlns:a16="http://schemas.microsoft.com/office/drawing/2014/main" id="{2DFE30B4-D3AD-452F-B62A-890BFB164D04}"/>
                </a:ext>
              </a:extLst>
            </p:cNvPr>
            <p:cNvSpPr/>
            <p:nvPr/>
          </p:nvSpPr>
          <p:spPr>
            <a:xfrm>
              <a:off x="8133496" y="3415137"/>
              <a:ext cx="5739661" cy="69333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Dependencies</a:t>
              </a:r>
              <a:endParaRPr lang="en-US" sz="2000" b="0" i="0" u="none" strike="noStrike" kern="1200" cap="none" spc="0" baseline="0">
                <a:solidFill>
                  <a:srgbClr val="000000"/>
                </a:solidFill>
                <a:uFillTx/>
                <a:latin typeface="Calibri"/>
              </a:endParaRPr>
            </a:p>
          </p:txBody>
        </p:sp>
        <p:sp>
          <p:nvSpPr>
            <p:cNvPr id="18" name="Text 14">
              <a:extLst>
                <a:ext uri="{FF2B5EF4-FFF2-40B4-BE49-F238E27FC236}">
                  <a16:creationId xmlns:a16="http://schemas.microsoft.com/office/drawing/2014/main" id="{3B9614D3-3D1F-4565-A7A3-E2D2673CE9C0}"/>
                </a:ext>
              </a:extLst>
            </p:cNvPr>
            <p:cNvSpPr/>
            <p:nvPr/>
          </p:nvSpPr>
          <p:spPr>
            <a:xfrm>
              <a:off x="8116086" y="4118649"/>
              <a:ext cx="5739661" cy="907752"/>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1200" cap="none" spc="0" baseline="0">
                  <a:solidFill>
                    <a:srgbClr val="4A5568"/>
                  </a:solidFill>
                  <a:uFillTx/>
                  <a:latin typeface="Calibri"/>
                  <a:ea typeface="Calibri"/>
                  <a:cs typeface="Calibri"/>
                </a:rPr>
                <a:t>Depends on several shared system components: Large Language Model for dynamic question generation, MediaPipe for face and landmark detection, MobileNet-based emotion or attention recognition, optional Vision-Language Model for comparison, user authentication, frontend interface, backend API, and database for storing session data and analytics.</a:t>
              </a:r>
              <a:endParaRPr lang="en-US" sz="1400" b="0" i="0" u="none" strike="noStrike" kern="1200" cap="none" spc="0" baseline="0">
                <a:solidFill>
                  <a:srgbClr val="000000"/>
                </a:solidFill>
                <a:uFillTx/>
                <a:latin typeface="Calibri"/>
                <a:ea typeface="Calibri"/>
                <a:cs typeface="Calibri"/>
              </a:endParaRPr>
            </a:p>
          </p:txBody>
        </p:sp>
        <p:sp>
          <p:nvSpPr>
            <p:cNvPr id="19" name="Shape 15">
              <a:extLst>
                <a:ext uri="{FF2B5EF4-FFF2-40B4-BE49-F238E27FC236}">
                  <a16:creationId xmlns:a16="http://schemas.microsoft.com/office/drawing/2014/main" id="{CB6A6208-34C0-4FA4-ADD3-172286BDBB3C}"/>
                </a:ext>
              </a:extLst>
            </p:cNvPr>
            <p:cNvSpPr/>
            <p:nvPr/>
          </p:nvSpPr>
          <p:spPr>
            <a:xfrm>
              <a:off x="7315200" y="5207956"/>
              <a:ext cx="6674022" cy="1573435"/>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0" name="Shape 16">
              <a:extLst>
                <a:ext uri="{FF2B5EF4-FFF2-40B4-BE49-F238E27FC236}">
                  <a16:creationId xmlns:a16="http://schemas.microsoft.com/office/drawing/2014/main" id="{987021B2-08B1-4EA8-8563-4CD17E3D013A}"/>
                </a:ext>
              </a:extLst>
            </p:cNvPr>
            <p:cNvSpPr/>
            <p:nvPr/>
          </p:nvSpPr>
          <p:spPr>
            <a:xfrm>
              <a:off x="7315200" y="5207956"/>
              <a:ext cx="667402" cy="1573435"/>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1" name="Text 17">
              <a:extLst>
                <a:ext uri="{FF2B5EF4-FFF2-40B4-BE49-F238E27FC236}">
                  <a16:creationId xmlns:a16="http://schemas.microsoft.com/office/drawing/2014/main" id="{7DF17AA7-0098-4276-A1F3-0330A3F5D0E7}"/>
                </a:ext>
              </a:extLst>
            </p:cNvPr>
            <p:cNvSpPr/>
            <p:nvPr/>
          </p:nvSpPr>
          <p:spPr>
            <a:xfrm>
              <a:off x="7355241" y="5692085"/>
              <a:ext cx="587309" cy="605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FFFFFF"/>
                  </a:solidFill>
                  <a:uFillTx/>
                  <a:latin typeface="Calibri" pitchFamily="34"/>
                  <a:ea typeface="Calibri" pitchFamily="34"/>
                  <a:cs typeface="Calibri" pitchFamily="34"/>
                </a:rPr>
                <a:t>03</a:t>
              </a:r>
              <a:endParaRPr lang="en-US" sz="1800" b="0" i="0" u="none" strike="noStrike" kern="1200" cap="none" spc="0" baseline="0">
                <a:solidFill>
                  <a:srgbClr val="000000"/>
                </a:solidFill>
                <a:uFillTx/>
                <a:latin typeface="Calibri"/>
              </a:endParaRPr>
            </a:p>
          </p:txBody>
        </p:sp>
        <p:sp>
          <p:nvSpPr>
            <p:cNvPr id="22" name="Text 18">
              <a:extLst>
                <a:ext uri="{FF2B5EF4-FFF2-40B4-BE49-F238E27FC236}">
                  <a16:creationId xmlns:a16="http://schemas.microsoft.com/office/drawing/2014/main" id="{62D9E0C9-A26A-478C-91C2-72FC7D67ADD0}"/>
                </a:ext>
              </a:extLst>
            </p:cNvPr>
            <p:cNvSpPr/>
            <p:nvPr/>
          </p:nvSpPr>
          <p:spPr>
            <a:xfrm>
              <a:off x="8116086" y="5328986"/>
              <a:ext cx="5739661" cy="42361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Implementation Details</a:t>
              </a:r>
              <a:endParaRPr lang="en-US" sz="2000" b="0" i="0" u="none" strike="noStrike" kern="1200" cap="none" spc="0" baseline="0">
                <a:solidFill>
                  <a:srgbClr val="000000"/>
                </a:solidFill>
                <a:uFillTx/>
                <a:latin typeface="Calibri"/>
              </a:endParaRPr>
            </a:p>
          </p:txBody>
        </p:sp>
        <p:sp>
          <p:nvSpPr>
            <p:cNvPr id="23" name="Text 19">
              <a:extLst>
                <a:ext uri="{FF2B5EF4-FFF2-40B4-BE49-F238E27FC236}">
                  <a16:creationId xmlns:a16="http://schemas.microsoft.com/office/drawing/2014/main" id="{279F62E1-A55C-4389-845C-36A929D8649D}"/>
                </a:ext>
              </a:extLst>
            </p:cNvPr>
            <p:cNvSpPr/>
            <p:nvPr/>
          </p:nvSpPr>
          <p:spPr>
            <a:xfrm>
              <a:off x="8116086" y="5788910"/>
              <a:ext cx="5739661" cy="907752"/>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500" b="0" i="0" u="none" strike="noStrike" kern="1200" cap="none" spc="0" baseline="0">
                  <a:solidFill>
                    <a:srgbClr val="4A5568"/>
                  </a:solidFill>
                  <a:uFillTx/>
                  <a:latin typeface="Calibri"/>
                  <a:ea typeface="Calibri"/>
                  <a:cs typeface="Calibri"/>
                </a:rPr>
                <a:t>Students answer AI-generated questions while the system captures webcam data to analyze </a:t>
              </a:r>
              <a:r>
                <a:rPr lang="en-US" sz="1500" b="1" i="0" u="none" strike="noStrike" kern="1200" cap="none" spc="0" baseline="0">
                  <a:solidFill>
                    <a:srgbClr val="4A5568"/>
                  </a:solidFill>
                  <a:uFillTx/>
                  <a:latin typeface="Calibri"/>
                  <a:ea typeface="Calibri"/>
                  <a:cs typeface="Calibri"/>
                </a:rPr>
                <a:t>emotion, attention, and behavior</a:t>
              </a:r>
              <a:r>
                <a:rPr lang="en-US" sz="1500" b="0" i="0" u="none" strike="noStrike" kern="1200" cap="none" spc="0" baseline="0">
                  <a:solidFill>
                    <a:srgbClr val="4A5568"/>
                  </a:solidFill>
                  <a:uFillTx/>
                  <a:latin typeface="Calibri"/>
                  <a:ea typeface="Calibri"/>
                  <a:cs typeface="Calibri"/>
                </a:rPr>
                <a:t>. Results are stored and shown through a dashboard.</a:t>
              </a:r>
              <a:endParaRPr lang="en-US" sz="1800" b="0" i="0" u="none" strike="noStrike" kern="1200" cap="none" spc="0" baseline="0">
                <a:solidFill>
                  <a:srgbClr val="000000"/>
                </a:solidFill>
                <a:uFillTx/>
                <a:latin typeface="Calibri"/>
                <a:ea typeface="Calibri"/>
                <a:cs typeface="Calibri"/>
              </a:endParaRPr>
            </a:p>
          </p:txBody>
        </p:sp>
      </p:grpSp>
      <p:pic>
        <p:nvPicPr>
          <p:cNvPr id="24" name="Picture 2" descr="A diagram of a process&#10;&#10;AI-generated content may be incorrect.">
            <a:extLst>
              <a:ext uri="{FF2B5EF4-FFF2-40B4-BE49-F238E27FC236}">
                <a16:creationId xmlns:a16="http://schemas.microsoft.com/office/drawing/2014/main" id="{C9A775FD-1AE3-4B25-80FE-3A10D3620CF8}"/>
              </a:ext>
            </a:extLst>
          </p:cNvPr>
          <p:cNvPicPr>
            <a:picLocks noChangeAspect="1"/>
          </p:cNvPicPr>
          <p:nvPr/>
        </p:nvPicPr>
        <p:blipFill>
          <a:blip r:embed="rId3"/>
          <a:stretch>
            <a:fillRect/>
          </a:stretch>
        </p:blipFill>
        <p:spPr>
          <a:xfrm>
            <a:off x="-3621" y="1867104"/>
            <a:ext cx="7322442" cy="4752978"/>
          </a:xfrm>
          <a:prstGeom prst="rect">
            <a:avLst/>
          </a:prstGeom>
          <a:noFill/>
          <a:ln cap="flat">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49">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DFF0B76-6AD2-4A53-8BA2-7DB8CFE82018}"/>
              </a:ext>
            </a:extLst>
          </p:cNvPr>
          <p:cNvSpPr/>
          <p:nvPr/>
        </p:nvSpPr>
        <p:spPr>
          <a:xfrm>
            <a:off x="793790" y="198863"/>
            <a:ext cx="10062898" cy="1417557"/>
          </a:xfrm>
          <a:prstGeom prst="rect">
            <a:avLst/>
          </a:prstGeom>
          <a:noFill/>
          <a:ln cap="flat">
            <a:noFill/>
            <a:prstDash val="solid"/>
          </a:ln>
        </p:spPr>
        <p:txBody>
          <a:bodyPr vert="horz" wrap="square" lIns="0" tIns="0" rIns="0" bIns="0" anchor="t" anchorCtr="0" compatLnSpc="1">
            <a:noAutofit/>
          </a:bodyPr>
          <a:lstStyle/>
          <a:p>
            <a:pPr marL="0" marR="0" lvl="0" indent="0" algn="ctr"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4800" b="0" i="0" u="none" strike="noStrike" kern="1200" cap="none" spc="0" baseline="0">
                <a:solidFill>
                  <a:srgbClr val="2F5597"/>
                </a:solidFill>
                <a:uFillTx/>
                <a:latin typeface="Calibri"/>
                <a:ea typeface="Calibri"/>
                <a:cs typeface="Calibri"/>
              </a:rPr>
              <a:t>Career Pathway Prediction: Temporal Graph-Based Trajectory Modeling</a:t>
            </a:r>
            <a:endParaRPr lang="en-US" sz="1800" b="0" i="0" u="none" strike="noStrike" kern="1200" cap="none" spc="0" baseline="0">
              <a:solidFill>
                <a:srgbClr val="2F5597"/>
              </a:solidFill>
              <a:uFillTx/>
              <a:latin typeface="Calibri"/>
              <a:ea typeface="Calibri"/>
              <a:cs typeface="Calibri"/>
            </a:endParaRPr>
          </a:p>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endParaRPr lang="en-US" sz="4800" b="0" i="0" u="none" strike="noStrike" kern="1200" cap="none" spc="0" baseline="0">
              <a:solidFill>
                <a:srgbClr val="2F5597"/>
              </a:solidFill>
              <a:uFillTx/>
              <a:latin typeface="Calibri"/>
              <a:ea typeface="Calibri"/>
              <a:cs typeface="Calibri"/>
            </a:endParaRPr>
          </a:p>
        </p:txBody>
      </p:sp>
      <p:sp>
        <p:nvSpPr>
          <p:cNvPr id="3" name="Shape 2">
            <a:extLst>
              <a:ext uri="{FF2B5EF4-FFF2-40B4-BE49-F238E27FC236}">
                <a16:creationId xmlns:a16="http://schemas.microsoft.com/office/drawing/2014/main" id="{71DC31BB-C321-4A36-8B17-464749915934}"/>
              </a:ext>
            </a:extLst>
          </p:cNvPr>
          <p:cNvSpPr/>
          <p:nvPr/>
        </p:nvSpPr>
        <p:spPr>
          <a:xfrm>
            <a:off x="793790" y="4767388"/>
            <a:ext cx="10381384" cy="2696785"/>
          </a:xfrm>
          <a:custGeom>
            <a:avLst/>
            <a:gdLst>
              <a:gd name="f0" fmla="val 10800000"/>
              <a:gd name="f1" fmla="val 5400000"/>
              <a:gd name="f2" fmla="val 16200000"/>
              <a:gd name="f3" fmla="val w"/>
              <a:gd name="f4" fmla="val h"/>
              <a:gd name="f5" fmla="val ss"/>
              <a:gd name="f6" fmla="val 0"/>
              <a:gd name="f7" fmla="*/ 5419351 1 1725033"/>
              <a:gd name="f8" fmla="val 45"/>
              <a:gd name="f9" fmla="val 1189"/>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alpha val="95000"/>
            </a:srgbClr>
          </a:solidFill>
          <a:ln w="3047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cs typeface="Times New Roman" pitchFamily="18"/>
            </a:endParaRPr>
          </a:p>
        </p:txBody>
      </p:sp>
      <p:sp>
        <p:nvSpPr>
          <p:cNvPr id="4" name="Text 3">
            <a:extLst>
              <a:ext uri="{FF2B5EF4-FFF2-40B4-BE49-F238E27FC236}">
                <a16:creationId xmlns:a16="http://schemas.microsoft.com/office/drawing/2014/main" id="{D2A1C198-96C9-4464-88F8-3417BD45B2B2}"/>
              </a:ext>
            </a:extLst>
          </p:cNvPr>
          <p:cNvSpPr/>
          <p:nvPr/>
        </p:nvSpPr>
        <p:spPr>
          <a:xfrm>
            <a:off x="1051084" y="4913299"/>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Times New Roman" pitchFamily="18"/>
              </a:rPr>
              <a:t>Novelty</a:t>
            </a:r>
            <a:endParaRPr lang="en-US" sz="2200" b="1" i="0" u="none" strike="noStrike" kern="1200" cap="none" spc="0" baseline="0">
              <a:solidFill>
                <a:srgbClr val="BF9000"/>
              </a:solidFill>
              <a:uFillTx/>
              <a:latin typeface="Calibri"/>
              <a:cs typeface="Times New Roman" pitchFamily="18"/>
            </a:endParaRPr>
          </a:p>
        </p:txBody>
      </p:sp>
      <p:sp>
        <p:nvSpPr>
          <p:cNvPr id="5" name="Text 4">
            <a:extLst>
              <a:ext uri="{FF2B5EF4-FFF2-40B4-BE49-F238E27FC236}">
                <a16:creationId xmlns:a16="http://schemas.microsoft.com/office/drawing/2014/main" id="{3B71412B-EEF2-4588-8D97-B20B7C3D3AAC}"/>
              </a:ext>
            </a:extLst>
          </p:cNvPr>
          <p:cNvSpPr/>
          <p:nvPr/>
        </p:nvSpPr>
        <p:spPr>
          <a:xfrm>
            <a:off x="930310" y="5253913"/>
            <a:ext cx="9805604" cy="1853424"/>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Localized Temporal Knowledge Graph – First career trajectory graph built specifically from Sri Lankan IT professional data, capturing how careers actually evolve in the local market </a:t>
            </a:r>
            <a:endParaRPr lang="en-US" sz="18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Small-Data Transformer Adaptation – Sequence model adapted to work with limited Sri Lankan data using transfer learning, making sophisticated prediction accessible to smaller labor markets </a:t>
            </a:r>
            <a:endParaRPr lang="en-US" sz="1800" b="0" i="0" u="none" strike="noStrike" kern="1200" cap="none" spc="0" baseline="0">
              <a:solidFill>
                <a:srgbClr val="000000"/>
              </a:solidFill>
              <a:uFillTx/>
              <a:latin typeface="Calibri"/>
              <a:ea typeface="Calibri"/>
              <a:cs typeface="Calibri"/>
            </a:endParaRPr>
          </a:p>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Probabilistic Pathways with Explainability – Multiple possible futures shown with confidence estimates and evidence trails, not just a single "best" path </a:t>
            </a:r>
            <a:endParaRPr lang="en-US" sz="1800" b="0" i="0" u="none" strike="noStrike" kern="1200" cap="none" spc="0" baseline="0">
              <a:solidFill>
                <a:srgbClr val="000000"/>
              </a:solidFill>
              <a:uFillTx/>
              <a:latin typeface="Calibri"/>
              <a:ea typeface="Calibri"/>
              <a:cs typeface="Calibri"/>
            </a:endParaRPr>
          </a:p>
        </p:txBody>
      </p:sp>
      <p:sp>
        <p:nvSpPr>
          <p:cNvPr id="6" name="Shape 2">
            <a:extLst>
              <a:ext uri="{FF2B5EF4-FFF2-40B4-BE49-F238E27FC236}">
                <a16:creationId xmlns:a16="http://schemas.microsoft.com/office/drawing/2014/main" id="{5CB5A684-8AF0-4857-8E17-845BA6FC99F6}"/>
              </a:ext>
            </a:extLst>
          </p:cNvPr>
          <p:cNvSpPr/>
          <p:nvPr/>
        </p:nvSpPr>
        <p:spPr>
          <a:xfrm>
            <a:off x="793790" y="2440954"/>
            <a:ext cx="10364138" cy="2143554"/>
          </a:xfrm>
          <a:custGeom>
            <a:avLst/>
            <a:gdLst>
              <a:gd name="f0" fmla="val 10800000"/>
              <a:gd name="f1" fmla="val 5400000"/>
              <a:gd name="f2" fmla="val 16200000"/>
              <a:gd name="f3" fmla="val w"/>
              <a:gd name="f4" fmla="val h"/>
              <a:gd name="f5" fmla="val ss"/>
              <a:gd name="f6" fmla="val 0"/>
              <a:gd name="f7" fmla="*/ 5419351 1 1725033"/>
              <a:gd name="f8" fmla="val 45"/>
              <a:gd name="f9" fmla="val 1189"/>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alpha val="95000"/>
            </a:srgbClr>
          </a:solidFill>
          <a:ln w="3047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cs typeface="Times New Roman" pitchFamily="18"/>
            </a:endParaRPr>
          </a:p>
        </p:txBody>
      </p:sp>
      <p:sp>
        <p:nvSpPr>
          <p:cNvPr id="7" name="Text 3">
            <a:extLst>
              <a:ext uri="{FF2B5EF4-FFF2-40B4-BE49-F238E27FC236}">
                <a16:creationId xmlns:a16="http://schemas.microsoft.com/office/drawing/2014/main" id="{72CBB83C-52BB-4C27-AD49-9C92E85B6080}"/>
              </a:ext>
            </a:extLst>
          </p:cNvPr>
          <p:cNvSpPr/>
          <p:nvPr/>
        </p:nvSpPr>
        <p:spPr>
          <a:xfrm>
            <a:off x="1051084" y="2443926"/>
            <a:ext cx="2316230"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rPr>
              <a:t>Contribution </a:t>
            </a:r>
            <a:endParaRPr lang="en-US" sz="2200" b="1" i="0" u="none" strike="noStrike" kern="1200" cap="none" spc="0" baseline="0">
              <a:solidFill>
                <a:srgbClr val="BF9000"/>
              </a:solidFill>
              <a:uFillTx/>
              <a:latin typeface="Calibri"/>
              <a:cs typeface="Times New Roman" pitchFamily="18"/>
            </a:endParaRPr>
          </a:p>
        </p:txBody>
      </p:sp>
      <p:sp>
        <p:nvSpPr>
          <p:cNvPr id="8" name="Text 4">
            <a:extLst>
              <a:ext uri="{FF2B5EF4-FFF2-40B4-BE49-F238E27FC236}">
                <a16:creationId xmlns:a16="http://schemas.microsoft.com/office/drawing/2014/main" id="{8F0E1410-9CD3-41DC-9A90-4A3F21409E7E}"/>
              </a:ext>
            </a:extLst>
          </p:cNvPr>
          <p:cNvSpPr/>
          <p:nvPr/>
        </p:nvSpPr>
        <p:spPr>
          <a:xfrm>
            <a:off x="930310" y="2788718"/>
            <a:ext cx="9805604" cy="1414595"/>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This component helps IT undergraduates visualize and understand their possible career futures before they enter the job market. It analyzes real career histories of Sri Lankan IT professionals to predict probable career paths from a student's current position. This supports the main goal of the RecruitAI ecosystem by providing evidence-based career guidance, reducing uncertainty, and helping students make informed decisions about their professional development</a:t>
            </a:r>
            <a:endParaRPr lang="en-US" sz="1800" b="0" i="0" u="none" strike="noStrike" kern="1200" cap="none" spc="0" baseline="0">
              <a:solidFill>
                <a:srgbClr val="000000"/>
              </a:solidFill>
              <a:uFillTx/>
              <a:latin typeface="Calibri"/>
            </a:endParaRPr>
          </a:p>
        </p:txBody>
      </p:sp>
      <p:sp>
        <p:nvSpPr>
          <p:cNvPr id="9" name="Text 0">
            <a:extLst>
              <a:ext uri="{FF2B5EF4-FFF2-40B4-BE49-F238E27FC236}">
                <a16:creationId xmlns:a16="http://schemas.microsoft.com/office/drawing/2014/main" id="{5D9A3520-B8FC-4775-A1A6-46E9168AD534}"/>
              </a:ext>
            </a:extLst>
          </p:cNvPr>
          <p:cNvSpPr/>
          <p:nvPr/>
        </p:nvSpPr>
        <p:spPr>
          <a:xfrm>
            <a:off x="793790" y="1561685"/>
            <a:ext cx="10295129" cy="75078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3200" b="1" i="0" u="none" strike="noStrike" kern="1200" cap="none" spc="0" baseline="0">
                <a:solidFill>
                  <a:srgbClr val="000000"/>
                </a:solidFill>
                <a:uFillTx/>
                <a:latin typeface="Calibri"/>
                <a:cs typeface="Times New Roman"/>
              </a:rPr>
              <a:t>IT22</a:t>
            </a:r>
            <a:r>
              <a:rPr lang="en-US" sz="3200" b="1" i="0" u="none" strike="noStrike" kern="1200" cap="none" spc="0" baseline="0">
                <a:solidFill>
                  <a:srgbClr val="000000"/>
                </a:solidFill>
                <a:uFillTx/>
                <a:latin typeface="Calibri"/>
                <a:ea typeface="Calibri"/>
                <a:cs typeface="Calibri"/>
              </a:rPr>
              <a:t>153890</a:t>
            </a:r>
            <a:r>
              <a:rPr lang="en-US" sz="3200" b="1" i="0" u="none" strike="noStrike" kern="1200" cap="none" spc="0" baseline="0">
                <a:solidFill>
                  <a:srgbClr val="000000"/>
                </a:solidFill>
                <a:uFillTx/>
                <a:latin typeface="Calibri"/>
                <a:cs typeface="Times New Roman"/>
              </a:rPr>
              <a:t>| </a:t>
            </a:r>
            <a:r>
              <a:rPr lang="en-US" sz="3200" b="1" i="0" u="none" strike="noStrike" kern="1200" cap="none" spc="0" baseline="0">
                <a:solidFill>
                  <a:srgbClr val="000000"/>
                </a:solidFill>
                <a:uFillTx/>
                <a:latin typeface="Calibri"/>
                <a:ea typeface="Calibri"/>
                <a:cs typeface="Calibri"/>
              </a:rPr>
              <a:t>ALPHONSO S.R.P.A.M.D.N</a:t>
            </a:r>
            <a:endParaRPr lang="en-US" sz="3200" b="1" i="0" u="none" strike="noStrike" kern="1200" cap="none" spc="0" baseline="0">
              <a:solidFill>
                <a:srgbClr val="000000"/>
              </a:solidFill>
              <a:uFillTx/>
              <a:latin typeface="Calibri"/>
              <a:cs typeface="Times New Roman"/>
            </a:endParaRPr>
          </a:p>
        </p:txBody>
      </p:sp>
      <p:grpSp>
        <p:nvGrpSpPr>
          <p:cNvPr id="10" name="Group 9">
            <a:extLst>
              <a:ext uri="{FF2B5EF4-FFF2-40B4-BE49-F238E27FC236}">
                <a16:creationId xmlns:a16="http://schemas.microsoft.com/office/drawing/2014/main" id="{798706E6-5E35-4527-8108-4933739C2669}"/>
              </a:ext>
            </a:extLst>
          </p:cNvPr>
          <p:cNvGrpSpPr/>
          <p:nvPr/>
        </p:nvGrpSpPr>
        <p:grpSpPr>
          <a:xfrm>
            <a:off x="0" y="7649733"/>
            <a:ext cx="14633225" cy="769887"/>
            <a:chOff x="0" y="7649733"/>
            <a:chExt cx="14633225" cy="769887"/>
          </a:xfrm>
        </p:grpSpPr>
        <p:sp>
          <p:nvSpPr>
            <p:cNvPr id="11" name="Rectangle 10">
              <a:extLst>
                <a:ext uri="{FF2B5EF4-FFF2-40B4-BE49-F238E27FC236}">
                  <a16:creationId xmlns:a16="http://schemas.microsoft.com/office/drawing/2014/main" id="{E9C5ACD5-4A29-4432-91B9-0DC0C508B318}"/>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12" name="Rectangle 11">
              <a:extLst>
                <a:ext uri="{FF2B5EF4-FFF2-40B4-BE49-F238E27FC236}">
                  <a16:creationId xmlns:a16="http://schemas.microsoft.com/office/drawing/2014/main" id="{C5B3B5BE-B6A6-41F1-A7C1-B8C5583C012C}"/>
                </a:ext>
              </a:extLst>
            </p:cNvPr>
            <p:cNvSpPr/>
            <p:nvPr/>
          </p:nvSpPr>
          <p:spPr>
            <a:xfrm>
              <a:off x="0" y="789723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IT22153890 | Alphonso S.R.P.A.M.D.N. | R26-IT-128 </a:t>
              </a:r>
              <a:r>
                <a:rPr lang="en-US" sz="2000" b="0" i="0" u="none" strike="noStrike" kern="1200" cap="none" spc="0" baseline="0">
                  <a:solidFill>
                    <a:srgbClr val="2C2926"/>
                  </a:solidFill>
                  <a:uFillTx/>
                  <a:latin typeface="Calibri"/>
                </a:rPr>
                <a:t> </a:t>
              </a:r>
              <a:endParaRPr lang="en-US" sz="1800" b="0" i="0" u="none" strike="noStrike" kern="1200" cap="none" spc="0" baseline="0">
                <a:solidFill>
                  <a:srgbClr val="000000"/>
                </a:solidFill>
                <a:uFillTx/>
                <a:latin typeface="Calibri"/>
                <a:ea typeface="Calibri"/>
                <a:cs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13" name="Picture 12">
              <a:extLst>
                <a:ext uri="{FF2B5EF4-FFF2-40B4-BE49-F238E27FC236}">
                  <a16:creationId xmlns:a16="http://schemas.microsoft.com/office/drawing/2014/main" id="{CEE14599-8073-4464-B922-F0724FB8636D}"/>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14" name="Rectangle 13">
              <a:extLst>
                <a:ext uri="{FF2B5EF4-FFF2-40B4-BE49-F238E27FC236}">
                  <a16:creationId xmlns:a16="http://schemas.microsoft.com/office/drawing/2014/main" id="{E1964037-78F3-4A8F-A954-8A8C49337798}"/>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41">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077196F-1024-4E9C-B1C4-60C1948EA914}"/>
              </a:ext>
            </a:extLst>
          </p:cNvPr>
          <p:cNvSpPr/>
          <p:nvPr/>
        </p:nvSpPr>
        <p:spPr>
          <a:xfrm>
            <a:off x="5457367" y="293705"/>
            <a:ext cx="9410977" cy="1446717"/>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2F5597"/>
                </a:solidFill>
                <a:uFillTx/>
                <a:latin typeface="Calibri"/>
                <a:ea typeface="Calibri"/>
                <a:cs typeface="Calibri"/>
              </a:rPr>
              <a:t>Career Pathway Prediction: </a:t>
            </a:r>
            <a:endParaRPr lang="en-US" sz="1800" b="0" i="0" u="none" strike="noStrike" kern="1200" cap="none" spc="0" baseline="0">
              <a:solidFill>
                <a:srgbClr val="2F5597"/>
              </a:solidFill>
              <a:uFillTx/>
              <a:latin typeface="Calibri"/>
              <a:ea typeface="Calibri"/>
              <a:cs typeface="Calibri"/>
            </a:endParaRPr>
          </a:p>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3600" b="0" i="0" u="none" strike="noStrike" kern="1200" cap="none" spc="0" baseline="0">
                <a:solidFill>
                  <a:srgbClr val="2F5597"/>
                </a:solidFill>
                <a:uFillTx/>
                <a:latin typeface="Calibri"/>
                <a:ea typeface="Calibri"/>
                <a:cs typeface="Calibri"/>
              </a:rPr>
              <a:t>Temporal Graph-Based Trajectory Modeling </a:t>
            </a:r>
            <a:endParaRPr lang="en-US" sz="1800" b="0" i="0" u="none" strike="noStrike" kern="1200" cap="none" spc="0" baseline="0">
              <a:solidFill>
                <a:srgbClr val="2F5597"/>
              </a:solidFill>
              <a:uFillTx/>
              <a:latin typeface="Calibri"/>
              <a:ea typeface="Calibri"/>
              <a:cs typeface="Calibri"/>
            </a:endParaRPr>
          </a:p>
        </p:txBody>
      </p:sp>
      <p:pic>
        <p:nvPicPr>
          <p:cNvPr id="3" name="Image 1" descr="preencoded.png">
            <a:extLst>
              <a:ext uri="{FF2B5EF4-FFF2-40B4-BE49-F238E27FC236}">
                <a16:creationId xmlns:a16="http://schemas.microsoft.com/office/drawing/2014/main" id="{916C2002-4E87-459F-98F2-1E53C6DCD666}"/>
              </a:ext>
            </a:extLst>
          </p:cNvPr>
          <p:cNvPicPr>
            <a:picLocks noChangeAspect="1"/>
          </p:cNvPicPr>
          <p:nvPr/>
        </p:nvPicPr>
        <p:blipFill>
          <a:blip r:embed="rId2"/>
          <a:stretch>
            <a:fillRect/>
          </a:stretch>
        </p:blipFill>
        <p:spPr>
          <a:xfrm>
            <a:off x="6280190" y="2917685"/>
            <a:ext cx="7556418" cy="30476"/>
          </a:xfrm>
          <a:prstGeom prst="rect">
            <a:avLst/>
          </a:prstGeom>
          <a:noFill/>
          <a:ln cap="flat">
            <a:noFill/>
          </a:ln>
        </p:spPr>
      </p:pic>
      <p:sp>
        <p:nvSpPr>
          <p:cNvPr id="4" name="Text 3">
            <a:extLst>
              <a:ext uri="{FF2B5EF4-FFF2-40B4-BE49-F238E27FC236}">
                <a16:creationId xmlns:a16="http://schemas.microsoft.com/office/drawing/2014/main" id="{3A348EE2-6A19-45F5-AE9D-4BA61BDE6299}"/>
              </a:ext>
            </a:extLst>
          </p:cNvPr>
          <p:cNvSpPr/>
          <p:nvPr/>
        </p:nvSpPr>
        <p:spPr>
          <a:xfrm>
            <a:off x="5457367" y="1876513"/>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Bricolage Grotesque Semi Bold" pitchFamily="34"/>
              </a:rPr>
              <a:t>Problem Definition</a:t>
            </a:r>
            <a:endParaRPr lang="en-US" sz="2200" b="1" i="0" u="none" strike="noStrike" kern="1200" cap="none" spc="0" baseline="0">
              <a:solidFill>
                <a:srgbClr val="BF9000"/>
              </a:solidFill>
              <a:uFillTx/>
              <a:latin typeface="Calibri"/>
            </a:endParaRPr>
          </a:p>
        </p:txBody>
      </p:sp>
      <p:sp>
        <p:nvSpPr>
          <p:cNvPr id="5" name="Text 4">
            <a:extLst>
              <a:ext uri="{FF2B5EF4-FFF2-40B4-BE49-F238E27FC236}">
                <a16:creationId xmlns:a16="http://schemas.microsoft.com/office/drawing/2014/main" id="{4E6D2182-BBF7-4DEE-9009-38F45E9004CB}"/>
              </a:ext>
            </a:extLst>
          </p:cNvPr>
          <p:cNvSpPr/>
          <p:nvPr/>
        </p:nvSpPr>
        <p:spPr>
          <a:xfrm>
            <a:off x="5457367" y="2132316"/>
            <a:ext cx="8379241" cy="2174680"/>
          </a:xfrm>
          <a:prstGeom prst="rect">
            <a:avLst/>
          </a:prstGeom>
          <a:noFill/>
          <a:ln cap="flat">
            <a:noFill/>
            <a:prstDash val="solid"/>
          </a:ln>
        </p:spPr>
        <p:txBody>
          <a:bodyPr vert="horz" wrap="square" lIns="0" tIns="0" rIns="0" bIns="0" anchor="t" anchorCtr="0" compatLnSpc="1">
            <a:noAutofit/>
          </a:bodyPr>
          <a:lstStyle/>
          <a:p>
            <a:pPr marL="0" marR="0" lvl="0" indent="0" algn="just" defTabSz="914400" rtl="0" fontAlgn="auto" hangingPunct="1">
              <a:lnSpc>
                <a:spcPts val="285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IT students graduate without knowing what career paths are possible or which directions lead to success. They rely on anecdotal advice from seniors or generic online resources that do not reflect Sri Lanka's unique job market. Career counselors lack data-driven tools to advise students effectively. As a result, graduates make poor career choices, face job dissatisfaction, and waste years in roles that do not leverage their potential. A system is needed to show students evidence-based career trajectories using real local data</a:t>
            </a:r>
            <a:endParaRPr lang="en-US" sz="1800" b="0" i="0" u="none" strike="noStrike" kern="1200" cap="none" spc="0" baseline="0">
              <a:solidFill>
                <a:srgbClr val="000000"/>
              </a:solidFill>
              <a:uFillTx/>
              <a:latin typeface="Calibri"/>
              <a:ea typeface="Calibri"/>
              <a:cs typeface="Calibri"/>
            </a:endParaRPr>
          </a:p>
        </p:txBody>
      </p:sp>
      <p:pic>
        <p:nvPicPr>
          <p:cNvPr id="6" name="Image 2" descr="preencoded.png">
            <a:extLst>
              <a:ext uri="{FF2B5EF4-FFF2-40B4-BE49-F238E27FC236}">
                <a16:creationId xmlns:a16="http://schemas.microsoft.com/office/drawing/2014/main" id="{B9FBBF4F-C8E5-45BB-BAD9-85A3A32A0DBA}"/>
              </a:ext>
            </a:extLst>
          </p:cNvPr>
          <p:cNvPicPr>
            <a:picLocks noChangeAspect="1"/>
          </p:cNvPicPr>
          <p:nvPr/>
        </p:nvPicPr>
        <p:blipFill>
          <a:blip r:embed="rId2"/>
          <a:stretch>
            <a:fillRect/>
          </a:stretch>
        </p:blipFill>
        <p:spPr>
          <a:xfrm>
            <a:off x="6280190" y="5179929"/>
            <a:ext cx="7556418" cy="30476"/>
          </a:xfrm>
          <a:prstGeom prst="rect">
            <a:avLst/>
          </a:prstGeom>
          <a:noFill/>
          <a:ln cap="flat">
            <a:noFill/>
          </a:ln>
        </p:spPr>
      </p:pic>
      <p:sp>
        <p:nvSpPr>
          <p:cNvPr id="7" name="Text 6">
            <a:extLst>
              <a:ext uri="{FF2B5EF4-FFF2-40B4-BE49-F238E27FC236}">
                <a16:creationId xmlns:a16="http://schemas.microsoft.com/office/drawing/2014/main" id="{35438CC8-6A58-436E-A116-C9F8C960A385}"/>
              </a:ext>
            </a:extLst>
          </p:cNvPr>
          <p:cNvSpPr/>
          <p:nvPr/>
        </p:nvSpPr>
        <p:spPr>
          <a:xfrm>
            <a:off x="5457367" y="4228249"/>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Bricolage Grotesque Semi Bold" pitchFamily="34"/>
              </a:rPr>
              <a:t>Main Objective</a:t>
            </a:r>
            <a:endParaRPr lang="en-US" sz="2200" b="1" i="0" u="none" strike="noStrike" kern="1200" cap="none" spc="0" baseline="0">
              <a:solidFill>
                <a:srgbClr val="BF9000"/>
              </a:solidFill>
              <a:uFillTx/>
              <a:latin typeface="Calibri"/>
            </a:endParaRPr>
          </a:p>
        </p:txBody>
      </p:sp>
      <p:sp>
        <p:nvSpPr>
          <p:cNvPr id="8" name="Text 6">
            <a:extLst>
              <a:ext uri="{FF2B5EF4-FFF2-40B4-BE49-F238E27FC236}">
                <a16:creationId xmlns:a16="http://schemas.microsoft.com/office/drawing/2014/main" id="{3ED23EA1-57D3-47BD-B5D7-B6A361D35D7F}"/>
              </a:ext>
            </a:extLst>
          </p:cNvPr>
          <p:cNvSpPr/>
          <p:nvPr/>
        </p:nvSpPr>
        <p:spPr>
          <a:xfrm>
            <a:off x="5457367" y="5386812"/>
            <a:ext cx="2835234" cy="35433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275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BF9000"/>
                </a:solidFill>
                <a:uFillTx/>
                <a:latin typeface="Calibri"/>
                <a:ea typeface="Bricolage Grotesque Semi Bold" pitchFamily="34"/>
                <a:cs typeface="Bricolage Grotesque Semi Bold" pitchFamily="34"/>
              </a:rPr>
              <a:t>Sub Objective</a:t>
            </a:r>
            <a:endParaRPr lang="en-US" sz="2200" b="1" i="0" u="none" strike="noStrike" kern="1200" cap="none" spc="0" baseline="0">
              <a:solidFill>
                <a:srgbClr val="BF9000"/>
              </a:solidFill>
              <a:uFillTx/>
              <a:latin typeface="Calibri"/>
            </a:endParaRPr>
          </a:p>
        </p:txBody>
      </p:sp>
      <p:grpSp>
        <p:nvGrpSpPr>
          <p:cNvPr id="9" name="Group 10">
            <a:extLst>
              <a:ext uri="{FF2B5EF4-FFF2-40B4-BE49-F238E27FC236}">
                <a16:creationId xmlns:a16="http://schemas.microsoft.com/office/drawing/2014/main" id="{06931EBA-30F5-4A4E-987A-832E09C521C6}"/>
              </a:ext>
            </a:extLst>
          </p:cNvPr>
          <p:cNvGrpSpPr/>
          <p:nvPr/>
        </p:nvGrpSpPr>
        <p:grpSpPr>
          <a:xfrm>
            <a:off x="0" y="7649733"/>
            <a:ext cx="14633225" cy="769887"/>
            <a:chOff x="0" y="7649733"/>
            <a:chExt cx="14633225" cy="769887"/>
          </a:xfrm>
        </p:grpSpPr>
        <p:sp>
          <p:nvSpPr>
            <p:cNvPr id="10" name="Rectangle 11">
              <a:extLst>
                <a:ext uri="{FF2B5EF4-FFF2-40B4-BE49-F238E27FC236}">
                  <a16:creationId xmlns:a16="http://schemas.microsoft.com/office/drawing/2014/main" id="{79FB4BA7-1109-471D-A2A8-F69712545451}"/>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11" name="Rectangle 12">
              <a:extLst>
                <a:ext uri="{FF2B5EF4-FFF2-40B4-BE49-F238E27FC236}">
                  <a16:creationId xmlns:a16="http://schemas.microsoft.com/office/drawing/2014/main" id="{418E3D12-02BB-4518-A117-C7A37F5C3910}"/>
                </a:ext>
              </a:extLst>
            </p:cNvPr>
            <p:cNvSpPr/>
            <p:nvPr/>
          </p:nvSpPr>
          <p:spPr>
            <a:xfrm>
              <a:off x="0" y="789723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IT22153890 | Alphonso S.R.P.A.M.D.N. | R26-IT-128 </a:t>
              </a:r>
              <a:r>
                <a:rPr lang="en-US" sz="2000" b="0" i="0" u="none" strike="noStrike" kern="1200" cap="none" spc="0" baseline="0">
                  <a:solidFill>
                    <a:srgbClr val="2C2926"/>
                  </a:solidFill>
                  <a:uFillTx/>
                  <a:latin typeface="Calibri"/>
                </a:rPr>
                <a:t> </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12" name="Picture 13">
              <a:extLst>
                <a:ext uri="{FF2B5EF4-FFF2-40B4-BE49-F238E27FC236}">
                  <a16:creationId xmlns:a16="http://schemas.microsoft.com/office/drawing/2014/main" id="{756CEDE8-A99A-4188-9FBB-35AC5C30EB3F}"/>
                </a:ext>
              </a:extLst>
            </p:cNvPr>
            <p:cNvPicPr>
              <a:picLocks noChangeAspect="1"/>
            </p:cNvPicPr>
            <p:nvPr/>
          </p:nvPicPr>
          <p:blipFill>
            <a:blip r:embed="rId3"/>
            <a:stretch>
              <a:fillRect/>
            </a:stretch>
          </p:blipFill>
          <p:spPr>
            <a:xfrm>
              <a:off x="0" y="7707212"/>
              <a:ext cx="3043708" cy="522387"/>
            </a:xfrm>
            <a:prstGeom prst="rect">
              <a:avLst/>
            </a:prstGeom>
            <a:noFill/>
            <a:ln cap="flat">
              <a:noFill/>
            </a:ln>
          </p:spPr>
        </p:pic>
        <p:sp>
          <p:nvSpPr>
            <p:cNvPr id="13" name="Rectangle 14">
              <a:extLst>
                <a:ext uri="{FF2B5EF4-FFF2-40B4-BE49-F238E27FC236}">
                  <a16:creationId xmlns:a16="http://schemas.microsoft.com/office/drawing/2014/main" id="{BA2B0873-2AC3-4090-A478-3F1BC702E14B}"/>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14" name="Text 12">
            <a:extLst>
              <a:ext uri="{FF2B5EF4-FFF2-40B4-BE49-F238E27FC236}">
                <a16:creationId xmlns:a16="http://schemas.microsoft.com/office/drawing/2014/main" id="{74BC42B7-E478-4A17-B381-9408F928E47E}"/>
              </a:ext>
            </a:extLst>
          </p:cNvPr>
          <p:cNvSpPr/>
          <p:nvPr/>
        </p:nvSpPr>
        <p:spPr>
          <a:xfrm>
            <a:off x="5457367" y="4296591"/>
            <a:ext cx="7896676" cy="138575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000000"/>
                </a:solidFill>
                <a:uFillTx/>
                <a:latin typeface="Calibri"/>
                <a:ea typeface="Calibri"/>
                <a:cs typeface="Calibri"/>
              </a:rPr>
              <a:t>To develop a graph-based career pathway prediction system that models probable IT career trajectories for Sri Lankan undergraduates by integrating temporal knowledge graph construction with probabilistic sequence modeling</a:t>
            </a:r>
            <a:endParaRPr lang="en-US" sz="1800" b="0" i="0" u="none" strike="noStrike" kern="1200" cap="none" spc="0" baseline="0">
              <a:solidFill>
                <a:srgbClr val="000000"/>
              </a:solidFill>
              <a:uFillTx/>
              <a:latin typeface="Calibri"/>
            </a:endParaRPr>
          </a:p>
        </p:txBody>
      </p:sp>
      <p:grpSp>
        <p:nvGrpSpPr>
          <p:cNvPr id="15" name="Group 16">
            <a:extLst>
              <a:ext uri="{FF2B5EF4-FFF2-40B4-BE49-F238E27FC236}">
                <a16:creationId xmlns:a16="http://schemas.microsoft.com/office/drawing/2014/main" id="{D6A656F5-C4CE-4616-9A2B-53F6764FDD8B}"/>
              </a:ext>
            </a:extLst>
          </p:cNvPr>
          <p:cNvGrpSpPr/>
          <p:nvPr/>
        </p:nvGrpSpPr>
        <p:grpSpPr>
          <a:xfrm>
            <a:off x="5482276" y="5872368"/>
            <a:ext cx="7531519" cy="1926722"/>
            <a:chOff x="5482276" y="5872368"/>
            <a:chExt cx="7531519" cy="1926722"/>
          </a:xfrm>
        </p:grpSpPr>
        <p:pic>
          <p:nvPicPr>
            <p:cNvPr id="16" name="Image 0" descr="preencoded.png">
              <a:extLst>
                <a:ext uri="{FF2B5EF4-FFF2-40B4-BE49-F238E27FC236}">
                  <a16:creationId xmlns:a16="http://schemas.microsoft.com/office/drawing/2014/main" id="{ADD6B6D8-3B11-4801-9736-54BFE298A6D5}"/>
                </a:ext>
              </a:extLst>
            </p:cNvPr>
            <p:cNvPicPr>
              <a:picLocks noChangeAspect="1"/>
            </p:cNvPicPr>
            <p:nvPr/>
          </p:nvPicPr>
          <p:blipFill>
            <a:blip r:embed="rId4"/>
            <a:stretch>
              <a:fillRect/>
            </a:stretch>
          </p:blipFill>
          <p:spPr>
            <a:xfrm>
              <a:off x="5482276" y="5872368"/>
              <a:ext cx="473896" cy="424784"/>
            </a:xfrm>
            <a:prstGeom prst="rect">
              <a:avLst/>
            </a:prstGeom>
            <a:noFill/>
            <a:ln cap="flat">
              <a:noFill/>
            </a:ln>
          </p:spPr>
        </p:pic>
        <p:sp>
          <p:nvSpPr>
            <p:cNvPr id="17" name="Text 14">
              <a:extLst>
                <a:ext uri="{FF2B5EF4-FFF2-40B4-BE49-F238E27FC236}">
                  <a16:creationId xmlns:a16="http://schemas.microsoft.com/office/drawing/2014/main" id="{488E2952-2226-4937-B7A9-AEB602FA4736}"/>
                </a:ext>
              </a:extLst>
            </p:cNvPr>
            <p:cNvSpPr/>
            <p:nvPr/>
          </p:nvSpPr>
          <p:spPr>
            <a:xfrm>
              <a:off x="6074642" y="5872368"/>
              <a:ext cx="6939153" cy="4247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Construct a temporal knowledge graph from anonymized career histories of Sri Lankan IT professionals</a:t>
              </a:r>
              <a:endParaRPr lang="en-US" sz="1800" b="0" i="0" u="none" strike="noStrike" kern="1200" cap="none" spc="0" baseline="0">
                <a:solidFill>
                  <a:srgbClr val="000000"/>
                </a:solidFill>
                <a:uFillTx/>
                <a:latin typeface="Calibri"/>
              </a:endParaRPr>
            </a:p>
          </p:txBody>
        </p:sp>
        <p:pic>
          <p:nvPicPr>
            <p:cNvPr id="18" name="Image 1" descr="preencoded.png">
              <a:extLst>
                <a:ext uri="{FF2B5EF4-FFF2-40B4-BE49-F238E27FC236}">
                  <a16:creationId xmlns:a16="http://schemas.microsoft.com/office/drawing/2014/main" id="{585BE6E3-C026-4C70-A14F-16B88997D79F}"/>
                </a:ext>
              </a:extLst>
            </p:cNvPr>
            <p:cNvPicPr>
              <a:picLocks noChangeAspect="1"/>
            </p:cNvPicPr>
            <p:nvPr/>
          </p:nvPicPr>
          <p:blipFill>
            <a:blip r:embed="rId4"/>
            <a:stretch>
              <a:fillRect/>
            </a:stretch>
          </p:blipFill>
          <p:spPr>
            <a:xfrm>
              <a:off x="5482276" y="6373011"/>
              <a:ext cx="473896" cy="424784"/>
            </a:xfrm>
            <a:prstGeom prst="rect">
              <a:avLst/>
            </a:prstGeom>
            <a:noFill/>
            <a:ln cap="flat">
              <a:noFill/>
            </a:ln>
          </p:spPr>
        </p:pic>
        <p:sp>
          <p:nvSpPr>
            <p:cNvPr id="19" name="Text 15">
              <a:extLst>
                <a:ext uri="{FF2B5EF4-FFF2-40B4-BE49-F238E27FC236}">
                  <a16:creationId xmlns:a16="http://schemas.microsoft.com/office/drawing/2014/main" id="{81B13DB7-3F81-444C-A582-C9CD4BBA5A61}"/>
                </a:ext>
              </a:extLst>
            </p:cNvPr>
            <p:cNvSpPr/>
            <p:nvPr/>
          </p:nvSpPr>
          <p:spPr>
            <a:xfrm>
              <a:off x="6074642" y="6373011"/>
              <a:ext cx="6939153" cy="4247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Design a Neo4j graph database schema optimized for career path analysis and traversal queries</a:t>
              </a:r>
              <a:endParaRPr lang="en-US" sz="1800" b="0" i="0" u="none" strike="noStrike" kern="1200" cap="none" spc="0" baseline="0">
                <a:solidFill>
                  <a:srgbClr val="000000"/>
                </a:solidFill>
                <a:uFillTx/>
                <a:latin typeface="Calibri"/>
              </a:endParaRPr>
            </a:p>
          </p:txBody>
        </p:sp>
        <p:pic>
          <p:nvPicPr>
            <p:cNvPr id="20" name="Image 2" descr="preencoded.png">
              <a:extLst>
                <a:ext uri="{FF2B5EF4-FFF2-40B4-BE49-F238E27FC236}">
                  <a16:creationId xmlns:a16="http://schemas.microsoft.com/office/drawing/2014/main" id="{F751CAF6-D75B-447F-9C37-852C910D56D1}"/>
                </a:ext>
              </a:extLst>
            </p:cNvPr>
            <p:cNvPicPr>
              <a:picLocks noChangeAspect="1"/>
            </p:cNvPicPr>
            <p:nvPr/>
          </p:nvPicPr>
          <p:blipFill>
            <a:blip r:embed="rId4"/>
            <a:stretch>
              <a:fillRect/>
            </a:stretch>
          </p:blipFill>
          <p:spPr>
            <a:xfrm>
              <a:off x="5482276" y="6873663"/>
              <a:ext cx="473896" cy="424784"/>
            </a:xfrm>
            <a:prstGeom prst="rect">
              <a:avLst/>
            </a:prstGeom>
            <a:noFill/>
            <a:ln cap="flat">
              <a:noFill/>
            </a:ln>
          </p:spPr>
        </p:pic>
        <p:sp>
          <p:nvSpPr>
            <p:cNvPr id="21" name="Text 16">
              <a:extLst>
                <a:ext uri="{FF2B5EF4-FFF2-40B4-BE49-F238E27FC236}">
                  <a16:creationId xmlns:a16="http://schemas.microsoft.com/office/drawing/2014/main" id="{5765FCA3-88F9-40EA-A781-C811A5A16137}"/>
                </a:ext>
              </a:extLst>
            </p:cNvPr>
            <p:cNvSpPr/>
            <p:nvPr/>
          </p:nvSpPr>
          <p:spPr>
            <a:xfrm>
              <a:off x="6074642" y="6873663"/>
              <a:ext cx="6939153" cy="4247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Develop a transformer-based sequence model that learns transition probabilities from career sequences</a:t>
              </a:r>
              <a:endParaRPr lang="en-US" sz="1800" b="0" i="0" u="none" strike="noStrike" kern="1200" cap="none" spc="0" baseline="0">
                <a:solidFill>
                  <a:srgbClr val="000000"/>
                </a:solidFill>
                <a:uFillTx/>
                <a:latin typeface="Calibri"/>
              </a:endParaRPr>
            </a:p>
          </p:txBody>
        </p:sp>
        <p:pic>
          <p:nvPicPr>
            <p:cNvPr id="22" name="Image 3" descr="preencoded.png">
              <a:extLst>
                <a:ext uri="{FF2B5EF4-FFF2-40B4-BE49-F238E27FC236}">
                  <a16:creationId xmlns:a16="http://schemas.microsoft.com/office/drawing/2014/main" id="{408DC942-464E-4AAB-B85D-D3A927EFDF8D}"/>
                </a:ext>
              </a:extLst>
            </p:cNvPr>
            <p:cNvPicPr>
              <a:picLocks noChangeAspect="1"/>
            </p:cNvPicPr>
            <p:nvPr/>
          </p:nvPicPr>
          <p:blipFill>
            <a:blip r:embed="rId4"/>
            <a:stretch>
              <a:fillRect/>
            </a:stretch>
          </p:blipFill>
          <p:spPr>
            <a:xfrm>
              <a:off x="5482276" y="7374306"/>
              <a:ext cx="473896" cy="424784"/>
            </a:xfrm>
            <a:prstGeom prst="rect">
              <a:avLst/>
            </a:prstGeom>
            <a:noFill/>
            <a:ln cap="flat">
              <a:noFill/>
            </a:ln>
          </p:spPr>
        </p:pic>
        <p:sp>
          <p:nvSpPr>
            <p:cNvPr id="23" name="Text 17">
              <a:extLst>
                <a:ext uri="{FF2B5EF4-FFF2-40B4-BE49-F238E27FC236}">
                  <a16:creationId xmlns:a16="http://schemas.microsoft.com/office/drawing/2014/main" id="{2EEB730B-B53C-4B7D-925C-834493E394DA}"/>
                </a:ext>
              </a:extLst>
            </p:cNvPr>
            <p:cNvSpPr/>
            <p:nvPr/>
          </p:nvSpPr>
          <p:spPr>
            <a:xfrm>
              <a:off x="6074642" y="7374306"/>
              <a:ext cx="6939153" cy="4247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Create an interactive visualization interface for exploring predicted pathways</a:t>
              </a:r>
              <a:endParaRPr lang="en-US" sz="1800" b="0" i="0" u="none" strike="noStrike" kern="1200" cap="none" spc="0" baseline="0">
                <a:solidFill>
                  <a:srgbClr val="000000"/>
                </a:solidFill>
                <a:uFillTx/>
                <a:latin typeface="Calibri"/>
              </a:endParaRPr>
            </a:p>
          </p:txBody>
        </p:sp>
      </p:grpSp>
      <p:grpSp>
        <p:nvGrpSpPr>
          <p:cNvPr id="24" name="Group 7">
            <a:extLst>
              <a:ext uri="{FF2B5EF4-FFF2-40B4-BE49-F238E27FC236}">
                <a16:creationId xmlns:a16="http://schemas.microsoft.com/office/drawing/2014/main" id="{CE5C013A-14A6-40E0-A3FD-D11A6C76E964}"/>
              </a:ext>
            </a:extLst>
          </p:cNvPr>
          <p:cNvGrpSpPr/>
          <p:nvPr/>
        </p:nvGrpSpPr>
        <p:grpSpPr>
          <a:xfrm>
            <a:off x="682800" y="1532799"/>
            <a:ext cx="4048222" cy="4764362"/>
            <a:chOff x="682800" y="1532799"/>
            <a:chExt cx="4048222" cy="4764362"/>
          </a:xfrm>
        </p:grpSpPr>
        <p:pic>
          <p:nvPicPr>
            <p:cNvPr id="25" name="Image 19">
              <a:extLst>
                <a:ext uri="{FF2B5EF4-FFF2-40B4-BE49-F238E27FC236}">
                  <a16:creationId xmlns:a16="http://schemas.microsoft.com/office/drawing/2014/main" id="{9028BE54-219D-4287-96DE-380E673429AC}"/>
                </a:ext>
              </a:extLst>
            </p:cNvPr>
            <p:cNvPicPr>
              <a:picLocks noChangeAspect="1"/>
            </p:cNvPicPr>
            <p:nvPr/>
          </p:nvPicPr>
          <p:blipFill>
            <a:blip r:embed="rId5"/>
            <a:stretch>
              <a:fillRect/>
            </a:stretch>
          </p:blipFill>
          <p:spPr>
            <a:xfrm>
              <a:off x="1370457" y="1703106"/>
              <a:ext cx="2723823" cy="4483943"/>
            </a:xfrm>
            <a:prstGeom prst="rect">
              <a:avLst/>
            </a:prstGeom>
            <a:noFill/>
            <a:ln cap="flat">
              <a:noFill/>
            </a:ln>
          </p:spPr>
        </p:pic>
        <p:sp>
          <p:nvSpPr>
            <p:cNvPr id="26" name="Graphic 20">
              <a:extLst>
                <a:ext uri="{FF2B5EF4-FFF2-40B4-BE49-F238E27FC236}">
                  <a16:creationId xmlns:a16="http://schemas.microsoft.com/office/drawing/2014/main" id="{C426A882-839C-4C65-843B-EF6CE2040A61}"/>
                </a:ext>
              </a:extLst>
            </p:cNvPr>
            <p:cNvSpPr/>
            <p:nvPr/>
          </p:nvSpPr>
          <p:spPr>
            <a:xfrm>
              <a:off x="682800" y="1532799"/>
              <a:ext cx="4048222" cy="4764362"/>
            </a:xfrm>
            <a:custGeom>
              <a:avLst/>
              <a:gdLst>
                <a:gd name="f0" fmla="val w"/>
                <a:gd name="f1" fmla="val h"/>
                <a:gd name="f2" fmla="val 0"/>
                <a:gd name="f3" fmla="val 2185035"/>
                <a:gd name="f4" fmla="*/ f0 1 2185035"/>
                <a:gd name="f5" fmla="*/ f1 1 2185035"/>
                <a:gd name="f6" fmla="+- f3 0 f2"/>
                <a:gd name="f7" fmla="*/ f6 1 2185035"/>
                <a:gd name="f8" fmla="*/ f2 1 f7"/>
                <a:gd name="f9" fmla="*/ f3 1 f7"/>
                <a:gd name="f10" fmla="*/ f8 f4 1"/>
                <a:gd name="f11" fmla="*/ f9 f4 1"/>
                <a:gd name="f12" fmla="*/ f9 f5 1"/>
                <a:gd name="f13" fmla="*/ f8 f5 1"/>
              </a:gdLst>
              <a:ahLst/>
              <a:cxnLst>
                <a:cxn ang="3cd4">
                  <a:pos x="hc" y="t"/>
                </a:cxn>
                <a:cxn ang="0">
                  <a:pos x="r" y="vc"/>
                </a:cxn>
                <a:cxn ang="cd4">
                  <a:pos x="hc" y="b"/>
                </a:cxn>
                <a:cxn ang="cd2">
                  <a:pos x="l" y="vc"/>
                </a:cxn>
              </a:cxnLst>
              <a:rect l="f10" t="f13" r="f11" b="f12"/>
              <a:pathLst>
                <a:path w="2185035" h="2185035">
                  <a:moveTo>
                    <a:pt x="f2" y="f3"/>
                  </a:moveTo>
                  <a:lnTo>
                    <a:pt x="f3" y="f3"/>
                  </a:lnTo>
                  <a:lnTo>
                    <a:pt x="f3" y="f2"/>
                  </a:lnTo>
                  <a:lnTo>
                    <a:pt x="f2" y="f2"/>
                  </a:lnTo>
                  <a:lnTo>
                    <a:pt x="f2" y="f3"/>
                  </a:lnTo>
                  <a:close/>
                </a:path>
              </a:pathLst>
            </a:cu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39">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CD8979F-A4FC-4397-A14C-FC5B6870039D}"/>
              </a:ext>
            </a:extLst>
          </p:cNvPr>
          <p:cNvSpPr/>
          <p:nvPr/>
        </p:nvSpPr>
        <p:spPr>
          <a:xfrm>
            <a:off x="106381" y="136538"/>
            <a:ext cx="15267636" cy="810780"/>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ts val="5550"/>
              </a:lnSpc>
              <a:spcBef>
                <a:spcPts val="0"/>
              </a:spcBef>
              <a:spcAft>
                <a:spcPts val="0"/>
              </a:spcAft>
              <a:buNone/>
              <a:tabLst/>
              <a:defRPr sz="1800" b="0" i="0" u="none" strike="noStrike" kern="0" cap="none" spc="0" baseline="0">
                <a:solidFill>
                  <a:srgbClr val="000000"/>
                </a:solidFill>
                <a:uFillTx/>
              </a:defRPr>
            </a:pPr>
            <a:r>
              <a:rPr lang="en-US" sz="3900" b="0" i="0" u="none" strike="noStrike" kern="1200" cap="none" spc="0" baseline="0">
                <a:solidFill>
                  <a:srgbClr val="2F5597"/>
                </a:solidFill>
                <a:uFillTx/>
                <a:latin typeface="Calibri"/>
                <a:ea typeface="Calibri"/>
                <a:cs typeface="Calibri"/>
              </a:rPr>
              <a:t>Career Pathway Prediction: Temporal Graph-Based Trajectory Modeling</a:t>
            </a:r>
            <a:r>
              <a:rPr lang="en-US" sz="4800" b="0" i="0" u="none" strike="noStrike" kern="1200" cap="none" spc="0" baseline="0">
                <a:solidFill>
                  <a:srgbClr val="2F5597"/>
                </a:solidFill>
                <a:uFillTx/>
                <a:latin typeface="Calibri"/>
                <a:ea typeface="Calibri"/>
                <a:cs typeface="Calibri"/>
              </a:rPr>
              <a:t> </a:t>
            </a:r>
            <a:endParaRPr lang="en-US" sz="1800" b="0" i="0" u="none" strike="noStrike" kern="1200" cap="none" spc="0" baseline="0">
              <a:solidFill>
                <a:srgbClr val="2F5597"/>
              </a:solidFill>
              <a:uFillTx/>
              <a:latin typeface="Calibri"/>
              <a:ea typeface="Calibri"/>
              <a:cs typeface="Calibri"/>
            </a:endParaRPr>
          </a:p>
        </p:txBody>
      </p:sp>
      <p:grpSp>
        <p:nvGrpSpPr>
          <p:cNvPr id="3" name="Group 11">
            <a:extLst>
              <a:ext uri="{FF2B5EF4-FFF2-40B4-BE49-F238E27FC236}">
                <a16:creationId xmlns:a16="http://schemas.microsoft.com/office/drawing/2014/main" id="{4099D9D1-19D3-4064-96B1-98B91547508F}"/>
              </a:ext>
            </a:extLst>
          </p:cNvPr>
          <p:cNvGrpSpPr/>
          <p:nvPr/>
        </p:nvGrpSpPr>
        <p:grpSpPr>
          <a:xfrm>
            <a:off x="0" y="7649733"/>
            <a:ext cx="14633225" cy="769887"/>
            <a:chOff x="0" y="7649733"/>
            <a:chExt cx="14633225" cy="769887"/>
          </a:xfrm>
        </p:grpSpPr>
        <p:sp>
          <p:nvSpPr>
            <p:cNvPr id="4" name="Rectangle 12">
              <a:extLst>
                <a:ext uri="{FF2B5EF4-FFF2-40B4-BE49-F238E27FC236}">
                  <a16:creationId xmlns:a16="http://schemas.microsoft.com/office/drawing/2014/main" id="{C6B6BD11-AAA1-48EB-A0B1-86180A58756F}"/>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13">
              <a:extLst>
                <a:ext uri="{FF2B5EF4-FFF2-40B4-BE49-F238E27FC236}">
                  <a16:creationId xmlns:a16="http://schemas.microsoft.com/office/drawing/2014/main" id="{5F04D129-71E1-4B9C-9D24-0CF62E377DD7}"/>
                </a:ext>
              </a:extLst>
            </p:cNvPr>
            <p:cNvSpPr/>
            <p:nvPr/>
          </p:nvSpPr>
          <p:spPr>
            <a:xfrm>
              <a:off x="0" y="7897233"/>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IT22153890  | Alphonso S.R.P.A.M.D.N. | R26-IT-128 </a:t>
              </a:r>
              <a:r>
                <a:rPr lang="en-US" sz="2000" b="0" i="0" u="none" strike="noStrike" kern="1200" cap="none" spc="0" baseline="0">
                  <a:solidFill>
                    <a:srgbClr val="2C2926"/>
                  </a:solidFill>
                  <a:uFillTx/>
                  <a:latin typeface="Calibri"/>
                </a:rPr>
                <a:t> </a:t>
              </a:r>
              <a:endParaRPr lang="en-US" sz="1800" b="0" i="0" u="none" strike="noStrike" kern="120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6" name="Picture 14">
              <a:extLst>
                <a:ext uri="{FF2B5EF4-FFF2-40B4-BE49-F238E27FC236}">
                  <a16:creationId xmlns:a16="http://schemas.microsoft.com/office/drawing/2014/main" id="{2B913B2E-7060-40B7-9360-08776C789774}"/>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15">
              <a:extLst>
                <a:ext uri="{FF2B5EF4-FFF2-40B4-BE49-F238E27FC236}">
                  <a16:creationId xmlns:a16="http://schemas.microsoft.com/office/drawing/2014/main" id="{F15B5A66-BE2D-4521-9715-B235FCBDA49C}"/>
                </a:ext>
              </a:extLst>
            </p:cNvPr>
            <p:cNvSpPr/>
            <p:nvPr/>
          </p:nvSpPr>
          <p:spPr>
            <a:xfrm>
              <a:off x="12912754" y="780221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grpSp>
        <p:nvGrpSpPr>
          <p:cNvPr id="8" name="Group 16">
            <a:extLst>
              <a:ext uri="{FF2B5EF4-FFF2-40B4-BE49-F238E27FC236}">
                <a16:creationId xmlns:a16="http://schemas.microsoft.com/office/drawing/2014/main" id="{E718BA50-E3F9-45D2-974C-B0FD02E99B64}"/>
              </a:ext>
            </a:extLst>
          </p:cNvPr>
          <p:cNvGrpSpPr/>
          <p:nvPr/>
        </p:nvGrpSpPr>
        <p:grpSpPr>
          <a:xfrm>
            <a:off x="345688" y="1073560"/>
            <a:ext cx="13939022" cy="6386151"/>
            <a:chOff x="345688" y="1073560"/>
            <a:chExt cx="13939022" cy="6386151"/>
          </a:xfrm>
        </p:grpSpPr>
        <p:sp>
          <p:nvSpPr>
            <p:cNvPr id="9" name="Shape 4">
              <a:extLst>
                <a:ext uri="{FF2B5EF4-FFF2-40B4-BE49-F238E27FC236}">
                  <a16:creationId xmlns:a16="http://schemas.microsoft.com/office/drawing/2014/main" id="{33B87932-A8F3-45A8-8B2F-0B8E44D95B06}"/>
                </a:ext>
              </a:extLst>
            </p:cNvPr>
            <p:cNvSpPr/>
            <p:nvPr/>
          </p:nvSpPr>
          <p:spPr>
            <a:xfrm>
              <a:off x="345688" y="1073560"/>
              <a:ext cx="6824313" cy="3041029"/>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0" name="Shape 5">
              <a:extLst>
                <a:ext uri="{FF2B5EF4-FFF2-40B4-BE49-F238E27FC236}">
                  <a16:creationId xmlns:a16="http://schemas.microsoft.com/office/drawing/2014/main" id="{9CF08E7C-A7A8-4537-B54A-9807ED9264C3}"/>
                </a:ext>
              </a:extLst>
            </p:cNvPr>
            <p:cNvSpPr/>
            <p:nvPr/>
          </p:nvSpPr>
          <p:spPr>
            <a:xfrm>
              <a:off x="345688" y="1073560"/>
              <a:ext cx="725987" cy="3041029"/>
            </a:xfrm>
            <a:prstGeom prst="rect">
              <a:avLst/>
            </a:pr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1" name="Image 0" descr="preencoded.png">
              <a:extLst>
                <a:ext uri="{FF2B5EF4-FFF2-40B4-BE49-F238E27FC236}">
                  <a16:creationId xmlns:a16="http://schemas.microsoft.com/office/drawing/2014/main" id="{CF85CAA4-3F54-4297-8B97-38B9D2F44E3D}"/>
                </a:ext>
              </a:extLst>
            </p:cNvPr>
            <p:cNvPicPr>
              <a:picLocks noChangeAspect="1"/>
            </p:cNvPicPr>
            <p:nvPr/>
          </p:nvPicPr>
          <p:blipFill>
            <a:blip r:embed="rId3"/>
            <a:stretch>
              <a:fillRect/>
            </a:stretch>
          </p:blipFill>
          <p:spPr>
            <a:xfrm>
              <a:off x="490886" y="2213945"/>
              <a:ext cx="435592" cy="456157"/>
            </a:xfrm>
            <a:prstGeom prst="rect">
              <a:avLst/>
            </a:prstGeom>
            <a:noFill/>
            <a:ln cap="flat">
              <a:noFill/>
            </a:ln>
          </p:spPr>
        </p:pic>
        <p:sp>
          <p:nvSpPr>
            <p:cNvPr id="12" name="Text 6">
              <a:extLst>
                <a:ext uri="{FF2B5EF4-FFF2-40B4-BE49-F238E27FC236}">
                  <a16:creationId xmlns:a16="http://schemas.microsoft.com/office/drawing/2014/main" id="{0BD780E7-2AC1-4FE0-8AE2-8E12774886F5}"/>
                </a:ext>
              </a:extLst>
            </p:cNvPr>
            <p:cNvSpPr/>
            <p:nvPr/>
          </p:nvSpPr>
          <p:spPr>
            <a:xfrm>
              <a:off x="1289477" y="1225606"/>
              <a:ext cx="5662732" cy="57779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a:ea typeface="Calibri" pitchFamily="34"/>
                  <a:cs typeface="Calibri" pitchFamily="34"/>
                </a:rPr>
                <a:t>Technologies</a:t>
              </a:r>
              <a:endParaRPr lang="en-US" sz="2800" b="0" i="0" u="none" strike="noStrike" kern="1200" cap="none" spc="0" baseline="0">
                <a:solidFill>
                  <a:srgbClr val="000000"/>
                </a:solidFill>
                <a:uFillTx/>
                <a:latin typeface="Calibri"/>
              </a:endParaRPr>
            </a:p>
          </p:txBody>
        </p:sp>
        <p:sp>
          <p:nvSpPr>
            <p:cNvPr id="13" name="Text 7">
              <a:extLst>
                <a:ext uri="{FF2B5EF4-FFF2-40B4-BE49-F238E27FC236}">
                  <a16:creationId xmlns:a16="http://schemas.microsoft.com/office/drawing/2014/main" id="{DD8BAE26-CAFC-4EEC-AEEE-9F599BDD7A3D}"/>
                </a:ext>
              </a:extLst>
            </p:cNvPr>
            <p:cNvSpPr/>
            <p:nvPr/>
          </p:nvSpPr>
          <p:spPr>
            <a:xfrm>
              <a:off x="1289477" y="1833810"/>
              <a:ext cx="5662732" cy="2128714"/>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a:ea typeface="Calibri"/>
                  <a:cs typeface="Calibri"/>
                </a:rPr>
                <a:t>Python is used as the main programming language. Neo4j serves as the graph database for storing career trajectories and enabling path queries. Hugging Face Transformers provide pre-trained models fine-tuned for career sequence prediction. PyTorch handles deep learning implementation. React with D3.js creates interactive graph visualizations. FastAPI connects the backend models to the frontend interface</a:t>
              </a:r>
              <a:endParaRPr lang="en-US" sz="1800" b="0" i="0" u="none" strike="noStrike" kern="1200" cap="none" spc="0" baseline="0">
                <a:solidFill>
                  <a:srgbClr val="000000"/>
                </a:solidFill>
                <a:uFillTx/>
                <a:latin typeface="Calibri"/>
                <a:ea typeface="Calibri"/>
                <a:cs typeface="Calibri"/>
              </a:endParaRPr>
            </a:p>
          </p:txBody>
        </p:sp>
        <p:sp>
          <p:nvSpPr>
            <p:cNvPr id="14" name="Shape 8">
              <a:extLst>
                <a:ext uri="{FF2B5EF4-FFF2-40B4-BE49-F238E27FC236}">
                  <a16:creationId xmlns:a16="http://schemas.microsoft.com/office/drawing/2014/main" id="{12DEF840-EF08-4A02-8844-CE24214A9A18}"/>
                </a:ext>
              </a:extLst>
            </p:cNvPr>
            <p:cNvSpPr/>
            <p:nvPr/>
          </p:nvSpPr>
          <p:spPr>
            <a:xfrm>
              <a:off x="7460397" y="1073560"/>
              <a:ext cx="6824313" cy="3041029"/>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5" name="Shape 9">
              <a:extLst>
                <a:ext uri="{FF2B5EF4-FFF2-40B4-BE49-F238E27FC236}">
                  <a16:creationId xmlns:a16="http://schemas.microsoft.com/office/drawing/2014/main" id="{E20EDCE3-A7F9-446E-B10A-F3AE63DA9862}"/>
                </a:ext>
              </a:extLst>
            </p:cNvPr>
            <p:cNvSpPr/>
            <p:nvPr/>
          </p:nvSpPr>
          <p:spPr>
            <a:xfrm>
              <a:off x="7460397" y="1073560"/>
              <a:ext cx="725987" cy="3041029"/>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6" name="Image 1" descr="preencoded.png">
              <a:extLst>
                <a:ext uri="{FF2B5EF4-FFF2-40B4-BE49-F238E27FC236}">
                  <a16:creationId xmlns:a16="http://schemas.microsoft.com/office/drawing/2014/main" id="{D0DB3789-C50D-47A9-A672-4771A76E5C1C}"/>
                </a:ext>
              </a:extLst>
            </p:cNvPr>
            <p:cNvPicPr>
              <a:picLocks noChangeAspect="1"/>
            </p:cNvPicPr>
            <p:nvPr/>
          </p:nvPicPr>
          <p:blipFill>
            <a:blip r:embed="rId4"/>
            <a:stretch>
              <a:fillRect/>
            </a:stretch>
          </p:blipFill>
          <p:spPr>
            <a:xfrm>
              <a:off x="7605595" y="2213945"/>
              <a:ext cx="435592" cy="456157"/>
            </a:xfrm>
            <a:prstGeom prst="rect">
              <a:avLst/>
            </a:prstGeom>
            <a:noFill/>
            <a:ln cap="flat">
              <a:noFill/>
            </a:ln>
          </p:spPr>
        </p:pic>
        <p:sp>
          <p:nvSpPr>
            <p:cNvPr id="17" name="Text 10">
              <a:extLst>
                <a:ext uri="{FF2B5EF4-FFF2-40B4-BE49-F238E27FC236}">
                  <a16:creationId xmlns:a16="http://schemas.microsoft.com/office/drawing/2014/main" id="{2F95B1A5-47D2-4355-8446-A6AA2951485A}"/>
                </a:ext>
              </a:extLst>
            </p:cNvPr>
            <p:cNvSpPr/>
            <p:nvPr/>
          </p:nvSpPr>
          <p:spPr>
            <a:xfrm>
              <a:off x="8404186" y="1225606"/>
              <a:ext cx="5662732" cy="57779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a:ea typeface="Calibri" pitchFamily="34"/>
                  <a:cs typeface="Calibri" pitchFamily="34"/>
                </a:rPr>
                <a:t>Methodology</a:t>
              </a:r>
            </a:p>
          </p:txBody>
        </p:sp>
        <p:sp>
          <p:nvSpPr>
            <p:cNvPr id="18" name="Text 11">
              <a:extLst>
                <a:ext uri="{FF2B5EF4-FFF2-40B4-BE49-F238E27FC236}">
                  <a16:creationId xmlns:a16="http://schemas.microsoft.com/office/drawing/2014/main" id="{02F9AE4E-A4B3-435B-9B76-0088FA3D55EE}"/>
                </a:ext>
              </a:extLst>
            </p:cNvPr>
            <p:cNvSpPr/>
            <p:nvPr/>
          </p:nvSpPr>
          <p:spPr>
            <a:xfrm>
              <a:off x="8404186" y="1833810"/>
              <a:ext cx="5662732" cy="2128714"/>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a:ea typeface="Calibri"/>
                  <a:cs typeface="Calibri"/>
                </a:rPr>
                <a:t>A Design Science Research approach is used to create a predictive modeling tool. Knowledge from Graph Theory, Deep Learning, and Human-Computer Interaction is applied. Career histories are collected ethically, transformed into a temporal knowledge graph, and used to train transformer models. The system will be built, tested against historical data, and evaluated with real users to ensure usefulness</a:t>
              </a:r>
              <a:endParaRPr lang="en-US" sz="1800" b="0" i="0" u="none" strike="noStrike" kern="1200" cap="none" spc="0" baseline="0">
                <a:solidFill>
                  <a:srgbClr val="000000"/>
                </a:solidFill>
                <a:uFillTx/>
                <a:latin typeface="Calibri"/>
              </a:endParaRPr>
            </a:p>
          </p:txBody>
        </p:sp>
        <p:sp>
          <p:nvSpPr>
            <p:cNvPr id="19" name="Shape 12">
              <a:extLst>
                <a:ext uri="{FF2B5EF4-FFF2-40B4-BE49-F238E27FC236}">
                  <a16:creationId xmlns:a16="http://schemas.microsoft.com/office/drawing/2014/main" id="{F3A9FADA-F47E-4CF9-9EBF-7A167AFF0E10}"/>
                </a:ext>
              </a:extLst>
            </p:cNvPr>
            <p:cNvSpPr/>
            <p:nvPr/>
          </p:nvSpPr>
          <p:spPr>
            <a:xfrm>
              <a:off x="345688" y="4418682"/>
              <a:ext cx="6824313" cy="3041029"/>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0" name="Shape 13">
              <a:extLst>
                <a:ext uri="{FF2B5EF4-FFF2-40B4-BE49-F238E27FC236}">
                  <a16:creationId xmlns:a16="http://schemas.microsoft.com/office/drawing/2014/main" id="{96B2A644-C05E-4CF2-9E10-0722277568A0}"/>
                </a:ext>
              </a:extLst>
            </p:cNvPr>
            <p:cNvSpPr/>
            <p:nvPr/>
          </p:nvSpPr>
          <p:spPr>
            <a:xfrm>
              <a:off x="345688" y="4418682"/>
              <a:ext cx="725987" cy="3041029"/>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1" name="Image 2" descr="preencoded.png">
              <a:extLst>
                <a:ext uri="{FF2B5EF4-FFF2-40B4-BE49-F238E27FC236}">
                  <a16:creationId xmlns:a16="http://schemas.microsoft.com/office/drawing/2014/main" id="{06BC0329-1DEC-4DEE-8E20-D4839EEF190A}"/>
                </a:ext>
              </a:extLst>
            </p:cNvPr>
            <p:cNvPicPr>
              <a:picLocks noChangeAspect="1"/>
            </p:cNvPicPr>
            <p:nvPr/>
          </p:nvPicPr>
          <p:blipFill>
            <a:blip r:embed="rId5"/>
            <a:stretch>
              <a:fillRect/>
            </a:stretch>
          </p:blipFill>
          <p:spPr>
            <a:xfrm>
              <a:off x="490886" y="5559067"/>
              <a:ext cx="435592" cy="456157"/>
            </a:xfrm>
            <a:prstGeom prst="rect">
              <a:avLst/>
            </a:prstGeom>
            <a:noFill/>
            <a:ln cap="flat">
              <a:noFill/>
            </a:ln>
          </p:spPr>
        </p:pic>
        <p:sp>
          <p:nvSpPr>
            <p:cNvPr id="22" name="Text 14">
              <a:extLst>
                <a:ext uri="{FF2B5EF4-FFF2-40B4-BE49-F238E27FC236}">
                  <a16:creationId xmlns:a16="http://schemas.microsoft.com/office/drawing/2014/main" id="{D5897434-4C6C-479C-A977-FD83B78C0871}"/>
                </a:ext>
              </a:extLst>
            </p:cNvPr>
            <p:cNvSpPr/>
            <p:nvPr/>
          </p:nvSpPr>
          <p:spPr>
            <a:xfrm>
              <a:off x="1272543" y="4418335"/>
              <a:ext cx="5662732" cy="57779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a:ea typeface="Calibri" pitchFamily="34"/>
                  <a:cs typeface="Calibri" pitchFamily="34"/>
                </a:rPr>
                <a:t>Validation &amp; Evaluation</a:t>
              </a:r>
              <a:endParaRPr lang="en-US" sz="2800" b="0" i="0" u="none" strike="noStrike" kern="1200" cap="none" spc="0" baseline="0">
                <a:solidFill>
                  <a:srgbClr val="000000"/>
                </a:solidFill>
                <a:uFillTx/>
                <a:latin typeface="Calibri"/>
              </a:endParaRPr>
            </a:p>
          </p:txBody>
        </p:sp>
        <p:sp>
          <p:nvSpPr>
            <p:cNvPr id="23" name="Text 15">
              <a:extLst>
                <a:ext uri="{FF2B5EF4-FFF2-40B4-BE49-F238E27FC236}">
                  <a16:creationId xmlns:a16="http://schemas.microsoft.com/office/drawing/2014/main" id="{FC62DBC9-D96A-48A1-8C3E-33D8502BB5AE}"/>
                </a:ext>
              </a:extLst>
            </p:cNvPr>
            <p:cNvSpPr/>
            <p:nvPr/>
          </p:nvSpPr>
          <p:spPr>
            <a:xfrm>
              <a:off x="1289477" y="5178942"/>
              <a:ext cx="5662732" cy="2128714"/>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a:ea typeface="Calibri"/>
                  <a:cs typeface="Calibri"/>
                </a:rPr>
                <a:t>The system is evaluated quantitatively by testing prediction accuracy against held-out career sequences (20% of data). Metrics include next-position accuracy (target &gt;80%), recall@3 (target &gt;90%), and transition timing error. The model is compared against Markov and LSTM baselines. Qualitative evaluation involves user testing with 5-8 career counselors and 15-20 students to assess usefulness, interpretability, and trust</a:t>
              </a:r>
              <a:endParaRPr lang="en-US" sz="1800" b="0" i="0" u="none" strike="noStrike" kern="1200" cap="none" spc="0" baseline="0">
                <a:solidFill>
                  <a:srgbClr val="000000"/>
                </a:solidFill>
                <a:uFillTx/>
                <a:latin typeface="Calibri"/>
                <a:ea typeface="Calibri"/>
                <a:cs typeface="Calibri"/>
              </a:endParaRPr>
            </a:p>
          </p:txBody>
        </p:sp>
        <p:sp>
          <p:nvSpPr>
            <p:cNvPr id="24" name="Shape 16">
              <a:extLst>
                <a:ext uri="{FF2B5EF4-FFF2-40B4-BE49-F238E27FC236}">
                  <a16:creationId xmlns:a16="http://schemas.microsoft.com/office/drawing/2014/main" id="{5C17D82B-046C-4B18-BA07-82728BC103B1}"/>
                </a:ext>
              </a:extLst>
            </p:cNvPr>
            <p:cNvSpPr/>
            <p:nvPr/>
          </p:nvSpPr>
          <p:spPr>
            <a:xfrm>
              <a:off x="7460397" y="4418682"/>
              <a:ext cx="6824313" cy="3041029"/>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5" name="Shape 17">
              <a:extLst>
                <a:ext uri="{FF2B5EF4-FFF2-40B4-BE49-F238E27FC236}">
                  <a16:creationId xmlns:a16="http://schemas.microsoft.com/office/drawing/2014/main" id="{03541895-27EE-4CCB-8F6E-84AEE3115340}"/>
                </a:ext>
              </a:extLst>
            </p:cNvPr>
            <p:cNvSpPr/>
            <p:nvPr/>
          </p:nvSpPr>
          <p:spPr>
            <a:xfrm>
              <a:off x="7460397" y="4418682"/>
              <a:ext cx="725987" cy="3041029"/>
            </a:xfrm>
            <a:prstGeom prst="rect">
              <a:avLst/>
            </a:prstGeom>
            <a:solidFill>
              <a:srgbClr val="7C3AE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6" name="Image 3" descr="preencoded.png">
              <a:extLst>
                <a:ext uri="{FF2B5EF4-FFF2-40B4-BE49-F238E27FC236}">
                  <a16:creationId xmlns:a16="http://schemas.microsoft.com/office/drawing/2014/main" id="{A004660B-2009-4E16-9359-F89D8956E10F}"/>
                </a:ext>
              </a:extLst>
            </p:cNvPr>
            <p:cNvPicPr>
              <a:picLocks noChangeAspect="1"/>
            </p:cNvPicPr>
            <p:nvPr/>
          </p:nvPicPr>
          <p:blipFill>
            <a:blip r:embed="rId6"/>
            <a:stretch>
              <a:fillRect/>
            </a:stretch>
          </p:blipFill>
          <p:spPr>
            <a:xfrm>
              <a:off x="7605595" y="5559067"/>
              <a:ext cx="435592" cy="456157"/>
            </a:xfrm>
            <a:prstGeom prst="rect">
              <a:avLst/>
            </a:prstGeom>
            <a:noFill/>
            <a:ln cap="flat">
              <a:noFill/>
            </a:ln>
          </p:spPr>
        </p:pic>
        <p:sp>
          <p:nvSpPr>
            <p:cNvPr id="27" name="Text 18">
              <a:extLst>
                <a:ext uri="{FF2B5EF4-FFF2-40B4-BE49-F238E27FC236}">
                  <a16:creationId xmlns:a16="http://schemas.microsoft.com/office/drawing/2014/main" id="{5C284036-CC44-4DF6-B487-7C85D6112C29}"/>
                </a:ext>
              </a:extLst>
            </p:cNvPr>
            <p:cNvSpPr/>
            <p:nvPr/>
          </p:nvSpPr>
          <p:spPr>
            <a:xfrm>
              <a:off x="8438055" y="4418335"/>
              <a:ext cx="5662732" cy="57779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a:solidFill>
                    <a:srgbClr val="0A2342"/>
                  </a:solidFill>
                  <a:uFillTx/>
                  <a:latin typeface="Calibri"/>
                  <a:ea typeface="Calibri" pitchFamily="34"/>
                  <a:cs typeface="Calibri" pitchFamily="34"/>
                </a:rPr>
                <a:t>Data &amp; Ethics</a:t>
              </a:r>
              <a:endParaRPr lang="en-US" sz="2800" b="0" i="0" u="none" strike="noStrike" kern="1200" cap="none" spc="0" baseline="0">
                <a:solidFill>
                  <a:srgbClr val="000000"/>
                </a:solidFill>
                <a:uFillTx/>
                <a:latin typeface="Calibri"/>
              </a:endParaRPr>
            </a:p>
          </p:txBody>
        </p:sp>
        <p:sp>
          <p:nvSpPr>
            <p:cNvPr id="28" name="Text 19">
              <a:extLst>
                <a:ext uri="{FF2B5EF4-FFF2-40B4-BE49-F238E27FC236}">
                  <a16:creationId xmlns:a16="http://schemas.microsoft.com/office/drawing/2014/main" id="{41E8EDD8-3AC8-4E2D-BEF5-50C88BACF319}"/>
                </a:ext>
              </a:extLst>
            </p:cNvPr>
            <p:cNvSpPr/>
            <p:nvPr/>
          </p:nvSpPr>
          <p:spPr>
            <a:xfrm>
              <a:off x="8404186" y="5178942"/>
              <a:ext cx="5662732" cy="2128714"/>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4A5568"/>
                  </a:solidFill>
                  <a:uFillTx/>
                  <a:latin typeface="Calibri"/>
                  <a:ea typeface="Calibri"/>
                  <a:cs typeface="Calibri"/>
                </a:rPr>
                <a:t>Career data is collected from public LinkedIn profiles (manual, ethical collection), de-identified university alumni records, and voluntary surveys with informed consent. All personal identifiers are removed before storage. Data is encrypted and stored on university servers with access restricted to the research team. Ethical approval will be obtained from SLIIT Ethics Review Committee. Website terms of service and rate-limiting are respected during data collection</a:t>
              </a:r>
              <a:endParaRPr lang="en-US" sz="1800" b="0" i="0" u="none" strike="noStrike" kern="1200" cap="none" spc="0" baseline="0">
                <a:solidFill>
                  <a:srgbClr val="000000"/>
                </a:solidFill>
                <a:uFillTx/>
                <a:latin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12">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55BE854-7082-4E00-B41A-FDDA14F66462}"/>
              </a:ext>
            </a:extLst>
          </p:cNvPr>
          <p:cNvSpPr/>
          <p:nvPr/>
        </p:nvSpPr>
        <p:spPr>
          <a:xfrm>
            <a:off x="0" y="0"/>
            <a:ext cx="14633225" cy="914400"/>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nvGrpSpPr>
          <p:cNvPr id="3" name="Group 1">
            <a:extLst>
              <a:ext uri="{FF2B5EF4-FFF2-40B4-BE49-F238E27FC236}">
                <a16:creationId xmlns:a16="http://schemas.microsoft.com/office/drawing/2014/main" id="{91507728-C408-43E6-B7E1-0C80986718E4}"/>
              </a:ext>
            </a:extLst>
          </p:cNvPr>
          <p:cNvGrpSpPr/>
          <p:nvPr/>
        </p:nvGrpSpPr>
        <p:grpSpPr>
          <a:xfrm>
            <a:off x="0" y="7649733"/>
            <a:ext cx="14633225" cy="579866"/>
            <a:chOff x="0" y="7649733"/>
            <a:chExt cx="14633225" cy="579866"/>
          </a:xfrm>
        </p:grpSpPr>
        <p:sp>
          <p:nvSpPr>
            <p:cNvPr id="4" name="Rectangle 2">
              <a:extLst>
                <a:ext uri="{FF2B5EF4-FFF2-40B4-BE49-F238E27FC236}">
                  <a16:creationId xmlns:a16="http://schemas.microsoft.com/office/drawing/2014/main" id="{41066672-D4FA-46CF-8370-DDEC0327BAC1}"/>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3">
              <a:extLst>
                <a:ext uri="{FF2B5EF4-FFF2-40B4-BE49-F238E27FC236}">
                  <a16:creationId xmlns:a16="http://schemas.microsoft.com/office/drawing/2014/main" id="{34016499-7BD4-4876-8BE9-255CFF98340F}"/>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R26-IT-128</a:t>
              </a:r>
              <a:endParaRPr lang="en-US" sz="1800" b="0" i="0" u="none" strike="noStrike" kern="1200" cap="none" spc="0" baseline="0">
                <a:solidFill>
                  <a:srgbClr val="FFC000"/>
                </a:solidFill>
                <a:uFillTx/>
                <a:latin typeface="Calibri"/>
              </a:endParaRPr>
            </a:p>
          </p:txBody>
        </p:sp>
        <p:pic>
          <p:nvPicPr>
            <p:cNvPr id="6" name="Picture 4">
              <a:extLst>
                <a:ext uri="{FF2B5EF4-FFF2-40B4-BE49-F238E27FC236}">
                  <a16:creationId xmlns:a16="http://schemas.microsoft.com/office/drawing/2014/main" id="{A10D699E-E3D1-4660-9443-74ECB913F9FE}"/>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5">
              <a:extLst>
                <a:ext uri="{FF2B5EF4-FFF2-40B4-BE49-F238E27FC236}">
                  <a16:creationId xmlns:a16="http://schemas.microsoft.com/office/drawing/2014/main" id="{DF829F0F-E696-4067-833C-7D6696B23F12}"/>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8" name="Text 0">
            <a:extLst>
              <a:ext uri="{FF2B5EF4-FFF2-40B4-BE49-F238E27FC236}">
                <a16:creationId xmlns:a16="http://schemas.microsoft.com/office/drawing/2014/main" id="{41657F45-6C12-44C1-B160-F5ACF1A07CEC}"/>
              </a:ext>
            </a:extLst>
          </p:cNvPr>
          <p:cNvSpPr/>
          <p:nvPr/>
        </p:nvSpPr>
        <p:spPr>
          <a:xfrm>
            <a:off x="1565644" y="86803"/>
            <a:ext cx="11499110" cy="708778"/>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FFFFFF"/>
                </a:solidFill>
                <a:uFillTx/>
                <a:latin typeface="Calibri"/>
              </a:rPr>
              <a:t>Commercialization Potential &amp; Investment</a:t>
            </a:r>
          </a:p>
        </p:txBody>
      </p:sp>
      <p:sp>
        <p:nvSpPr>
          <p:cNvPr id="9" name="Shape 1">
            <a:extLst>
              <a:ext uri="{FF2B5EF4-FFF2-40B4-BE49-F238E27FC236}">
                <a16:creationId xmlns:a16="http://schemas.microsoft.com/office/drawing/2014/main" id="{E013597C-97CA-45E6-A48A-52B6850A1070}"/>
              </a:ext>
            </a:extLst>
          </p:cNvPr>
          <p:cNvSpPr/>
          <p:nvPr/>
        </p:nvSpPr>
        <p:spPr>
          <a:xfrm>
            <a:off x="579116" y="1061261"/>
            <a:ext cx="13411203" cy="1411989"/>
          </a:xfrm>
          <a:custGeom>
            <a:avLst/>
            <a:gdLst>
              <a:gd name="f0" fmla="val 10800000"/>
              <a:gd name="f1" fmla="val 5400000"/>
              <a:gd name="f2" fmla="val 16200000"/>
              <a:gd name="f3" fmla="val w"/>
              <a:gd name="f4" fmla="val h"/>
              <a:gd name="f5" fmla="val ss"/>
              <a:gd name="f6" fmla="val 0"/>
              <a:gd name="f7" fmla="*/ 5419351 1 1725033"/>
              <a:gd name="f8" fmla="val 45"/>
              <a:gd name="f9" fmla="val 656"/>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rgbClr val="FFFFFF"/>
          </a:solidFill>
          <a:ln w="7616" cap="flat">
            <a:solidFill>
              <a:srgbClr val="F8ECD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0" name="Text 4">
            <a:extLst>
              <a:ext uri="{FF2B5EF4-FFF2-40B4-BE49-F238E27FC236}">
                <a16:creationId xmlns:a16="http://schemas.microsoft.com/office/drawing/2014/main" id="{99A02A74-2D16-4798-8463-7833C93D2FB1}"/>
              </a:ext>
            </a:extLst>
          </p:cNvPr>
          <p:cNvSpPr/>
          <p:nvPr/>
        </p:nvSpPr>
        <p:spPr>
          <a:xfrm>
            <a:off x="853436" y="1078799"/>
            <a:ext cx="13172773" cy="1349361"/>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rgbClr val="000000"/>
                </a:solidFill>
                <a:uFillTx/>
                <a:latin typeface="Calibri"/>
                <a:ea typeface="Calibri"/>
                <a:cs typeface="Calibri"/>
              </a:rPr>
              <a:t>The proposed Skill Forecasting and Semantic Career Pathway Optimization Ecosystem has strong commercialization potential. With growing demand for AI-ready IT graduates in Sri Lanka, a localized platform using BERT embeddings, ARIMA forecasting, and semantic CV-job matching provides unique value unavailable in existing global or local platforms.</a:t>
            </a:r>
            <a:endParaRPr lang="en-US" sz="2000" b="0" i="0" u="none" strike="noStrike" kern="1200" cap="none" spc="0" baseline="0">
              <a:solidFill>
                <a:srgbClr val="000000"/>
              </a:solidFill>
              <a:uFillTx/>
              <a:latin typeface="Calibri"/>
            </a:endParaRPr>
          </a:p>
        </p:txBody>
      </p:sp>
      <p:grpSp>
        <p:nvGrpSpPr>
          <p:cNvPr id="11" name="Group 8">
            <a:extLst>
              <a:ext uri="{FF2B5EF4-FFF2-40B4-BE49-F238E27FC236}">
                <a16:creationId xmlns:a16="http://schemas.microsoft.com/office/drawing/2014/main" id="{93B4BF17-6A1F-472B-B6C4-3B7DCA1C7D6E}"/>
              </a:ext>
            </a:extLst>
          </p:cNvPr>
          <p:cNvGrpSpPr/>
          <p:nvPr/>
        </p:nvGrpSpPr>
        <p:grpSpPr>
          <a:xfrm>
            <a:off x="579116" y="2481260"/>
            <a:ext cx="13423730" cy="4532855"/>
            <a:chOff x="579116" y="2481260"/>
            <a:chExt cx="13423730" cy="4532855"/>
          </a:xfrm>
        </p:grpSpPr>
        <p:sp>
          <p:nvSpPr>
            <p:cNvPr id="12" name="Text 5">
              <a:extLst>
                <a:ext uri="{FF2B5EF4-FFF2-40B4-BE49-F238E27FC236}">
                  <a16:creationId xmlns:a16="http://schemas.microsoft.com/office/drawing/2014/main" id="{0DB228D9-5368-48D0-BB45-94003F62F56C}"/>
                </a:ext>
              </a:extLst>
            </p:cNvPr>
            <p:cNvSpPr/>
            <p:nvPr/>
          </p:nvSpPr>
          <p:spPr>
            <a:xfrm>
              <a:off x="649708" y="2481260"/>
              <a:ext cx="8470233" cy="49577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a:solidFill>
                    <a:srgbClr val="0A2342"/>
                  </a:solidFill>
                  <a:uFillTx/>
                  <a:latin typeface="Calibri" pitchFamily="34"/>
                  <a:ea typeface="Calibri" pitchFamily="34"/>
                  <a:cs typeface="Calibri" pitchFamily="34"/>
                </a:rPr>
                <a:t>Possible Pricing Models</a:t>
              </a:r>
              <a:endParaRPr lang="en-US" sz="2400" b="0" i="0" u="none" strike="noStrike" kern="1200" cap="none" spc="0" baseline="0">
                <a:solidFill>
                  <a:srgbClr val="000000"/>
                </a:solidFill>
                <a:uFillTx/>
                <a:latin typeface="Calibri"/>
              </a:endParaRPr>
            </a:p>
          </p:txBody>
        </p:sp>
        <p:grpSp>
          <p:nvGrpSpPr>
            <p:cNvPr id="13" name="Group 10">
              <a:extLst>
                <a:ext uri="{FF2B5EF4-FFF2-40B4-BE49-F238E27FC236}">
                  <a16:creationId xmlns:a16="http://schemas.microsoft.com/office/drawing/2014/main" id="{D045088E-7D3E-41F3-A9E9-C45B834D4554}"/>
                </a:ext>
              </a:extLst>
            </p:cNvPr>
            <p:cNvGrpSpPr/>
            <p:nvPr/>
          </p:nvGrpSpPr>
          <p:grpSpPr>
            <a:xfrm>
              <a:off x="579116" y="3118689"/>
              <a:ext cx="13423730" cy="3895426"/>
              <a:chOff x="579116" y="3118689"/>
              <a:chExt cx="13423730" cy="3895426"/>
            </a:xfrm>
          </p:grpSpPr>
          <p:sp>
            <p:nvSpPr>
              <p:cNvPr id="14" name="Shape 6">
                <a:extLst>
                  <a:ext uri="{FF2B5EF4-FFF2-40B4-BE49-F238E27FC236}">
                    <a16:creationId xmlns:a16="http://schemas.microsoft.com/office/drawing/2014/main" id="{50F5D54F-1052-4F90-A87F-9B41E6632EC4}"/>
                  </a:ext>
                </a:extLst>
              </p:cNvPr>
              <p:cNvSpPr/>
              <p:nvPr/>
            </p:nvSpPr>
            <p:spPr>
              <a:xfrm>
                <a:off x="579116" y="3118689"/>
                <a:ext cx="3246924" cy="3895426"/>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5" name="Shape 7">
                <a:extLst>
                  <a:ext uri="{FF2B5EF4-FFF2-40B4-BE49-F238E27FC236}">
                    <a16:creationId xmlns:a16="http://schemas.microsoft.com/office/drawing/2014/main" id="{8D549494-3CCA-467E-8DFA-680CC1E8C5B9}"/>
                  </a:ext>
                </a:extLst>
              </p:cNvPr>
              <p:cNvSpPr/>
              <p:nvPr/>
            </p:nvSpPr>
            <p:spPr>
              <a:xfrm>
                <a:off x="579116" y="3118689"/>
                <a:ext cx="3246924" cy="84993"/>
              </a:xfrm>
              <a:prstGeom prst="rect">
                <a:avLst/>
              </a:pr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6" name="Shape 8">
                <a:extLst>
                  <a:ext uri="{FF2B5EF4-FFF2-40B4-BE49-F238E27FC236}">
                    <a16:creationId xmlns:a16="http://schemas.microsoft.com/office/drawing/2014/main" id="{757476B1-3B60-4984-9F6C-C9E385BC39D7}"/>
                  </a:ext>
                </a:extLst>
              </p:cNvPr>
              <p:cNvSpPr/>
              <p:nvPr/>
            </p:nvSpPr>
            <p:spPr>
              <a:xfrm>
                <a:off x="1496726" y="3401997"/>
                <a:ext cx="1411705" cy="141651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7" name="Image 1" descr="preencoded.png">
                <a:extLst>
                  <a:ext uri="{FF2B5EF4-FFF2-40B4-BE49-F238E27FC236}">
                    <a16:creationId xmlns:a16="http://schemas.microsoft.com/office/drawing/2014/main" id="{C96DB14C-8636-4A37-A122-EBC97784DE4C}"/>
                  </a:ext>
                </a:extLst>
              </p:cNvPr>
              <p:cNvPicPr>
                <a:picLocks noChangeAspect="1"/>
              </p:cNvPicPr>
              <p:nvPr/>
            </p:nvPicPr>
            <p:blipFill>
              <a:blip r:embed="rId3"/>
              <a:stretch>
                <a:fillRect/>
              </a:stretch>
            </p:blipFill>
            <p:spPr>
              <a:xfrm>
                <a:off x="1708483" y="3614476"/>
                <a:ext cx="988192" cy="991566"/>
              </a:xfrm>
              <a:prstGeom prst="rect">
                <a:avLst/>
              </a:prstGeom>
              <a:noFill/>
              <a:ln cap="flat">
                <a:noFill/>
              </a:ln>
            </p:spPr>
          </p:pic>
          <p:sp>
            <p:nvSpPr>
              <p:cNvPr id="18" name="Text 9">
                <a:extLst>
                  <a:ext uri="{FF2B5EF4-FFF2-40B4-BE49-F238E27FC236}">
                    <a16:creationId xmlns:a16="http://schemas.microsoft.com/office/drawing/2014/main" id="{550D15B8-540C-4CA9-88D5-B47EC152A722}"/>
                  </a:ext>
                </a:extLst>
              </p:cNvPr>
              <p:cNvSpPr/>
              <p:nvPr/>
            </p:nvSpPr>
            <p:spPr>
              <a:xfrm>
                <a:off x="720291" y="4960162"/>
                <a:ext cx="2964585" cy="637437"/>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Freemium Model</a:t>
                </a:r>
                <a:endParaRPr lang="en-US" sz="2000" b="0" i="0" u="none" strike="noStrike" kern="1200" cap="none" spc="0" baseline="0">
                  <a:solidFill>
                    <a:srgbClr val="000000"/>
                  </a:solidFill>
                  <a:uFillTx/>
                  <a:latin typeface="Calibri"/>
                </a:endParaRPr>
              </a:p>
            </p:txBody>
          </p:sp>
          <p:sp>
            <p:nvSpPr>
              <p:cNvPr id="19" name="Text 10">
                <a:extLst>
                  <a:ext uri="{FF2B5EF4-FFF2-40B4-BE49-F238E27FC236}">
                    <a16:creationId xmlns:a16="http://schemas.microsoft.com/office/drawing/2014/main" id="{75FA535E-7D98-4B19-B593-D35055AA2B04}"/>
                  </a:ext>
                </a:extLst>
              </p:cNvPr>
              <p:cNvSpPr/>
              <p:nvPr/>
            </p:nvSpPr>
            <p:spPr>
              <a:xfrm>
                <a:off x="720291" y="5668420"/>
                <a:ext cx="2964585" cy="127486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 Basic skill analytics and career graph free. Advanced CV optimizer, full interview simulator, and ARIMA forecasts via monthly subscription..</a:t>
                </a:r>
                <a:endParaRPr lang="en-US" sz="1800" b="0" i="0" u="none" strike="noStrike" kern="1200" cap="none" spc="0" baseline="0">
                  <a:solidFill>
                    <a:srgbClr val="000000"/>
                  </a:solidFill>
                  <a:uFillTx/>
                  <a:latin typeface="Calibri"/>
                  <a:ea typeface="Calibri"/>
                  <a:cs typeface="Calibri"/>
                </a:endParaRPr>
              </a:p>
            </p:txBody>
          </p:sp>
          <p:sp>
            <p:nvSpPr>
              <p:cNvPr id="20" name="Shape 11">
                <a:extLst>
                  <a:ext uri="{FF2B5EF4-FFF2-40B4-BE49-F238E27FC236}">
                    <a16:creationId xmlns:a16="http://schemas.microsoft.com/office/drawing/2014/main" id="{EAD9A0BB-399F-45A2-BB27-062C41C68BDC}"/>
                  </a:ext>
                </a:extLst>
              </p:cNvPr>
              <p:cNvSpPr/>
              <p:nvPr/>
            </p:nvSpPr>
            <p:spPr>
              <a:xfrm>
                <a:off x="3967215" y="3118689"/>
                <a:ext cx="3246924" cy="3895426"/>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1" name="Shape 12">
                <a:extLst>
                  <a:ext uri="{FF2B5EF4-FFF2-40B4-BE49-F238E27FC236}">
                    <a16:creationId xmlns:a16="http://schemas.microsoft.com/office/drawing/2014/main" id="{CB01A2AB-CC63-4717-9393-E8AF63A4ED63}"/>
                  </a:ext>
                </a:extLst>
              </p:cNvPr>
              <p:cNvSpPr/>
              <p:nvPr/>
            </p:nvSpPr>
            <p:spPr>
              <a:xfrm>
                <a:off x="3967215" y="3118689"/>
                <a:ext cx="3246924" cy="84993"/>
              </a:xfrm>
              <a:prstGeom prst="rect">
                <a:avLst/>
              </a:prstGeom>
              <a:solidFill>
                <a:srgbClr val="E05A3A"/>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2" name="Shape 13">
                <a:extLst>
                  <a:ext uri="{FF2B5EF4-FFF2-40B4-BE49-F238E27FC236}">
                    <a16:creationId xmlns:a16="http://schemas.microsoft.com/office/drawing/2014/main" id="{6DC1163F-2A41-4425-B77C-30EDE6292C6E}"/>
                  </a:ext>
                </a:extLst>
              </p:cNvPr>
              <p:cNvSpPr/>
              <p:nvPr/>
            </p:nvSpPr>
            <p:spPr>
              <a:xfrm>
                <a:off x="4884825" y="3401997"/>
                <a:ext cx="1411705" cy="141651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E05A3A"/>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3" name="Image 2" descr="Schoolhouse with solid fill">
                <a:extLst>
                  <a:ext uri="{FF2B5EF4-FFF2-40B4-BE49-F238E27FC236}">
                    <a16:creationId xmlns:a16="http://schemas.microsoft.com/office/drawing/2014/main" id="{FFB1438F-00EF-49F4-8798-C09F75D031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21218" y="3503423"/>
                <a:ext cx="1288819" cy="1226192"/>
              </a:xfrm>
              <a:prstGeom prst="rect">
                <a:avLst/>
              </a:prstGeom>
              <a:noFill/>
              <a:ln cap="flat">
                <a:noFill/>
              </a:ln>
            </p:spPr>
          </p:pic>
          <p:sp>
            <p:nvSpPr>
              <p:cNvPr id="24" name="Text 14">
                <a:extLst>
                  <a:ext uri="{FF2B5EF4-FFF2-40B4-BE49-F238E27FC236}">
                    <a16:creationId xmlns:a16="http://schemas.microsoft.com/office/drawing/2014/main" id="{0D7A2D66-8524-4100-A483-BC8866A111D2}"/>
                  </a:ext>
                </a:extLst>
              </p:cNvPr>
              <p:cNvSpPr/>
              <p:nvPr/>
            </p:nvSpPr>
            <p:spPr>
              <a:xfrm>
                <a:off x="4108380" y="4960162"/>
                <a:ext cx="2964585" cy="637437"/>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School Licensing</a:t>
                </a:r>
                <a:endParaRPr lang="en-US" sz="2000" b="0" i="0" u="none" strike="noStrike" kern="1200" cap="none" spc="0" baseline="0">
                  <a:solidFill>
                    <a:srgbClr val="000000"/>
                  </a:solidFill>
                  <a:uFillTx/>
                  <a:latin typeface="Calibri"/>
                </a:endParaRPr>
              </a:p>
            </p:txBody>
          </p:sp>
          <p:sp>
            <p:nvSpPr>
              <p:cNvPr id="25" name="Text 15">
                <a:extLst>
                  <a:ext uri="{FF2B5EF4-FFF2-40B4-BE49-F238E27FC236}">
                    <a16:creationId xmlns:a16="http://schemas.microsoft.com/office/drawing/2014/main" id="{4A419410-C78C-4008-A1F2-70A0890480F5}"/>
                  </a:ext>
                </a:extLst>
              </p:cNvPr>
              <p:cNvSpPr/>
              <p:nvPr/>
            </p:nvSpPr>
            <p:spPr>
              <a:xfrm>
                <a:off x="4108380" y="5668420"/>
                <a:ext cx="2964585" cy="127486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Annual B2B license for universities and career guidance units. Provides Skill Analytics Dashboard for data-driven curriculum planning.</a:t>
                </a:r>
                <a:endParaRPr lang="en-US" sz="1800" b="0" i="0" u="none" strike="noStrike" kern="1200" cap="none" spc="0" baseline="0">
                  <a:solidFill>
                    <a:srgbClr val="000000"/>
                  </a:solidFill>
                  <a:uFillTx/>
                  <a:latin typeface="Calibri"/>
                </a:endParaRPr>
              </a:p>
            </p:txBody>
          </p:sp>
          <p:sp>
            <p:nvSpPr>
              <p:cNvPr id="26" name="Shape 16">
                <a:extLst>
                  <a:ext uri="{FF2B5EF4-FFF2-40B4-BE49-F238E27FC236}">
                    <a16:creationId xmlns:a16="http://schemas.microsoft.com/office/drawing/2014/main" id="{024482D7-6132-4912-A9AF-E28031BF9A89}"/>
                  </a:ext>
                </a:extLst>
              </p:cNvPr>
              <p:cNvSpPr/>
              <p:nvPr/>
            </p:nvSpPr>
            <p:spPr>
              <a:xfrm>
                <a:off x="7330251" y="3118689"/>
                <a:ext cx="3246924" cy="3895426"/>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7" name="Shape 17">
                <a:extLst>
                  <a:ext uri="{FF2B5EF4-FFF2-40B4-BE49-F238E27FC236}">
                    <a16:creationId xmlns:a16="http://schemas.microsoft.com/office/drawing/2014/main" id="{850EBDAB-8B0E-441D-A0A7-28EE88C2F553}"/>
                  </a:ext>
                </a:extLst>
              </p:cNvPr>
              <p:cNvSpPr/>
              <p:nvPr/>
            </p:nvSpPr>
            <p:spPr>
              <a:xfrm>
                <a:off x="7355305" y="3118689"/>
                <a:ext cx="3246924" cy="84993"/>
              </a:xfrm>
              <a:prstGeom prst="rect">
                <a:avLst/>
              </a:prstGeom>
              <a:solidFill>
                <a:srgbClr val="7C3AE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8" name="Shape 18">
                <a:extLst>
                  <a:ext uri="{FF2B5EF4-FFF2-40B4-BE49-F238E27FC236}">
                    <a16:creationId xmlns:a16="http://schemas.microsoft.com/office/drawing/2014/main" id="{34F09570-63D7-46B2-8424-7C746A4B4F96}"/>
                  </a:ext>
                </a:extLst>
              </p:cNvPr>
              <p:cNvSpPr/>
              <p:nvPr/>
            </p:nvSpPr>
            <p:spPr>
              <a:xfrm>
                <a:off x="8272915" y="3401997"/>
                <a:ext cx="1411705" cy="141651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7C3AE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9" name="Image 3" descr="preencoded.png">
                <a:extLst>
                  <a:ext uri="{FF2B5EF4-FFF2-40B4-BE49-F238E27FC236}">
                    <a16:creationId xmlns:a16="http://schemas.microsoft.com/office/drawing/2014/main" id="{8D77E006-8D44-4CDC-884E-2C3174A3D5F8}"/>
                  </a:ext>
                </a:extLst>
              </p:cNvPr>
              <p:cNvPicPr>
                <a:picLocks noChangeAspect="1"/>
              </p:cNvPicPr>
              <p:nvPr/>
            </p:nvPicPr>
            <p:blipFill>
              <a:blip r:embed="rId5"/>
              <a:stretch>
                <a:fillRect/>
              </a:stretch>
            </p:blipFill>
            <p:spPr>
              <a:xfrm>
                <a:off x="8484671" y="3614476"/>
                <a:ext cx="988192" cy="991566"/>
              </a:xfrm>
              <a:prstGeom prst="rect">
                <a:avLst/>
              </a:prstGeom>
              <a:noFill/>
              <a:ln cap="flat">
                <a:noFill/>
              </a:ln>
            </p:spPr>
          </p:pic>
          <p:sp>
            <p:nvSpPr>
              <p:cNvPr id="30" name="Text 19">
                <a:extLst>
                  <a:ext uri="{FF2B5EF4-FFF2-40B4-BE49-F238E27FC236}">
                    <a16:creationId xmlns:a16="http://schemas.microsoft.com/office/drawing/2014/main" id="{78D0D62B-A3FE-4C47-81B4-833534F9A745}"/>
                  </a:ext>
                </a:extLst>
              </p:cNvPr>
              <p:cNvSpPr/>
              <p:nvPr/>
            </p:nvSpPr>
            <p:spPr>
              <a:xfrm>
                <a:off x="7496479" y="4960162"/>
                <a:ext cx="2964585" cy="637437"/>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Subscription Model</a:t>
                </a:r>
                <a:endParaRPr lang="en-US" sz="2000" b="0" i="0" u="none" strike="noStrike" kern="1200" cap="none" spc="0" baseline="0">
                  <a:solidFill>
                    <a:srgbClr val="000000"/>
                  </a:solidFill>
                  <a:uFillTx/>
                  <a:latin typeface="Calibri"/>
                </a:endParaRPr>
              </a:p>
            </p:txBody>
          </p:sp>
          <p:sp>
            <p:nvSpPr>
              <p:cNvPr id="31" name="Text 20">
                <a:extLst>
                  <a:ext uri="{FF2B5EF4-FFF2-40B4-BE49-F238E27FC236}">
                    <a16:creationId xmlns:a16="http://schemas.microsoft.com/office/drawing/2014/main" id="{61F30812-F25F-4046-8C16-DC1E6FEB21F6}"/>
                  </a:ext>
                </a:extLst>
              </p:cNvPr>
              <p:cNvSpPr/>
              <p:nvPr/>
            </p:nvSpPr>
            <p:spPr>
              <a:xfrm>
                <a:off x="7496479" y="5668420"/>
                <a:ext cx="2964585" cy="127486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Students subscribe monthly or annually for full platform access including career pathways, semantic CV-job matching, and interview simulation.</a:t>
                </a:r>
                <a:endParaRPr lang="en-US" sz="1800" b="0" i="0" u="none" strike="noStrike" kern="1200" cap="none" spc="0" baseline="0">
                  <a:solidFill>
                    <a:srgbClr val="000000"/>
                  </a:solidFill>
                  <a:uFillTx/>
                  <a:latin typeface="Calibri"/>
                </a:endParaRPr>
              </a:p>
            </p:txBody>
          </p:sp>
          <p:sp>
            <p:nvSpPr>
              <p:cNvPr id="32" name="Shape 21">
                <a:extLst>
                  <a:ext uri="{FF2B5EF4-FFF2-40B4-BE49-F238E27FC236}">
                    <a16:creationId xmlns:a16="http://schemas.microsoft.com/office/drawing/2014/main" id="{2A3D30DA-541C-4F84-9143-CF2ADF92E07C}"/>
                  </a:ext>
                </a:extLst>
              </p:cNvPr>
              <p:cNvSpPr/>
              <p:nvPr/>
            </p:nvSpPr>
            <p:spPr>
              <a:xfrm>
                <a:off x="10755922" y="3118689"/>
                <a:ext cx="3246924" cy="3895426"/>
              </a:xfrm>
              <a:prstGeom prst="rect">
                <a:avLst/>
              </a:prstGeom>
              <a:solidFill>
                <a:srgbClr val="F5F7FA"/>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33" name="Shape 22">
                <a:extLst>
                  <a:ext uri="{FF2B5EF4-FFF2-40B4-BE49-F238E27FC236}">
                    <a16:creationId xmlns:a16="http://schemas.microsoft.com/office/drawing/2014/main" id="{87E393D9-09B9-4DFD-9933-DC0FE12D441B}"/>
                  </a:ext>
                </a:extLst>
              </p:cNvPr>
              <p:cNvSpPr/>
              <p:nvPr/>
            </p:nvSpPr>
            <p:spPr>
              <a:xfrm>
                <a:off x="10743404" y="3118689"/>
                <a:ext cx="3246924" cy="84993"/>
              </a:xfrm>
              <a:prstGeom prst="rect">
                <a:avLst/>
              </a:pr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34" name="Shape 23">
                <a:extLst>
                  <a:ext uri="{FF2B5EF4-FFF2-40B4-BE49-F238E27FC236}">
                    <a16:creationId xmlns:a16="http://schemas.microsoft.com/office/drawing/2014/main" id="{EF5AA724-B1DC-4145-9822-A68A7149A582}"/>
                  </a:ext>
                </a:extLst>
              </p:cNvPr>
              <p:cNvSpPr/>
              <p:nvPr/>
            </p:nvSpPr>
            <p:spPr>
              <a:xfrm>
                <a:off x="11661004" y="3401997"/>
                <a:ext cx="1411705" cy="141651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10B981"/>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35" name="Image 4" descr="preencoded.png">
                <a:extLst>
                  <a:ext uri="{FF2B5EF4-FFF2-40B4-BE49-F238E27FC236}">
                    <a16:creationId xmlns:a16="http://schemas.microsoft.com/office/drawing/2014/main" id="{900D4202-9B12-4300-9929-F57BB26009DA}"/>
                  </a:ext>
                </a:extLst>
              </p:cNvPr>
              <p:cNvPicPr>
                <a:picLocks noChangeAspect="1"/>
              </p:cNvPicPr>
              <p:nvPr/>
            </p:nvPicPr>
            <p:blipFill>
              <a:blip r:embed="rId6"/>
              <a:stretch>
                <a:fillRect/>
              </a:stretch>
            </p:blipFill>
            <p:spPr>
              <a:xfrm>
                <a:off x="11872761" y="3614476"/>
                <a:ext cx="988192" cy="991566"/>
              </a:xfrm>
              <a:prstGeom prst="rect">
                <a:avLst/>
              </a:prstGeom>
              <a:noFill/>
              <a:ln cap="flat">
                <a:noFill/>
              </a:ln>
            </p:spPr>
          </p:pic>
          <p:sp>
            <p:nvSpPr>
              <p:cNvPr id="36" name="Text 24">
                <a:extLst>
                  <a:ext uri="{FF2B5EF4-FFF2-40B4-BE49-F238E27FC236}">
                    <a16:creationId xmlns:a16="http://schemas.microsoft.com/office/drawing/2014/main" id="{93128599-8D8A-4690-9B38-C5F2731E9D32}"/>
                  </a:ext>
                </a:extLst>
              </p:cNvPr>
              <p:cNvSpPr/>
              <p:nvPr/>
            </p:nvSpPr>
            <p:spPr>
              <a:xfrm>
                <a:off x="10884569" y="4960162"/>
                <a:ext cx="2964585" cy="637437"/>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Educational Partnerships</a:t>
                </a:r>
                <a:endParaRPr lang="en-US" sz="2000" b="0" i="0" u="none" strike="noStrike" kern="1200" cap="none" spc="0" baseline="0">
                  <a:solidFill>
                    <a:srgbClr val="000000"/>
                  </a:solidFill>
                  <a:uFillTx/>
                  <a:latin typeface="Calibri"/>
                </a:endParaRPr>
              </a:p>
            </p:txBody>
          </p:sp>
          <p:sp>
            <p:nvSpPr>
              <p:cNvPr id="37" name="Text 25">
                <a:extLst>
                  <a:ext uri="{FF2B5EF4-FFF2-40B4-BE49-F238E27FC236}">
                    <a16:creationId xmlns:a16="http://schemas.microsoft.com/office/drawing/2014/main" id="{DD51FC38-34A0-4043-B93B-58DD873B3A1B}"/>
                  </a:ext>
                </a:extLst>
              </p:cNvPr>
              <p:cNvSpPr/>
              <p:nvPr/>
            </p:nvSpPr>
            <p:spPr>
              <a:xfrm>
                <a:off x="10884569" y="5668420"/>
                <a:ext cx="2964585" cy="127486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4A5568"/>
                    </a:solidFill>
                    <a:uFillTx/>
                    <a:latin typeface="Calibri"/>
                    <a:ea typeface="Calibri"/>
                    <a:cs typeface="Calibri"/>
                  </a:rPr>
                  <a:t>Collaborate with SLIIT, HR firms, and industry partners to integrate the platform into graduate placement and employability programs.</a:t>
                </a:r>
                <a:endParaRPr lang="en-US" sz="1800" b="0" i="0" u="none" strike="noStrike" kern="1200" cap="none" spc="0" baseline="0">
                  <a:solidFill>
                    <a:srgbClr val="000000"/>
                  </a:solidFill>
                  <a:uFillTx/>
                  <a:latin typeface="Calibri"/>
                </a:endParaRPr>
              </a:p>
            </p:txBody>
          </p:sp>
        </p:grpSp>
      </p:grpSp>
      <p:pic>
        <p:nvPicPr>
          <p:cNvPr id="38" name="Image 0" descr="preencoded.png">
            <a:extLst>
              <a:ext uri="{FF2B5EF4-FFF2-40B4-BE49-F238E27FC236}">
                <a16:creationId xmlns:a16="http://schemas.microsoft.com/office/drawing/2014/main" id="{6EF5275C-5A43-4EDF-B175-66A3428AC841}"/>
              </a:ext>
            </a:extLst>
          </p:cNvPr>
          <p:cNvPicPr>
            <a:picLocks noChangeAspect="1"/>
          </p:cNvPicPr>
          <p:nvPr/>
        </p:nvPicPr>
        <p:blipFill>
          <a:blip r:embed="rId7">
            <a:lum bright="70000" contrast="-70000"/>
          </a:blip>
          <a:stretch>
            <a:fillRect/>
          </a:stretch>
        </p:blipFill>
        <p:spPr>
          <a:xfrm>
            <a:off x="853436" y="182880"/>
            <a:ext cx="548640" cy="548640"/>
          </a:xfrm>
          <a:prstGeom prst="rect">
            <a:avLst/>
          </a:prstGeom>
          <a:noFill/>
          <a:ln cap="flat">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3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5C4B6A-86AC-468F-95C4-433825DDB75E}"/>
              </a:ext>
            </a:extLst>
          </p:cNvPr>
          <p:cNvGrpSpPr/>
          <p:nvPr/>
        </p:nvGrpSpPr>
        <p:grpSpPr>
          <a:xfrm>
            <a:off x="0" y="7649733"/>
            <a:ext cx="14633225" cy="579866"/>
            <a:chOff x="0" y="7649733"/>
            <a:chExt cx="14633225" cy="579866"/>
          </a:xfrm>
        </p:grpSpPr>
        <p:sp>
          <p:nvSpPr>
            <p:cNvPr id="3" name="Rectangle 2">
              <a:extLst>
                <a:ext uri="{FF2B5EF4-FFF2-40B4-BE49-F238E27FC236}">
                  <a16:creationId xmlns:a16="http://schemas.microsoft.com/office/drawing/2014/main" id="{CF4FF742-143F-4AB7-A117-6D2D41421CDA}"/>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4" name="Rectangle 3">
              <a:extLst>
                <a:ext uri="{FF2B5EF4-FFF2-40B4-BE49-F238E27FC236}">
                  <a16:creationId xmlns:a16="http://schemas.microsoft.com/office/drawing/2014/main" id="{37D3E13B-4803-43D9-AC82-7F96FA6DC1A0}"/>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R26-IT-128</a:t>
              </a:r>
              <a:endParaRPr lang="en-US" sz="1800" b="0" i="0" u="none" strike="noStrike" kern="1200" cap="none" spc="0" baseline="0">
                <a:solidFill>
                  <a:srgbClr val="FFC000"/>
                </a:solidFill>
                <a:uFillTx/>
                <a:latin typeface="Calibri"/>
              </a:endParaRPr>
            </a:p>
          </p:txBody>
        </p:sp>
        <p:pic>
          <p:nvPicPr>
            <p:cNvPr id="5" name="Picture 4">
              <a:extLst>
                <a:ext uri="{FF2B5EF4-FFF2-40B4-BE49-F238E27FC236}">
                  <a16:creationId xmlns:a16="http://schemas.microsoft.com/office/drawing/2014/main" id="{193289DF-BD00-4849-9CDB-BDE5E62E0281}"/>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6" name="Rectangle 5">
              <a:extLst>
                <a:ext uri="{FF2B5EF4-FFF2-40B4-BE49-F238E27FC236}">
                  <a16:creationId xmlns:a16="http://schemas.microsoft.com/office/drawing/2014/main" id="{110F6386-1EA6-468D-85BB-99E36BCD63D9}"/>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7" name="Text 0">
            <a:extLst>
              <a:ext uri="{FF2B5EF4-FFF2-40B4-BE49-F238E27FC236}">
                <a16:creationId xmlns:a16="http://schemas.microsoft.com/office/drawing/2014/main" id="{0740D954-C98F-41F9-B72F-9A5958967E41}"/>
              </a:ext>
            </a:extLst>
          </p:cNvPr>
          <p:cNvSpPr/>
          <p:nvPr/>
        </p:nvSpPr>
        <p:spPr>
          <a:xfrm>
            <a:off x="277995" y="100867"/>
            <a:ext cx="14074399" cy="1551489"/>
          </a:xfrm>
          <a:prstGeom prst="rect">
            <a:avLst/>
          </a:prstGeom>
          <a:noFill/>
          <a:ln cap="flat">
            <a:noFill/>
            <a:prstDash val="solid"/>
          </a:ln>
        </p:spPr>
        <p:txBody>
          <a:bodyPr vert="horz" wrap="none" lIns="0" tIns="0"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000000"/>
                </a:solidFill>
                <a:uFillTx/>
                <a:latin typeface="Calibri"/>
              </a:rPr>
              <a:t>Target Market, Value Proposition &amp;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000000"/>
                </a:solidFill>
                <a:uFillTx/>
                <a:latin typeface="Calibri"/>
              </a:rPr>
              <a:t>Intellectual Property</a:t>
            </a:r>
          </a:p>
        </p:txBody>
      </p:sp>
      <p:grpSp>
        <p:nvGrpSpPr>
          <p:cNvPr id="8" name="Group 7">
            <a:extLst>
              <a:ext uri="{FF2B5EF4-FFF2-40B4-BE49-F238E27FC236}">
                <a16:creationId xmlns:a16="http://schemas.microsoft.com/office/drawing/2014/main" id="{F4C1B058-6400-4855-A84F-07B1D0650514}"/>
              </a:ext>
            </a:extLst>
          </p:cNvPr>
          <p:cNvGrpSpPr/>
          <p:nvPr/>
        </p:nvGrpSpPr>
        <p:grpSpPr>
          <a:xfrm>
            <a:off x="826526" y="2053285"/>
            <a:ext cx="12976002" cy="4849703"/>
            <a:chOff x="826526" y="2053285"/>
            <a:chExt cx="12976002" cy="4849703"/>
          </a:xfrm>
        </p:grpSpPr>
        <p:sp>
          <p:nvSpPr>
            <p:cNvPr id="9" name="Shape 4">
              <a:extLst>
                <a:ext uri="{FF2B5EF4-FFF2-40B4-BE49-F238E27FC236}">
                  <a16:creationId xmlns:a16="http://schemas.microsoft.com/office/drawing/2014/main" id="{1766AE09-D0F4-4612-A33A-9E5418A2BE17}"/>
                </a:ext>
              </a:extLst>
            </p:cNvPr>
            <p:cNvSpPr/>
            <p:nvPr/>
          </p:nvSpPr>
          <p:spPr>
            <a:xfrm>
              <a:off x="826526" y="2053285"/>
              <a:ext cx="4190164" cy="4849703"/>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0" name="Shape 5">
              <a:extLst>
                <a:ext uri="{FF2B5EF4-FFF2-40B4-BE49-F238E27FC236}">
                  <a16:creationId xmlns:a16="http://schemas.microsoft.com/office/drawing/2014/main" id="{9ED21D61-AB43-4427-904A-D1A378A87F89}"/>
                </a:ext>
              </a:extLst>
            </p:cNvPr>
            <p:cNvSpPr/>
            <p:nvPr/>
          </p:nvSpPr>
          <p:spPr>
            <a:xfrm>
              <a:off x="2245775" y="2301654"/>
              <a:ext cx="1351666" cy="118284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1565A7"/>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1" name="Image 0" descr="preencoded.png">
              <a:extLst>
                <a:ext uri="{FF2B5EF4-FFF2-40B4-BE49-F238E27FC236}">
                  <a16:creationId xmlns:a16="http://schemas.microsoft.com/office/drawing/2014/main" id="{B6EEDB9D-F227-4F97-931C-AC05CF74900A}"/>
                </a:ext>
              </a:extLst>
            </p:cNvPr>
            <p:cNvPicPr>
              <a:picLocks noChangeAspect="1"/>
            </p:cNvPicPr>
            <p:nvPr/>
          </p:nvPicPr>
          <p:blipFill>
            <a:blip r:embed="rId3"/>
            <a:stretch>
              <a:fillRect/>
            </a:stretch>
          </p:blipFill>
          <p:spPr>
            <a:xfrm>
              <a:off x="2448525" y="2479084"/>
              <a:ext cx="946166" cy="827998"/>
            </a:xfrm>
            <a:prstGeom prst="rect">
              <a:avLst/>
            </a:prstGeom>
            <a:noFill/>
            <a:ln cap="flat">
              <a:noFill/>
            </a:ln>
          </p:spPr>
        </p:pic>
        <p:sp>
          <p:nvSpPr>
            <p:cNvPr id="12" name="Text 6">
              <a:extLst>
                <a:ext uri="{FF2B5EF4-FFF2-40B4-BE49-F238E27FC236}">
                  <a16:creationId xmlns:a16="http://schemas.microsoft.com/office/drawing/2014/main" id="{42E83BA1-C5CF-49D9-9765-483C7B0CDCA8}"/>
                </a:ext>
              </a:extLst>
            </p:cNvPr>
            <p:cNvSpPr/>
            <p:nvPr/>
          </p:nvSpPr>
          <p:spPr>
            <a:xfrm>
              <a:off x="1029276" y="3561423"/>
              <a:ext cx="3784665" cy="6505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Target Market &amp; Customer Profile</a:t>
              </a:r>
              <a:endParaRPr lang="en-US" sz="2000" b="0" i="0" u="none" strike="noStrike" kern="1200" cap="none" spc="0" baseline="0">
                <a:solidFill>
                  <a:srgbClr val="000000"/>
                </a:solidFill>
                <a:uFillTx/>
                <a:latin typeface="Calibri"/>
              </a:endParaRPr>
            </a:p>
          </p:txBody>
        </p:sp>
        <p:sp>
          <p:nvSpPr>
            <p:cNvPr id="13" name="Text 7">
              <a:extLst>
                <a:ext uri="{FF2B5EF4-FFF2-40B4-BE49-F238E27FC236}">
                  <a16:creationId xmlns:a16="http://schemas.microsoft.com/office/drawing/2014/main" id="{8BD24D1C-D5AB-4D27-90B9-48BD46AA1363}"/>
                </a:ext>
              </a:extLst>
            </p:cNvPr>
            <p:cNvSpPr/>
            <p:nvPr/>
          </p:nvSpPr>
          <p:spPr>
            <a:xfrm>
              <a:off x="1029276" y="3886712"/>
              <a:ext cx="3784665" cy="2897989"/>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4A5568"/>
                  </a:solidFill>
                  <a:uFillTx/>
                  <a:latin typeface="Calibri"/>
                  <a:ea typeface="Calibri"/>
                  <a:cs typeface="Calibri"/>
                </a:rPr>
                <a:t>IT undergraduates (final-year) transitioning to industry roles in software development, data science, and AI. Also targets academic institutions and career guidance units in Sri Lanka seeking to align curricula with real-time market shifts.</a:t>
              </a:r>
              <a:endParaRPr lang="en-US" sz="1800" b="0" i="0" u="none" strike="noStrike" kern="1200" cap="none" spc="0" baseline="0">
                <a:solidFill>
                  <a:srgbClr val="000000"/>
                </a:solidFill>
                <a:uFillTx/>
                <a:latin typeface="Calibri"/>
              </a:endParaRPr>
            </a:p>
          </p:txBody>
        </p:sp>
        <p:sp>
          <p:nvSpPr>
            <p:cNvPr id="14" name="Shape 8">
              <a:extLst>
                <a:ext uri="{FF2B5EF4-FFF2-40B4-BE49-F238E27FC236}">
                  <a16:creationId xmlns:a16="http://schemas.microsoft.com/office/drawing/2014/main" id="{51EB9ABC-3405-468E-93F5-D56C9A14BA76}"/>
                </a:ext>
              </a:extLst>
            </p:cNvPr>
            <p:cNvSpPr/>
            <p:nvPr/>
          </p:nvSpPr>
          <p:spPr>
            <a:xfrm>
              <a:off x="5219440" y="2053285"/>
              <a:ext cx="4190164" cy="4849703"/>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15" name="Shape 9">
              <a:extLst>
                <a:ext uri="{FF2B5EF4-FFF2-40B4-BE49-F238E27FC236}">
                  <a16:creationId xmlns:a16="http://schemas.microsoft.com/office/drawing/2014/main" id="{1514CF13-86C5-4981-AE25-4642922DC584}"/>
                </a:ext>
              </a:extLst>
            </p:cNvPr>
            <p:cNvSpPr/>
            <p:nvPr/>
          </p:nvSpPr>
          <p:spPr>
            <a:xfrm>
              <a:off x="6638690" y="2347109"/>
              <a:ext cx="1351666" cy="118284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F4A53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6" name="Image 1" descr="preencoded.png">
              <a:extLst>
                <a:ext uri="{FF2B5EF4-FFF2-40B4-BE49-F238E27FC236}">
                  <a16:creationId xmlns:a16="http://schemas.microsoft.com/office/drawing/2014/main" id="{29B230FC-2C0D-43F3-8240-EB522E96EA25}"/>
                </a:ext>
              </a:extLst>
            </p:cNvPr>
            <p:cNvPicPr>
              <a:picLocks noChangeAspect="1"/>
            </p:cNvPicPr>
            <p:nvPr/>
          </p:nvPicPr>
          <p:blipFill>
            <a:blip r:embed="rId4"/>
            <a:stretch>
              <a:fillRect/>
            </a:stretch>
          </p:blipFill>
          <p:spPr>
            <a:xfrm>
              <a:off x="6841440" y="2524539"/>
              <a:ext cx="946166" cy="827998"/>
            </a:xfrm>
            <a:prstGeom prst="rect">
              <a:avLst/>
            </a:prstGeom>
            <a:noFill/>
            <a:ln cap="flat">
              <a:noFill/>
            </a:ln>
          </p:spPr>
        </p:pic>
        <p:sp>
          <p:nvSpPr>
            <p:cNvPr id="17" name="Text 10">
              <a:extLst>
                <a:ext uri="{FF2B5EF4-FFF2-40B4-BE49-F238E27FC236}">
                  <a16:creationId xmlns:a16="http://schemas.microsoft.com/office/drawing/2014/main" id="{3C9044BA-0E59-4B51-9E4C-F21410A6758F}"/>
                </a:ext>
              </a:extLst>
            </p:cNvPr>
            <p:cNvSpPr/>
            <p:nvPr/>
          </p:nvSpPr>
          <p:spPr>
            <a:xfrm>
              <a:off x="5422190" y="3560947"/>
              <a:ext cx="3784665" cy="6505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Value Proposition</a:t>
              </a:r>
              <a:endParaRPr lang="en-US" sz="2000" b="0" i="0" u="none" strike="noStrike" kern="1200" cap="none" spc="0" baseline="0">
                <a:solidFill>
                  <a:srgbClr val="000000"/>
                </a:solidFill>
                <a:uFillTx/>
                <a:latin typeface="Calibri"/>
              </a:endParaRPr>
            </a:p>
          </p:txBody>
        </p:sp>
        <p:sp>
          <p:nvSpPr>
            <p:cNvPr id="18" name="Text 11">
              <a:extLst>
                <a:ext uri="{FF2B5EF4-FFF2-40B4-BE49-F238E27FC236}">
                  <a16:creationId xmlns:a16="http://schemas.microsoft.com/office/drawing/2014/main" id="{37680E98-4976-432E-87F1-F9DEFE77B9B8}"/>
                </a:ext>
              </a:extLst>
            </p:cNvPr>
            <p:cNvSpPr/>
            <p:nvPr/>
          </p:nvSpPr>
          <p:spPr>
            <a:xfrm>
              <a:off x="5422190" y="3886712"/>
              <a:ext cx="3784665" cy="2897989"/>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4A5568"/>
                  </a:solidFill>
                  <a:uFillTx/>
                  <a:latin typeface="Calibri"/>
                  <a:ea typeface="Calibri"/>
                  <a:cs typeface="Calibri"/>
                </a:rPr>
                <a:t> A localized AI-driven ecosystem offering probabilistic career trajectories from real-time Sri Lankan job portal data, semantic CV-job matching, and an Interview Simulator with real-time behavioral feedback for both technical and soft-skill assessment..</a:t>
              </a:r>
              <a:endParaRPr lang="en-US" sz="1600" b="0" i="0" u="none" strike="noStrike" kern="1200" cap="none" spc="0" baseline="0">
                <a:solidFill>
                  <a:srgbClr val="000000"/>
                </a:solidFill>
                <a:uFillTx/>
                <a:latin typeface="Calibri"/>
                <a:ea typeface="Calibri"/>
                <a:cs typeface="Calibri"/>
              </a:endParaRPr>
            </a:p>
          </p:txBody>
        </p:sp>
        <p:sp>
          <p:nvSpPr>
            <p:cNvPr id="19" name="Shape 12">
              <a:extLst>
                <a:ext uri="{FF2B5EF4-FFF2-40B4-BE49-F238E27FC236}">
                  <a16:creationId xmlns:a16="http://schemas.microsoft.com/office/drawing/2014/main" id="{A298EFC8-B50F-4858-83B7-911054A9FC29}"/>
                </a:ext>
              </a:extLst>
            </p:cNvPr>
            <p:cNvSpPr/>
            <p:nvPr/>
          </p:nvSpPr>
          <p:spPr>
            <a:xfrm>
              <a:off x="9612364" y="2053285"/>
              <a:ext cx="4190164" cy="4849703"/>
            </a:xfrm>
            <a:prstGeom prst="rect">
              <a:avLst/>
            </a:prstGeom>
            <a:solidFill>
              <a:srgbClr val="FFFFFF"/>
            </a:solidFill>
            <a:ln cap="flat">
              <a:noFill/>
              <a:prstDash val="solid"/>
            </a:ln>
            <a:effectLst>
              <a:outerShdw dist="38096" dir="8100000" algn="tl">
                <a:srgbClr val="000000">
                  <a:alpha val="12000"/>
                </a:srgbClr>
              </a:outerShdw>
            </a:effectLst>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20" name="Shape 13">
              <a:extLst>
                <a:ext uri="{FF2B5EF4-FFF2-40B4-BE49-F238E27FC236}">
                  <a16:creationId xmlns:a16="http://schemas.microsoft.com/office/drawing/2014/main" id="{B6469284-A04F-4E94-ACD0-000DA9B28961}"/>
                </a:ext>
              </a:extLst>
            </p:cNvPr>
            <p:cNvSpPr/>
            <p:nvPr/>
          </p:nvSpPr>
          <p:spPr>
            <a:xfrm>
              <a:off x="11031614" y="2344137"/>
              <a:ext cx="1351666" cy="118284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7C3AE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21" name="Image 2" descr="preencoded.png">
              <a:extLst>
                <a:ext uri="{FF2B5EF4-FFF2-40B4-BE49-F238E27FC236}">
                  <a16:creationId xmlns:a16="http://schemas.microsoft.com/office/drawing/2014/main" id="{06FB8CDE-9FC1-424B-86E7-3B3C25A3BE4F}"/>
                </a:ext>
              </a:extLst>
            </p:cNvPr>
            <p:cNvPicPr>
              <a:picLocks noChangeAspect="1"/>
            </p:cNvPicPr>
            <p:nvPr/>
          </p:nvPicPr>
          <p:blipFill>
            <a:blip r:embed="rId5"/>
            <a:stretch>
              <a:fillRect/>
            </a:stretch>
          </p:blipFill>
          <p:spPr>
            <a:xfrm>
              <a:off x="11234364" y="2521567"/>
              <a:ext cx="946166" cy="827998"/>
            </a:xfrm>
            <a:prstGeom prst="rect">
              <a:avLst/>
            </a:prstGeom>
            <a:noFill/>
            <a:ln cap="flat">
              <a:noFill/>
            </a:ln>
          </p:spPr>
        </p:pic>
        <p:sp>
          <p:nvSpPr>
            <p:cNvPr id="22" name="Text 14">
              <a:extLst>
                <a:ext uri="{FF2B5EF4-FFF2-40B4-BE49-F238E27FC236}">
                  <a16:creationId xmlns:a16="http://schemas.microsoft.com/office/drawing/2014/main" id="{DAEA8CC5-4074-4465-A853-4736EAB77793}"/>
                </a:ext>
              </a:extLst>
            </p:cNvPr>
            <p:cNvSpPr/>
            <p:nvPr/>
          </p:nvSpPr>
          <p:spPr>
            <a:xfrm>
              <a:off x="9815114" y="3558469"/>
              <a:ext cx="3784665" cy="6505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a:solidFill>
                    <a:srgbClr val="0A2342"/>
                  </a:solidFill>
                  <a:uFillTx/>
                  <a:latin typeface="Calibri" pitchFamily="34"/>
                  <a:ea typeface="Calibri" pitchFamily="34"/>
                  <a:cs typeface="Calibri" pitchFamily="34"/>
                </a:rPr>
                <a:t>Intellectual Property Rights</a:t>
              </a:r>
              <a:endParaRPr lang="en-US" sz="2000" b="0" i="0" u="none" strike="noStrike" kern="1200" cap="none" spc="0" baseline="0">
                <a:solidFill>
                  <a:srgbClr val="000000"/>
                </a:solidFill>
                <a:uFillTx/>
                <a:latin typeface="Calibri"/>
              </a:endParaRPr>
            </a:p>
          </p:txBody>
        </p:sp>
        <p:sp>
          <p:nvSpPr>
            <p:cNvPr id="23" name="Text 15">
              <a:extLst>
                <a:ext uri="{FF2B5EF4-FFF2-40B4-BE49-F238E27FC236}">
                  <a16:creationId xmlns:a16="http://schemas.microsoft.com/office/drawing/2014/main" id="{23CC316E-38FE-41B9-BDA7-42A9586767F4}"/>
                </a:ext>
              </a:extLst>
            </p:cNvPr>
            <p:cNvSpPr/>
            <p:nvPr/>
          </p:nvSpPr>
          <p:spPr>
            <a:xfrm>
              <a:off x="9815114" y="3886712"/>
              <a:ext cx="3784665" cy="2897989"/>
            </a:xfrm>
            <a:prstGeom prst="rect">
              <a:avLst/>
            </a:prstGeom>
            <a:noFill/>
            <a:ln cap="flat">
              <a:noFill/>
              <a:prstDash val="solid"/>
            </a:ln>
          </p:spPr>
          <p:txBody>
            <a:bodyPr vert="horz" wrap="square" lIns="0" tIns="0" rIns="0" bIns="0" anchor="ctr" anchorCtr="0" compatLnSpc="1">
              <a:noAutofit/>
            </a:bodyPr>
            <a:lstStyle/>
            <a:p>
              <a:pPr marL="0" marR="0" lvl="0" indent="0" algn="just"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4A5568"/>
                  </a:solidFill>
                  <a:uFillTx/>
                  <a:latin typeface="Calibri"/>
                  <a:ea typeface="Calibri"/>
                  <a:cs typeface="Calibri"/>
                </a:rPr>
                <a:t> Proprietary algorithms for weighted skill matching and career pathway prediction in Neo4j are protected as trade secrets. Custom-trained NLP models and the integrated feedback loop constitute original IP. All data acquisition follows ethical scraping and privacy-compliant protocols.</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13">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6B3D416-544D-4304-A058-F25FC5DE3099}"/>
              </a:ext>
            </a:extLst>
          </p:cNvPr>
          <p:cNvSpPr/>
          <p:nvPr/>
        </p:nvSpPr>
        <p:spPr>
          <a:xfrm>
            <a:off x="0" y="0"/>
            <a:ext cx="14633225" cy="914400"/>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nvGrpSpPr>
          <p:cNvPr id="3" name="Group 1">
            <a:extLst>
              <a:ext uri="{FF2B5EF4-FFF2-40B4-BE49-F238E27FC236}">
                <a16:creationId xmlns:a16="http://schemas.microsoft.com/office/drawing/2014/main" id="{B2DDFEBD-B542-478F-94B2-208BFD223B48}"/>
              </a:ext>
            </a:extLst>
          </p:cNvPr>
          <p:cNvGrpSpPr/>
          <p:nvPr/>
        </p:nvGrpSpPr>
        <p:grpSpPr>
          <a:xfrm>
            <a:off x="0" y="7649733"/>
            <a:ext cx="14633225" cy="579866"/>
            <a:chOff x="0" y="7649733"/>
            <a:chExt cx="14633225" cy="579866"/>
          </a:xfrm>
        </p:grpSpPr>
        <p:sp>
          <p:nvSpPr>
            <p:cNvPr id="4" name="Rectangle 2">
              <a:extLst>
                <a:ext uri="{FF2B5EF4-FFF2-40B4-BE49-F238E27FC236}">
                  <a16:creationId xmlns:a16="http://schemas.microsoft.com/office/drawing/2014/main" id="{AA177A5E-05D9-4AF4-824A-5003136D1A99}"/>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3">
              <a:extLst>
                <a:ext uri="{FF2B5EF4-FFF2-40B4-BE49-F238E27FC236}">
                  <a16:creationId xmlns:a16="http://schemas.microsoft.com/office/drawing/2014/main" id="{C9041644-EE1B-4858-8B5D-6279A30A9C69}"/>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R26-IT-128</a:t>
              </a:r>
              <a:endParaRPr lang="en-US" sz="1800" b="0" i="0" u="none" strike="noStrike" kern="1200" cap="none" spc="0" baseline="0">
                <a:solidFill>
                  <a:srgbClr val="FFC000"/>
                </a:solidFill>
                <a:uFillTx/>
                <a:latin typeface="Calibri"/>
              </a:endParaRPr>
            </a:p>
          </p:txBody>
        </p:sp>
        <p:pic>
          <p:nvPicPr>
            <p:cNvPr id="6" name="Picture 4">
              <a:extLst>
                <a:ext uri="{FF2B5EF4-FFF2-40B4-BE49-F238E27FC236}">
                  <a16:creationId xmlns:a16="http://schemas.microsoft.com/office/drawing/2014/main" id="{2FC067D2-40BC-4966-81AA-A787D50D0A32}"/>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7" name="Rectangle 5">
              <a:extLst>
                <a:ext uri="{FF2B5EF4-FFF2-40B4-BE49-F238E27FC236}">
                  <a16:creationId xmlns:a16="http://schemas.microsoft.com/office/drawing/2014/main" id="{8D59BE30-76C5-4688-8914-DF89CE81653E}"/>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8" name="Text 0">
            <a:extLst>
              <a:ext uri="{FF2B5EF4-FFF2-40B4-BE49-F238E27FC236}">
                <a16:creationId xmlns:a16="http://schemas.microsoft.com/office/drawing/2014/main" id="{996B64B6-D225-442F-82B7-6B1BD06E5178}"/>
              </a:ext>
            </a:extLst>
          </p:cNvPr>
          <p:cNvSpPr/>
          <p:nvPr/>
        </p:nvSpPr>
        <p:spPr>
          <a:xfrm>
            <a:off x="3325992" y="91558"/>
            <a:ext cx="7978405" cy="708778"/>
          </a:xfrm>
          <a:prstGeom prst="rect">
            <a:avLst/>
          </a:prstGeom>
          <a:noFill/>
          <a:ln cap="flat">
            <a:noFill/>
            <a:prstDash val="solid"/>
          </a:ln>
        </p:spPr>
        <p:txBody>
          <a:bodyPr vert="horz" wrap="non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800" b="1" i="0" u="none" strike="noStrike" kern="1200" cap="none" spc="0" baseline="0">
                <a:solidFill>
                  <a:srgbClr val="FFFFFF"/>
                </a:solidFill>
                <a:uFillTx/>
                <a:latin typeface="Calibri" pitchFamily="34"/>
                <a:ea typeface="Calibri" pitchFamily="34"/>
                <a:cs typeface="Calibri" pitchFamily="34"/>
              </a:rPr>
              <a:t>Gantt Chart — Project Timeline</a:t>
            </a:r>
            <a:endParaRPr lang="en-US" sz="4800" b="0" i="0" u="none" strike="noStrike" kern="1200" cap="none" spc="0" baseline="0">
              <a:solidFill>
                <a:srgbClr val="000000"/>
              </a:solidFill>
              <a:uFillTx/>
              <a:latin typeface="Calibri"/>
            </a:endParaRPr>
          </a:p>
        </p:txBody>
      </p:sp>
      <p:pic>
        <p:nvPicPr>
          <p:cNvPr id="9" name="Image 0" descr="preencoded.png">
            <a:extLst>
              <a:ext uri="{FF2B5EF4-FFF2-40B4-BE49-F238E27FC236}">
                <a16:creationId xmlns:a16="http://schemas.microsoft.com/office/drawing/2014/main" id="{7A1E54EF-A5EB-466D-A403-5DA010ED1F9A}"/>
              </a:ext>
            </a:extLst>
          </p:cNvPr>
          <p:cNvPicPr>
            <a:picLocks noChangeAspect="1"/>
          </p:cNvPicPr>
          <p:nvPr/>
        </p:nvPicPr>
        <p:blipFill>
          <a:blip r:embed="rId3">
            <a:lum bright="70000" contrast="-70000"/>
          </a:blip>
          <a:stretch>
            <a:fillRect/>
          </a:stretch>
        </p:blipFill>
        <p:spPr>
          <a:xfrm>
            <a:off x="2626111" y="182880"/>
            <a:ext cx="548640" cy="548640"/>
          </a:xfrm>
          <a:prstGeom prst="rect">
            <a:avLst/>
          </a:prstGeom>
          <a:noFill/>
          <a:ln cap="flat">
            <a:noFill/>
          </a:ln>
        </p:spPr>
      </p:pic>
      <p:pic>
        <p:nvPicPr>
          <p:cNvPr id="10" name="Picture 9" descr="A screenshot of a graph&#10;&#10;AI-generated content may be incorrect.">
            <a:extLst>
              <a:ext uri="{FF2B5EF4-FFF2-40B4-BE49-F238E27FC236}">
                <a16:creationId xmlns:a16="http://schemas.microsoft.com/office/drawing/2014/main" id="{2862AD1F-7FD7-4F36-A6C1-32E5DED170E6}"/>
              </a:ext>
            </a:extLst>
          </p:cNvPr>
          <p:cNvPicPr>
            <a:picLocks noChangeAspect="1"/>
          </p:cNvPicPr>
          <p:nvPr/>
        </p:nvPicPr>
        <p:blipFill>
          <a:blip r:embed="rId4"/>
          <a:stretch>
            <a:fillRect/>
          </a:stretch>
        </p:blipFill>
        <p:spPr>
          <a:xfrm>
            <a:off x="1277270" y="981132"/>
            <a:ext cx="12075337" cy="6852385"/>
          </a:xfrm>
          <a:prstGeom prst="rect">
            <a:avLst/>
          </a:prstGeom>
          <a:noFill/>
          <a:ln cap="flat">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31">
    <p:spTree>
      <p:nvGrpSpPr>
        <p:cNvPr id="1" name=""/>
        <p:cNvGrpSpPr/>
        <p:nvPr/>
      </p:nvGrpSpPr>
      <p:grpSpPr>
        <a:xfrm>
          <a:off x="0" y="0"/>
          <a:ext cx="0" cy="0"/>
          <a:chOff x="0" y="0"/>
          <a:chExt cx="0" cy="0"/>
        </a:xfrm>
      </p:grpSpPr>
      <p:grpSp>
        <p:nvGrpSpPr>
          <p:cNvPr id="2" name="Group 94">
            <a:extLst>
              <a:ext uri="{FF2B5EF4-FFF2-40B4-BE49-F238E27FC236}">
                <a16:creationId xmlns:a16="http://schemas.microsoft.com/office/drawing/2014/main" id="{3AA981D1-8940-4BDD-97E2-925AB599109B}"/>
              </a:ext>
            </a:extLst>
          </p:cNvPr>
          <p:cNvGrpSpPr/>
          <p:nvPr/>
        </p:nvGrpSpPr>
        <p:grpSpPr>
          <a:xfrm>
            <a:off x="0" y="7649733"/>
            <a:ext cx="14633225" cy="579866"/>
            <a:chOff x="0" y="7649733"/>
            <a:chExt cx="14633225" cy="579866"/>
          </a:xfrm>
        </p:grpSpPr>
        <p:sp>
          <p:nvSpPr>
            <p:cNvPr id="3" name="Rectangle 95">
              <a:extLst>
                <a:ext uri="{FF2B5EF4-FFF2-40B4-BE49-F238E27FC236}">
                  <a16:creationId xmlns:a16="http://schemas.microsoft.com/office/drawing/2014/main" id="{99D24E4A-7E3D-4A70-91EC-EABE0771AD25}"/>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4" name="Rectangle 96">
              <a:extLst>
                <a:ext uri="{FF2B5EF4-FFF2-40B4-BE49-F238E27FC236}">
                  <a16:creationId xmlns:a16="http://schemas.microsoft.com/office/drawing/2014/main" id="{6033CD1D-0AF0-4AD1-81D5-788E7F448C2E}"/>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Times New Roman"/>
                  <a:ea typeface="Calibri"/>
                  <a:cs typeface="Times New Roman"/>
                </a:rPr>
                <a:t>R26-IT-128</a:t>
              </a:r>
              <a:endParaRPr lang="en-US" sz="1800" b="0" i="0" u="none" strike="noStrike" kern="1200" cap="none" spc="0" baseline="0">
                <a:solidFill>
                  <a:srgbClr val="FFC000"/>
                </a:solidFill>
                <a:uFillTx/>
                <a:latin typeface="Calibri"/>
              </a:endParaRPr>
            </a:p>
          </p:txBody>
        </p:sp>
        <p:pic>
          <p:nvPicPr>
            <p:cNvPr id="5" name="Picture 97">
              <a:extLst>
                <a:ext uri="{FF2B5EF4-FFF2-40B4-BE49-F238E27FC236}">
                  <a16:creationId xmlns:a16="http://schemas.microsoft.com/office/drawing/2014/main" id="{7F683140-BDDF-43A5-B0D0-A57771816A09}"/>
                </a:ext>
              </a:extLst>
            </p:cNvPr>
            <p:cNvPicPr>
              <a:picLocks noChangeAspect="1"/>
            </p:cNvPicPr>
            <p:nvPr/>
          </p:nvPicPr>
          <p:blipFill>
            <a:blip r:embed="rId2"/>
            <a:stretch>
              <a:fillRect/>
            </a:stretch>
          </p:blipFill>
          <p:spPr>
            <a:xfrm>
              <a:off x="0" y="7707212"/>
              <a:ext cx="3043708" cy="522387"/>
            </a:xfrm>
            <a:prstGeom prst="rect">
              <a:avLst/>
            </a:prstGeom>
            <a:noFill/>
            <a:ln cap="flat">
              <a:noFill/>
            </a:ln>
          </p:spPr>
        </p:pic>
        <p:sp>
          <p:nvSpPr>
            <p:cNvPr id="6" name="Rectangle 98">
              <a:extLst>
                <a:ext uri="{FF2B5EF4-FFF2-40B4-BE49-F238E27FC236}">
                  <a16:creationId xmlns:a16="http://schemas.microsoft.com/office/drawing/2014/main" id="{4C020C8F-E126-420E-ADBE-7DE11C15807E}"/>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grpSp>
        <p:nvGrpSpPr>
          <p:cNvPr id="7" name="Group 2">
            <a:extLst>
              <a:ext uri="{FF2B5EF4-FFF2-40B4-BE49-F238E27FC236}">
                <a16:creationId xmlns:a16="http://schemas.microsoft.com/office/drawing/2014/main" id="{F5FB1328-4774-4D11-BC05-D0ABCF964471}"/>
              </a:ext>
            </a:extLst>
          </p:cNvPr>
          <p:cNvGrpSpPr/>
          <p:nvPr/>
        </p:nvGrpSpPr>
        <p:grpSpPr>
          <a:xfrm>
            <a:off x="0" y="0"/>
            <a:ext cx="14630400" cy="914400"/>
            <a:chOff x="0" y="0"/>
            <a:chExt cx="14630400" cy="914400"/>
          </a:xfrm>
        </p:grpSpPr>
        <p:sp>
          <p:nvSpPr>
            <p:cNvPr id="8" name="Shape 0">
              <a:extLst>
                <a:ext uri="{FF2B5EF4-FFF2-40B4-BE49-F238E27FC236}">
                  <a16:creationId xmlns:a16="http://schemas.microsoft.com/office/drawing/2014/main" id="{4BB5F158-D8EF-4098-BC92-2F767C518E6F}"/>
                </a:ext>
              </a:extLst>
            </p:cNvPr>
            <p:cNvSpPr/>
            <p:nvPr/>
          </p:nvSpPr>
          <p:spPr>
            <a:xfrm>
              <a:off x="0" y="0"/>
              <a:ext cx="14630400" cy="914400"/>
            </a:xfrm>
            <a:prstGeom prst="rect">
              <a:avLst/>
            </a:prstGeom>
            <a:solidFill>
              <a:srgbClr val="0A234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9" name="Image 0" descr="preencoded.png">
              <a:extLst>
                <a:ext uri="{FF2B5EF4-FFF2-40B4-BE49-F238E27FC236}">
                  <a16:creationId xmlns:a16="http://schemas.microsoft.com/office/drawing/2014/main" id="{F6A73229-D42D-4864-A0C1-49CF408D86C2}"/>
                </a:ext>
              </a:extLst>
            </p:cNvPr>
            <p:cNvPicPr>
              <a:picLocks noChangeAspect="1"/>
            </p:cNvPicPr>
            <p:nvPr/>
          </p:nvPicPr>
          <p:blipFill>
            <a:blip r:embed="rId3">
              <a:lum bright="70000" contrast="-70000"/>
            </a:blip>
            <a:stretch>
              <a:fillRect/>
            </a:stretch>
          </p:blipFill>
          <p:spPr>
            <a:xfrm>
              <a:off x="3610764" y="182880"/>
              <a:ext cx="682453" cy="548640"/>
            </a:xfrm>
            <a:prstGeom prst="rect">
              <a:avLst/>
            </a:prstGeom>
            <a:noFill/>
            <a:ln cap="flat">
              <a:noFill/>
            </a:ln>
          </p:spPr>
        </p:pic>
        <p:sp>
          <p:nvSpPr>
            <p:cNvPr id="10" name="Text 2">
              <a:extLst>
                <a:ext uri="{FF2B5EF4-FFF2-40B4-BE49-F238E27FC236}">
                  <a16:creationId xmlns:a16="http://schemas.microsoft.com/office/drawing/2014/main" id="{75009286-6841-4642-9E79-3D3C3FD32562}"/>
                </a:ext>
              </a:extLst>
            </p:cNvPr>
            <p:cNvSpPr/>
            <p:nvPr/>
          </p:nvSpPr>
          <p:spPr>
            <a:xfrm>
              <a:off x="1463040" y="137160"/>
              <a:ext cx="11704320" cy="640080"/>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000" b="1" i="0" u="none" strike="noStrike" kern="1200" cap="none" spc="0" baseline="0">
                  <a:solidFill>
                    <a:srgbClr val="FFFFFF"/>
                  </a:solidFill>
                  <a:uFillTx/>
                  <a:latin typeface="Calibri" pitchFamily="34"/>
                  <a:ea typeface="Calibri" pitchFamily="34"/>
                  <a:cs typeface="Calibri" pitchFamily="34"/>
                </a:rPr>
                <a:t>Work Breakdown Structure</a:t>
              </a:r>
              <a:endParaRPr lang="en-US" sz="4000" b="0" i="0" u="none" strike="noStrike" kern="1200" cap="none" spc="0" baseline="0">
                <a:solidFill>
                  <a:srgbClr val="000000"/>
                </a:solidFill>
                <a:uFillTx/>
                <a:latin typeface="Calibri"/>
              </a:endParaRPr>
            </a:p>
          </p:txBody>
        </p:sp>
      </p:grpSp>
      <p:pic>
        <p:nvPicPr>
          <p:cNvPr id="11" name="Picture 1" descr="A diagram of a project&#10;&#10;AI-generated content may be incorrect.">
            <a:extLst>
              <a:ext uri="{FF2B5EF4-FFF2-40B4-BE49-F238E27FC236}">
                <a16:creationId xmlns:a16="http://schemas.microsoft.com/office/drawing/2014/main" id="{FA7D17A5-3D8D-43CB-80AA-469CC2926C5A}"/>
              </a:ext>
            </a:extLst>
          </p:cNvPr>
          <p:cNvPicPr>
            <a:picLocks noChangeAspect="1"/>
          </p:cNvPicPr>
          <p:nvPr/>
        </p:nvPicPr>
        <p:blipFill>
          <a:blip r:embed="rId4"/>
          <a:stretch>
            <a:fillRect/>
          </a:stretch>
        </p:blipFill>
        <p:spPr>
          <a:xfrm>
            <a:off x="1433386" y="973616"/>
            <a:ext cx="11763637" cy="6670639"/>
          </a:xfrm>
          <a:prstGeom prst="rect">
            <a:avLst/>
          </a:prstGeom>
          <a:noFill/>
          <a:ln cap="flat">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32">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BC78362-FAC6-4574-8BCE-41A985F6DEB5}"/>
              </a:ext>
            </a:extLst>
          </p:cNvPr>
          <p:cNvPicPr>
            <a:picLocks noChangeAspect="1"/>
          </p:cNvPicPr>
          <p:nvPr/>
        </p:nvPicPr>
        <p:blipFill>
          <a:blip r:embed="rId2"/>
          <a:srcRect/>
          <a:stretch>
            <a:fillRect/>
          </a:stretch>
        </p:blipFill>
        <p:spPr>
          <a:xfrm>
            <a:off x="0" y="0"/>
            <a:ext cx="14608454" cy="8217255"/>
          </a:xfrm>
          <a:prstGeom prst="rect">
            <a:avLst/>
          </a:prstGeom>
          <a:noFill/>
          <a:ln cap="flat">
            <a:noFill/>
          </a:ln>
        </p:spPr>
      </p:pic>
      <p:grpSp>
        <p:nvGrpSpPr>
          <p:cNvPr id="3" name="Group 2">
            <a:extLst>
              <a:ext uri="{FF2B5EF4-FFF2-40B4-BE49-F238E27FC236}">
                <a16:creationId xmlns:a16="http://schemas.microsoft.com/office/drawing/2014/main" id="{77858469-C61F-498E-942C-E610BF3305BB}"/>
              </a:ext>
            </a:extLst>
          </p:cNvPr>
          <p:cNvGrpSpPr/>
          <p:nvPr/>
        </p:nvGrpSpPr>
        <p:grpSpPr>
          <a:xfrm>
            <a:off x="0" y="7649733"/>
            <a:ext cx="14633225" cy="579866"/>
            <a:chOff x="0" y="7649733"/>
            <a:chExt cx="14633225" cy="579866"/>
          </a:xfrm>
        </p:grpSpPr>
        <p:sp>
          <p:nvSpPr>
            <p:cNvPr id="4" name="Rectangle 3">
              <a:extLst>
                <a:ext uri="{FF2B5EF4-FFF2-40B4-BE49-F238E27FC236}">
                  <a16:creationId xmlns:a16="http://schemas.microsoft.com/office/drawing/2014/main" id="{92A89EC7-0FC4-4B50-A68A-D970D2A4867A}"/>
                </a:ext>
              </a:extLst>
            </p:cNvPr>
            <p:cNvSpPr/>
            <p:nvPr/>
          </p:nvSpPr>
          <p:spPr>
            <a:xfrm>
              <a:off x="12511671" y="7649733"/>
              <a:ext cx="2118728" cy="579866"/>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C000"/>
                </a:solidFill>
                <a:uFillTx/>
                <a:latin typeface="Calibri"/>
              </a:endParaRPr>
            </a:p>
          </p:txBody>
        </p:sp>
        <p:sp>
          <p:nvSpPr>
            <p:cNvPr id="5" name="Rectangle 4">
              <a:extLst>
                <a:ext uri="{FF2B5EF4-FFF2-40B4-BE49-F238E27FC236}">
                  <a16:creationId xmlns:a16="http://schemas.microsoft.com/office/drawing/2014/main" id="{986008CB-8BEC-46E8-8A54-B21D46739EE6}"/>
                </a:ext>
              </a:extLst>
            </p:cNvPr>
            <p:cNvSpPr/>
            <p:nvPr/>
          </p:nvSpPr>
          <p:spPr>
            <a:xfrm>
              <a:off x="0" y="7694858"/>
              <a:ext cx="14633225"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R26-IT-030</a:t>
              </a:r>
              <a:endParaRPr lang="en-US" sz="1200" b="1" i="0" u="none" strike="noStrike" kern="1200" cap="none" spc="0" baseline="0">
                <a:solidFill>
                  <a:srgbClr val="000000"/>
                </a:solidFill>
                <a:uFillTx/>
                <a:latin typeface="Calibri"/>
              </a:endParaRPr>
            </a:p>
          </p:txBody>
        </p:sp>
        <p:pic>
          <p:nvPicPr>
            <p:cNvPr id="6" name="Picture 5">
              <a:extLst>
                <a:ext uri="{FF2B5EF4-FFF2-40B4-BE49-F238E27FC236}">
                  <a16:creationId xmlns:a16="http://schemas.microsoft.com/office/drawing/2014/main" id="{C15F17D1-6C8A-4217-9AFE-8ACF4029493D}"/>
                </a:ext>
              </a:extLst>
            </p:cNvPr>
            <p:cNvPicPr>
              <a:picLocks noChangeAspect="1"/>
            </p:cNvPicPr>
            <p:nvPr/>
          </p:nvPicPr>
          <p:blipFill>
            <a:blip r:embed="rId3"/>
            <a:stretch>
              <a:fillRect/>
            </a:stretch>
          </p:blipFill>
          <p:spPr>
            <a:xfrm>
              <a:off x="0" y="7707212"/>
              <a:ext cx="3043708" cy="522387"/>
            </a:xfrm>
            <a:prstGeom prst="rect">
              <a:avLst/>
            </a:prstGeom>
            <a:noFill/>
            <a:ln cap="flat">
              <a:noFill/>
            </a:ln>
          </p:spPr>
        </p:pic>
        <p:sp>
          <p:nvSpPr>
            <p:cNvPr id="7" name="Rectangle 6">
              <a:extLst>
                <a:ext uri="{FF2B5EF4-FFF2-40B4-BE49-F238E27FC236}">
                  <a16:creationId xmlns:a16="http://schemas.microsoft.com/office/drawing/2014/main" id="{34C01119-CFF6-4304-82C4-14A29F84FE97}"/>
                </a:ext>
              </a:extLst>
            </p:cNvPr>
            <p:cNvSpPr/>
            <p:nvPr/>
          </p:nvSpPr>
          <p:spPr>
            <a:xfrm>
              <a:off x="12912754" y="7694858"/>
              <a:ext cx="1720471" cy="52238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00000"/>
                  </a:solidFill>
                  <a:uFillTx/>
                  <a:latin typeface="Calibri"/>
                </a:rPr>
                <a:t>16/3/2026</a:t>
              </a:r>
              <a:endParaRPr lang="en-US" sz="1200" b="1" i="0" u="none" strike="noStrike" kern="1200" cap="none" spc="0" baseline="0">
                <a:solidFill>
                  <a:srgbClr val="000000"/>
                </a:solidFill>
                <a:uFillTx/>
                <a:latin typeface="Calibri"/>
              </a:endParaRPr>
            </a:p>
          </p:txBody>
        </p:sp>
      </p:grpSp>
      <p:sp>
        <p:nvSpPr>
          <p:cNvPr id="8" name="Shape 0">
            <a:extLst>
              <a:ext uri="{FF2B5EF4-FFF2-40B4-BE49-F238E27FC236}">
                <a16:creationId xmlns:a16="http://schemas.microsoft.com/office/drawing/2014/main" id="{7B6B8082-B439-4253-B3C6-1C523E52C46C}"/>
              </a:ext>
            </a:extLst>
          </p:cNvPr>
          <p:cNvSpPr/>
          <p:nvPr/>
        </p:nvSpPr>
        <p:spPr>
          <a:xfrm>
            <a:off x="0" y="-12344"/>
            <a:ext cx="14633225" cy="8204911"/>
          </a:xfrm>
          <a:prstGeom prst="rect">
            <a:avLst/>
          </a:prstGeom>
          <a:solidFill>
            <a:srgbClr val="0A2342">
              <a:alpha val="85000"/>
            </a:srgbClr>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sp>
        <p:nvSpPr>
          <p:cNvPr id="9" name="Text 0">
            <a:extLst>
              <a:ext uri="{FF2B5EF4-FFF2-40B4-BE49-F238E27FC236}">
                <a16:creationId xmlns:a16="http://schemas.microsoft.com/office/drawing/2014/main" id="{26E861CB-433B-4AF3-A1C1-FB9F9DDCB89D}"/>
              </a:ext>
            </a:extLst>
          </p:cNvPr>
          <p:cNvSpPr/>
          <p:nvPr/>
        </p:nvSpPr>
        <p:spPr>
          <a:xfrm>
            <a:off x="1554672" y="2138790"/>
            <a:ext cx="11499110" cy="1969837"/>
          </a:xfrm>
          <a:prstGeom prst="rect">
            <a:avLst/>
          </a:prstGeom>
          <a:noFill/>
          <a:ln cap="flat">
            <a:noFill/>
            <a:prstDash val="solid"/>
          </a:ln>
        </p:spPr>
        <p:txBody>
          <a:bodyPr vert="horz" wrap="none" lIns="0" tIns="0" rIns="0" bIns="0" anchor="t"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0" b="1" i="0" u="none" strike="noStrike" kern="1200" cap="none" spc="0" baseline="0">
                <a:solidFill>
                  <a:srgbClr val="FFFFFF"/>
                </a:solidFill>
                <a:uFillTx/>
                <a:latin typeface="Calibri"/>
              </a:rPr>
              <a:t>Thank You</a:t>
            </a:r>
          </a:p>
        </p:txBody>
      </p:sp>
      <p:pic>
        <p:nvPicPr>
          <p:cNvPr id="10" name="Image 0" descr="preencoded.png">
            <a:extLst>
              <a:ext uri="{FF2B5EF4-FFF2-40B4-BE49-F238E27FC236}">
                <a16:creationId xmlns:a16="http://schemas.microsoft.com/office/drawing/2014/main" id="{C0E7087D-4419-462D-B17F-300572EE610A}"/>
              </a:ext>
            </a:extLst>
          </p:cNvPr>
          <p:cNvPicPr>
            <a:picLocks noChangeAspect="1"/>
          </p:cNvPicPr>
          <p:nvPr/>
        </p:nvPicPr>
        <p:blipFill>
          <a:blip r:embed="rId4"/>
          <a:stretch>
            <a:fillRect/>
          </a:stretch>
        </p:blipFill>
        <p:spPr>
          <a:xfrm>
            <a:off x="6675120" y="1164186"/>
            <a:ext cx="1280160" cy="1280160"/>
          </a:xfrm>
          <a:prstGeom prst="rect">
            <a:avLst/>
          </a:prstGeom>
          <a:noFill/>
          <a:ln cap="flat">
            <a:noFill/>
          </a:ln>
        </p:spPr>
      </p:pic>
      <p:sp>
        <p:nvSpPr>
          <p:cNvPr id="11" name="Shape 4">
            <a:extLst>
              <a:ext uri="{FF2B5EF4-FFF2-40B4-BE49-F238E27FC236}">
                <a16:creationId xmlns:a16="http://schemas.microsoft.com/office/drawing/2014/main" id="{E871B8AE-0530-4504-93C3-9E06FDF2FF11}"/>
              </a:ext>
            </a:extLst>
          </p:cNvPr>
          <p:cNvSpPr/>
          <p:nvPr/>
        </p:nvSpPr>
        <p:spPr>
          <a:xfrm>
            <a:off x="3685653" y="3833283"/>
            <a:ext cx="7237137" cy="165378"/>
          </a:xfrm>
          <a:prstGeom prst="rect">
            <a:avLst/>
          </a:prstGeom>
          <a:solidFill>
            <a:srgbClr val="F5A623"/>
          </a:solidFill>
          <a:ln w="12701" cap="flat">
            <a:solidFill>
              <a:srgbClr val="F5A623"/>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grpSp>
        <p:nvGrpSpPr>
          <p:cNvPr id="12" name="Group 12">
            <a:extLst>
              <a:ext uri="{FF2B5EF4-FFF2-40B4-BE49-F238E27FC236}">
                <a16:creationId xmlns:a16="http://schemas.microsoft.com/office/drawing/2014/main" id="{460B1BF4-69BA-469A-9EF2-F8A76B63C34E}"/>
              </a:ext>
            </a:extLst>
          </p:cNvPr>
          <p:cNvGrpSpPr/>
          <p:nvPr/>
        </p:nvGrpSpPr>
        <p:grpSpPr>
          <a:xfrm>
            <a:off x="5953987" y="4553007"/>
            <a:ext cx="2697479" cy="2697479"/>
            <a:chOff x="5953987" y="4553007"/>
            <a:chExt cx="2697479" cy="2697479"/>
          </a:xfrm>
        </p:grpSpPr>
        <p:sp>
          <p:nvSpPr>
            <p:cNvPr id="13" name="Shape 2">
              <a:extLst>
                <a:ext uri="{FF2B5EF4-FFF2-40B4-BE49-F238E27FC236}">
                  <a16:creationId xmlns:a16="http://schemas.microsoft.com/office/drawing/2014/main" id="{1F58EBEF-BCAD-4FB8-9D8E-E4B8F3F44102}"/>
                </a:ext>
              </a:extLst>
            </p:cNvPr>
            <p:cNvSpPr/>
            <p:nvPr/>
          </p:nvSpPr>
          <p:spPr>
            <a:xfrm>
              <a:off x="5953987" y="4553007"/>
              <a:ext cx="2697479" cy="269747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F4A532"/>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Calibri"/>
              </a:endParaRPr>
            </a:p>
          </p:txBody>
        </p:sp>
        <p:pic>
          <p:nvPicPr>
            <p:cNvPr id="14" name="Image 1" descr="preencoded.png">
              <a:extLst>
                <a:ext uri="{FF2B5EF4-FFF2-40B4-BE49-F238E27FC236}">
                  <a16:creationId xmlns:a16="http://schemas.microsoft.com/office/drawing/2014/main" id="{1916B124-5BFD-47D6-80DB-A112558A450B}"/>
                </a:ext>
              </a:extLst>
            </p:cNvPr>
            <p:cNvPicPr>
              <a:picLocks noChangeAspect="1"/>
            </p:cNvPicPr>
            <p:nvPr/>
          </p:nvPicPr>
          <p:blipFill>
            <a:blip r:embed="rId5"/>
            <a:stretch>
              <a:fillRect/>
            </a:stretch>
          </p:blipFill>
          <p:spPr>
            <a:xfrm>
              <a:off x="6444444" y="5043455"/>
              <a:ext cx="1716575" cy="1716575"/>
            </a:xfrm>
            <a:prstGeom prst="rect">
              <a:avLst/>
            </a:prstGeom>
            <a:noFill/>
            <a:ln cap="flat">
              <a:noFill/>
            </a:ln>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3344</Words>
  <Application>Microsoft Office PowerPoint</Application>
  <PresentationFormat>Custom</PresentationFormat>
  <Paragraphs>284</Paragraphs>
  <Slides>26</Slides>
  <Notes>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26</vt:i4>
      </vt:variant>
    </vt:vector>
  </HeadingPairs>
  <TitlesOfParts>
    <vt:vector size="36" baseType="lpstr">
      <vt:lpstr>Aptos</vt:lpstr>
      <vt:lpstr>Aptos Display</vt:lpstr>
      <vt:lpstr>Arial</vt:lpstr>
      <vt:lpstr>Bricolage Grotesque Semi Bold</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RATHNAYAKE K D V it22154408</cp:lastModifiedBy>
  <cp:revision>18</cp:revision>
  <dcterms:created xsi:type="dcterms:W3CDTF">2026-03-12T08:23:46Z</dcterms:created>
  <dcterms:modified xsi:type="dcterms:W3CDTF">2026-10-08T05:45:29Z</dcterms:modified>
</cp:coreProperties>
</file>